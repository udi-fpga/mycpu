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>
  <p:sldMasterIdLst>
    <p:sldMasterId id="2147483997" r:id="rId1"/>
  </p:sldMasterIdLst>
  <p:notesMasterIdLst>
    <p:notesMasterId r:id="rId20"/>
  </p:notesMasterIdLst>
  <p:sldIdLst>
    <p:sldId id="256" r:id="rId2"/>
    <p:sldId id="266" r:id="rId3"/>
    <p:sldId id="267" r:id="rId4"/>
    <p:sldId id="268" r:id="rId5"/>
    <p:sldId id="279" r:id="rId6"/>
    <p:sldId id="269" r:id="rId7"/>
    <p:sldId id="278" r:id="rId8"/>
    <p:sldId id="270" r:id="rId9"/>
    <p:sldId id="284" r:id="rId10"/>
    <p:sldId id="274" r:id="rId11"/>
    <p:sldId id="282" r:id="rId12"/>
    <p:sldId id="272" r:id="rId13"/>
    <p:sldId id="271" r:id="rId14"/>
    <p:sldId id="273" r:id="rId15"/>
    <p:sldId id="281" r:id="rId16"/>
    <p:sldId id="280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004" autoAdjust="0"/>
    <p:restoredTop sz="94658"/>
  </p:normalViewPr>
  <p:slideViewPr>
    <p:cSldViewPr snapToGrid="0">
      <p:cViewPr varScale="1">
        <p:scale>
          <a:sx n="104" d="100"/>
          <a:sy n="104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49594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533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27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438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768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179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597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062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745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5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608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5405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89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427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53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203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14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8393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8" y="0"/>
            <a:ext cx="12119631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8163" y="477204"/>
            <a:ext cx="10396882" cy="582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12 June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964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  <p:sldLayoutId id="2147484009" r:id="rId12"/>
    <p:sldLayoutId id="2147484010" r:id="rId13"/>
    <p:sldLayoutId id="2147484011" r:id="rId14"/>
    <p:sldLayoutId id="2147484012" r:id="rId15"/>
    <p:sldLayoutId id="2147484013" r:id="rId16"/>
    <p:sldLayoutId id="2147484014" r:id="rId17"/>
    <p:sldLayoutId id="2147484015" r:id="rId18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410592FA-AC33-4722-AA7F-F8DE06837DFC}"/>
              </a:ext>
            </a:extLst>
          </p:cNvPr>
          <p:cNvSpPr>
            <a:spLocks noGrp="1"/>
          </p:cNvSpPr>
          <p:nvPr/>
        </p:nvSpPr>
        <p:spPr>
          <a:xfrm>
            <a:off x="552450" y="161925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3900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RTL code for Digital Designs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8167BB7-5193-4F4B-847A-50F7B53F321B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6572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2B544"/>
                </a:solidFill>
                <a:latin typeface="Aptos"/>
                <a:ea typeface="Aptos"/>
                <a:cs typeface="Aptos"/>
              </a:defRPr>
            </a:pPr>
            <a:r>
              <a:rPr sz="2550" b="1" dirty="0">
                <a:solidFill>
                  <a:srgbClr val="F2B544"/>
                </a:solidFill>
                <a:latin typeface="Aptos"/>
                <a:ea typeface="Aptos"/>
                <a:cs typeface="Aptos"/>
              </a:rPr>
              <a:t>in Verilog &amp; VHDL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ABDA8491-B637-4E43-904F-EB7B84429593}"/>
              </a:ext>
            </a:extLst>
          </p:cNvPr>
          <p:cNvSpPr>
            <a:spLocks noGrp="1"/>
          </p:cNvSpPr>
          <p:nvPr/>
        </p:nvSpPr>
        <p:spPr>
          <a:xfrm>
            <a:off x="552450" y="2190750"/>
            <a:ext cx="5905500" cy="1123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DDE7E9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A beginner-friendly guide to describing gates, muxes, decoders, flip-flops, registers, counters, and testbenches in two hardware description languages.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AD2BECC3-9800-4427-82CA-C228455FFF0A}"/>
              </a:ext>
            </a:extLst>
          </p:cNvPr>
          <p:cNvSpPr>
            <a:spLocks noGrp="1"/>
          </p:cNvSpPr>
          <p:nvPr/>
        </p:nvSpPr>
        <p:spPr>
          <a:xfrm>
            <a:off x="9409539" y="1219200"/>
            <a:ext cx="1485900" cy="381000"/>
          </a:xfrm>
          <a:prstGeom prst="roundRect">
            <a:avLst>
              <a:gd name="adj" fmla="val 50000"/>
            </a:avLst>
          </a:prstGeom>
          <a:solidFill>
            <a:srgbClr val="18A8B8"/>
          </a:solidFill>
          <a:ln w="9525">
            <a:solidFill>
              <a:srgbClr val="18A8B8"/>
            </a:solidFill>
          </a:ln>
        </p:spPr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E0253F27-066E-4197-9F31-5AFB621BB9D8}"/>
              </a:ext>
            </a:extLst>
          </p:cNvPr>
          <p:cNvSpPr>
            <a:spLocks noGrp="1"/>
          </p:cNvSpPr>
          <p:nvPr/>
        </p:nvSpPr>
        <p:spPr>
          <a:xfrm>
            <a:off x="9409539" y="1295400"/>
            <a:ext cx="1485900" cy="1905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1200" dirty="0">
                <a:solidFill>
                  <a:srgbClr val="002060"/>
                </a:solidFill>
              </a:rPr>
              <a:t>Main Structure </a:t>
            </a:r>
            <a:endParaRPr lang="en-US" sz="1200" b="1" dirty="0">
              <a:solidFill>
                <a:srgbClr val="00206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5B2CB85E-2547-422B-857C-555F0C5941DF}"/>
              </a:ext>
            </a:extLst>
          </p:cNvPr>
          <p:cNvSpPr>
            <a:spLocks noGrp="1"/>
          </p:cNvSpPr>
          <p:nvPr/>
        </p:nvSpPr>
        <p:spPr>
          <a:xfrm>
            <a:off x="9402612" y="1924628"/>
            <a:ext cx="1485900" cy="381000"/>
          </a:xfrm>
          <a:prstGeom prst="roundRect">
            <a:avLst>
              <a:gd name="adj" fmla="val 50000"/>
            </a:avLst>
          </a:prstGeom>
          <a:solidFill>
            <a:srgbClr val="77B255"/>
          </a:solidFill>
          <a:ln w="9525">
            <a:solidFill>
              <a:srgbClr val="77B255"/>
            </a:solidFill>
          </a:ln>
        </p:spPr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717C9E4F-2374-4375-BE44-B728A0EE8D7A}"/>
              </a:ext>
            </a:extLst>
          </p:cNvPr>
          <p:cNvSpPr>
            <a:spLocks noGrp="1"/>
          </p:cNvSpPr>
          <p:nvPr/>
        </p:nvSpPr>
        <p:spPr>
          <a:xfrm>
            <a:off x="9402612" y="2000828"/>
            <a:ext cx="1485900" cy="1905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1200" dirty="0">
                <a:solidFill>
                  <a:srgbClr val="002060"/>
                </a:solidFill>
              </a:rPr>
              <a:t>Combinational Logic</a:t>
            </a:r>
            <a:endParaRPr lang="en-US" sz="1200" b="1" dirty="0">
              <a:solidFill>
                <a:srgbClr val="00206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530CCA47-CBBE-4EFE-8AAF-3902386F17F7}"/>
              </a:ext>
            </a:extLst>
          </p:cNvPr>
          <p:cNvSpPr>
            <a:spLocks noGrp="1"/>
          </p:cNvSpPr>
          <p:nvPr/>
        </p:nvSpPr>
        <p:spPr>
          <a:xfrm>
            <a:off x="9414165" y="2602348"/>
            <a:ext cx="1485900" cy="381000"/>
          </a:xfrm>
          <a:prstGeom prst="roundRect">
            <a:avLst>
              <a:gd name="adj" fmla="val 50000"/>
            </a:avLst>
          </a:prstGeom>
          <a:solidFill>
            <a:srgbClr val="F2B544"/>
          </a:solidFill>
          <a:ln w="9525">
            <a:solidFill>
              <a:srgbClr val="F2B544"/>
            </a:solidFill>
          </a:ln>
        </p:spPr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0EB08E9A-5B1C-4F8D-B017-34D3BD2AC026}"/>
              </a:ext>
            </a:extLst>
          </p:cNvPr>
          <p:cNvSpPr>
            <a:spLocks noGrp="1"/>
          </p:cNvSpPr>
          <p:nvPr/>
        </p:nvSpPr>
        <p:spPr>
          <a:xfrm>
            <a:off x="9414165" y="2678548"/>
            <a:ext cx="1485900" cy="1905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lang="en-US" sz="1200" b="1" dirty="0">
                <a:solidFill>
                  <a:srgbClr val="101820"/>
                </a:solidFill>
                <a:latin typeface="Aptos"/>
                <a:ea typeface="Aptos"/>
                <a:cs typeface="Aptos"/>
              </a:rPr>
              <a:t>Register </a:t>
            </a:r>
            <a:endParaRPr sz="1200" b="1" dirty="0">
              <a:solidFill>
                <a:srgbClr val="10182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32B93DF6-C146-49EB-9C0E-1E9A681745ED}"/>
              </a:ext>
            </a:extLst>
          </p:cNvPr>
          <p:cNvSpPr>
            <a:spLocks noGrp="1"/>
          </p:cNvSpPr>
          <p:nvPr/>
        </p:nvSpPr>
        <p:spPr>
          <a:xfrm>
            <a:off x="9416468" y="3298540"/>
            <a:ext cx="1485900" cy="381000"/>
          </a:xfrm>
          <a:prstGeom prst="roundRect">
            <a:avLst>
              <a:gd name="adj" fmla="val 50000"/>
            </a:avLst>
          </a:prstGeom>
          <a:solidFill>
            <a:srgbClr val="7A6FF0"/>
          </a:solidFill>
          <a:ln w="9525">
            <a:solidFill>
              <a:srgbClr val="7A6FF0"/>
            </a:solidFill>
          </a:ln>
        </p:spPr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EDDE5CAC-9BF7-4673-8D46-A7BE694001BA}"/>
              </a:ext>
            </a:extLst>
          </p:cNvPr>
          <p:cNvSpPr>
            <a:spLocks noGrp="1"/>
          </p:cNvSpPr>
          <p:nvPr/>
        </p:nvSpPr>
        <p:spPr>
          <a:xfrm>
            <a:off x="9416468" y="3374740"/>
            <a:ext cx="1485900" cy="1905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lang="en-US" sz="1200" b="1" dirty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Counter </a:t>
            </a:r>
            <a:endParaRPr sz="1200" b="1" dirty="0">
              <a:solidFill>
                <a:srgbClr val="10182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67C2EEFD-D474-4BA2-ABAB-D09E2F7E0ADF}"/>
              </a:ext>
            </a:extLst>
          </p:cNvPr>
          <p:cNvSpPr>
            <a:spLocks noGrp="1"/>
          </p:cNvSpPr>
          <p:nvPr/>
        </p:nvSpPr>
        <p:spPr>
          <a:xfrm>
            <a:off x="9409553" y="4050148"/>
            <a:ext cx="1485900" cy="381000"/>
          </a:xfrm>
          <a:prstGeom prst="roundRect">
            <a:avLst>
              <a:gd name="adj" fmla="val 50000"/>
            </a:avLst>
          </a:prstGeom>
          <a:solidFill>
            <a:srgbClr val="D85B65"/>
          </a:solidFill>
          <a:ln w="9525">
            <a:solidFill>
              <a:srgbClr val="D85B65"/>
            </a:solidFill>
          </a:ln>
        </p:spPr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6FD29701-A6CA-494D-96AC-6967A96BABDB}"/>
              </a:ext>
            </a:extLst>
          </p:cNvPr>
          <p:cNvSpPr>
            <a:spLocks noGrp="1"/>
          </p:cNvSpPr>
          <p:nvPr/>
        </p:nvSpPr>
        <p:spPr>
          <a:xfrm>
            <a:off x="9409553" y="4126348"/>
            <a:ext cx="1485900" cy="1905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lang="en-US" sz="1200" b="1" dirty="0">
                <a:solidFill>
                  <a:srgbClr val="101820"/>
                </a:solidFill>
                <a:latin typeface="Aptos"/>
                <a:ea typeface="Aptos"/>
                <a:cs typeface="Aptos"/>
              </a:rPr>
              <a:t>Shift-register</a:t>
            </a:r>
            <a:endParaRPr sz="1200" b="1" dirty="0">
              <a:solidFill>
                <a:srgbClr val="10182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D9480FF2-D295-41AF-B668-86E20BF4DB4C}"/>
              </a:ext>
            </a:extLst>
          </p:cNvPr>
          <p:cNvSpPr>
            <a:spLocks noGrp="1"/>
          </p:cNvSpPr>
          <p:nvPr/>
        </p:nvSpPr>
        <p:spPr>
          <a:xfrm>
            <a:off x="6572250" y="876300"/>
            <a:ext cx="4476750" cy="4533900"/>
          </a:xfrm>
          <a:prstGeom prst="rect">
            <a:avLst/>
          </a:prstGeom>
          <a:ln w="9525">
            <a:solidFill>
              <a:srgbClr val="31424A"/>
            </a:solidFill>
          </a:ln>
        </p:spPr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6AA087B1-0BDF-413F-8C0A-6FD0ED75CEED}"/>
              </a:ext>
            </a:extLst>
          </p:cNvPr>
          <p:cNvSpPr>
            <a:spLocks noGrp="1"/>
          </p:cNvSpPr>
          <p:nvPr/>
        </p:nvSpPr>
        <p:spPr>
          <a:xfrm>
            <a:off x="6858000" y="5619750"/>
            <a:ext cx="4038600" cy="552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EFE6"/>
                </a:solidFill>
                <a:latin typeface="Aptos"/>
                <a:ea typeface="Aptos"/>
                <a:cs typeface="Aptos"/>
              </a:rPr>
              <a:t>Mental model: HDL code describes hardware structure and behavior. Simulation runs over time; synthesis maps suitable code into gates and flip-flops.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16B4C73B-428C-4B50-8360-B7749FA6B33A}"/>
              </a:ext>
            </a:extLst>
          </p:cNvPr>
          <p:cNvSpPr>
            <a:spLocks noGrp="1"/>
          </p:cNvSpPr>
          <p:nvPr/>
        </p:nvSpPr>
        <p:spPr>
          <a:xfrm>
            <a:off x="514350" y="6457950"/>
            <a:ext cx="53340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3A0A3"/>
                </a:solidFill>
                <a:latin typeface="Aptos"/>
                <a:ea typeface="Aptos"/>
                <a:cs typeface="Aptos"/>
              </a:defRPr>
            </a:pPr>
            <a:r>
              <a:rPr sz="750" b="0" dirty="0">
                <a:solidFill>
                  <a:srgbClr val="93A0A3"/>
                </a:solidFill>
                <a:latin typeface="Aptos"/>
                <a:ea typeface="Aptos"/>
                <a:cs typeface="Aptos"/>
              </a:rPr>
              <a:t>01  Basic logic elements in Verilog &amp; VHDL</a:t>
            </a:r>
          </a:p>
        </p:txBody>
      </p:sp>
      <p:sp>
        <p:nvSpPr>
          <p:cNvPr id="24" name="מלבן: פינות מעוגלות 23">
            <a:extLst>
              <a:ext uri="{FF2B5EF4-FFF2-40B4-BE49-F238E27FC236}">
                <a16:creationId xmlns:a16="http://schemas.microsoft.com/office/drawing/2014/main" id="{77A3CEBE-BA01-6926-371D-0F682821DB40}"/>
              </a:ext>
            </a:extLst>
          </p:cNvPr>
          <p:cNvSpPr>
            <a:spLocks noGrp="1"/>
          </p:cNvSpPr>
          <p:nvPr/>
        </p:nvSpPr>
        <p:spPr>
          <a:xfrm>
            <a:off x="9416468" y="4795988"/>
            <a:ext cx="1485900" cy="381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9525">
            <a:solidFill>
              <a:srgbClr val="D85B65"/>
            </a:solidFill>
          </a:ln>
        </p:spPr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27DFC89E-9046-6AEF-8A6F-C2780E04BA46}"/>
              </a:ext>
            </a:extLst>
          </p:cNvPr>
          <p:cNvSpPr>
            <a:spLocks noGrp="1"/>
          </p:cNvSpPr>
          <p:nvPr/>
        </p:nvSpPr>
        <p:spPr>
          <a:xfrm>
            <a:off x="9416468" y="4872188"/>
            <a:ext cx="1485900" cy="1905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lang="en-US" sz="1200" b="1" dirty="0">
                <a:solidFill>
                  <a:srgbClr val="101820"/>
                </a:solidFill>
                <a:latin typeface="Aptos"/>
                <a:ea typeface="Aptos"/>
                <a:cs typeface="Aptos"/>
              </a:rPr>
              <a:t>FSM</a:t>
            </a:r>
            <a:endParaRPr sz="1200" b="1" dirty="0">
              <a:solidFill>
                <a:srgbClr val="10182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3145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46841714-E2D3-4B8C-CD40-A413C894C4B6}"/>
              </a:ext>
            </a:extLst>
          </p:cNvPr>
          <p:cNvSpPr>
            <a:spLocks noGrp="1"/>
          </p:cNvSpPr>
          <p:nvPr/>
        </p:nvSpPr>
        <p:spPr>
          <a:xfrm>
            <a:off x="597478" y="21763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dirty="0">
                <a:solidFill>
                  <a:srgbClr val="0070C0"/>
                </a:solidFill>
              </a:rPr>
              <a:t>HISTORY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4A2A3-64D9-5D6A-C13D-B5857C2C8CCF}"/>
              </a:ext>
            </a:extLst>
          </p:cNvPr>
          <p:cNvSpPr txBox="1">
            <a:spLocks/>
          </p:cNvSpPr>
          <p:nvPr/>
        </p:nvSpPr>
        <p:spPr>
          <a:xfrm>
            <a:off x="743526" y="901126"/>
            <a:ext cx="6243099" cy="715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861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●"/>
              <a:defRPr sz="3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 rtl="0"/>
            <a:r>
              <a:rPr lang="en-GB" sz="1000" dirty="0"/>
              <a:t>1947 the transistor invention</a:t>
            </a:r>
          </a:p>
          <a:p>
            <a:pPr algn="l" rtl="0"/>
            <a:r>
              <a:rPr lang="en-GB" sz="1000" dirty="0"/>
              <a:t>1958 the first integrated circuit </a:t>
            </a:r>
          </a:p>
          <a:p>
            <a:pPr algn="l" rtl="0"/>
            <a:r>
              <a:rPr lang="en-GB" sz="1000" dirty="0"/>
              <a:t>1971 Intel introduce Intel 4004 the first IC CPU. 4 bits processor made of 2300 transistors.</a:t>
            </a:r>
            <a:endParaRPr lang="en-US" sz="10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F6161AB-0364-17D8-A69A-B6B0EAD71C2E}"/>
              </a:ext>
            </a:extLst>
          </p:cNvPr>
          <p:cNvSpPr txBox="1">
            <a:spLocks/>
          </p:cNvSpPr>
          <p:nvPr/>
        </p:nvSpPr>
        <p:spPr>
          <a:xfrm>
            <a:off x="743526" y="1874985"/>
            <a:ext cx="4247321" cy="3521941"/>
          </a:xfrm>
          <a:prstGeom prst="rect">
            <a:avLst/>
          </a:prstGeom>
        </p:spPr>
        <p:txBody>
          <a:bodyPr/>
          <a:lstStyle>
            <a:lvl1pPr marL="228600" indent="-228600" algn="r" defTabSz="914400" rtl="1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148590" indent="0" algn="ctr" rtl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92D050"/>
                </a:solidFill>
              </a:rPr>
              <a:t>VHDL</a:t>
            </a:r>
          </a:p>
          <a:p>
            <a:pPr marL="457200" lvl="0" indent="-308610" algn="l" rtl="0">
              <a:lnSpc>
                <a:spcPct val="100000"/>
              </a:lnSpc>
              <a:spcBef>
                <a:spcPts val="360"/>
              </a:spcBef>
              <a:buClr>
                <a:srgbClr val="CCCC99"/>
              </a:buClr>
              <a:buSzPts val="1260"/>
              <a:buFont typeface="Noto Sans Symbols"/>
              <a:buChar char="●"/>
            </a:pPr>
            <a:r>
              <a:rPr lang="en-US" sz="1000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1983 – US Department Of Defense (DOD) request from IBM, TI &amp; Intermates Labs to develop a new standard language for Hardware Design Development.</a:t>
            </a:r>
          </a:p>
          <a:p>
            <a:pPr marL="457200" lvl="0" indent="-308610" algn="l" rtl="0">
              <a:lnSpc>
                <a:spcPct val="100000"/>
              </a:lnSpc>
              <a:spcBef>
                <a:spcPts val="360"/>
              </a:spcBef>
              <a:buClr>
                <a:srgbClr val="CCCC99"/>
              </a:buClr>
              <a:buSzPts val="1260"/>
              <a:buFont typeface="Noto Sans Symbols"/>
              <a:buChar char="●"/>
            </a:pPr>
            <a:r>
              <a:rPr lang="en-US" sz="1000" b="1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VHDL </a:t>
            </a:r>
            <a:r>
              <a:rPr lang="en-US" sz="1000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= </a:t>
            </a:r>
            <a:r>
              <a:rPr lang="en-US" sz="1000" b="1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V</a:t>
            </a:r>
            <a:r>
              <a:rPr lang="en-US" sz="1000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HSIC </a:t>
            </a:r>
            <a:r>
              <a:rPr lang="en-US" sz="1000" b="1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H</a:t>
            </a:r>
            <a:r>
              <a:rPr lang="en-US" sz="1000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ardware </a:t>
            </a:r>
            <a:r>
              <a:rPr lang="en-US" sz="1000" b="1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D</a:t>
            </a:r>
            <a:r>
              <a:rPr lang="en-US" sz="1000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escription </a:t>
            </a:r>
            <a:r>
              <a:rPr lang="en-US" sz="1000" b="1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L</a:t>
            </a:r>
            <a:r>
              <a:rPr lang="en-US" sz="1000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anguage</a:t>
            </a:r>
          </a:p>
          <a:p>
            <a:pPr marL="457200" lvl="0" indent="-308610" algn="l" rtl="0">
              <a:lnSpc>
                <a:spcPct val="100000"/>
              </a:lnSpc>
              <a:spcBef>
                <a:spcPts val="360"/>
              </a:spcBef>
              <a:buClr>
                <a:srgbClr val="CCCC99"/>
              </a:buClr>
              <a:buSzPts val="1260"/>
              <a:buFont typeface="Noto Sans Symbols"/>
              <a:buChar char="●"/>
            </a:pPr>
            <a:r>
              <a:rPr lang="en-US" sz="1000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(VHSIC - Very High-Speed Integrated Circuit)</a:t>
            </a:r>
          </a:p>
          <a:p>
            <a:pPr marL="457200" lvl="0" indent="-308610" algn="l" rtl="0">
              <a:lnSpc>
                <a:spcPct val="100000"/>
              </a:lnSpc>
              <a:spcBef>
                <a:spcPts val="360"/>
              </a:spcBef>
              <a:buClr>
                <a:srgbClr val="CCCC99"/>
              </a:buClr>
              <a:buSzPts val="1260"/>
              <a:buFont typeface="Noto Sans Symbols"/>
              <a:buChar char="●"/>
            </a:pPr>
            <a:r>
              <a:rPr lang="en-US" sz="1000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VITAL = VHDL Initiative Toward ASIC Libraries</a:t>
            </a:r>
          </a:p>
          <a:p>
            <a:pPr marL="457200" lvl="0" indent="-308610" algn="l" rtl="0">
              <a:lnSpc>
                <a:spcPct val="100000"/>
              </a:lnSpc>
              <a:spcBef>
                <a:spcPts val="360"/>
              </a:spcBef>
              <a:buClr>
                <a:srgbClr val="CCCC99"/>
              </a:buClr>
              <a:buSzPts val="1260"/>
              <a:buFont typeface="Noto Sans Symbols"/>
              <a:buChar char="●"/>
            </a:pPr>
            <a:r>
              <a:rPr lang="en-US" sz="1000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1987 – VHDL IEEE-1076 Standard is released</a:t>
            </a:r>
          </a:p>
          <a:p>
            <a:pPr marL="457200" lvl="0" indent="-308610" algn="l" rtl="0">
              <a:lnSpc>
                <a:spcPct val="100000"/>
              </a:lnSpc>
              <a:spcBef>
                <a:spcPts val="360"/>
              </a:spcBef>
              <a:buClr>
                <a:srgbClr val="CCCC99"/>
              </a:buClr>
              <a:buSzPts val="1260"/>
              <a:buFont typeface="Noto Sans Symbols"/>
              <a:buChar char="●"/>
            </a:pPr>
            <a:r>
              <a:rPr lang="en-US" sz="1000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1988 – First VHDL simulators</a:t>
            </a:r>
          </a:p>
          <a:p>
            <a:pPr marL="457200" lvl="0" indent="-308610" algn="l" rtl="0">
              <a:lnSpc>
                <a:spcPct val="100000"/>
              </a:lnSpc>
              <a:spcBef>
                <a:spcPts val="360"/>
              </a:spcBef>
              <a:buClr>
                <a:srgbClr val="CCCC99"/>
              </a:buClr>
              <a:buSzPts val="1260"/>
              <a:buFont typeface="Noto Sans Symbols"/>
              <a:buChar char="●"/>
            </a:pPr>
            <a:r>
              <a:rPr lang="en-US" sz="1000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1990 – First VHDL projects in Israel, mainly for military companies.</a:t>
            </a:r>
          </a:p>
          <a:p>
            <a:pPr marL="457200" lvl="0" indent="-308610" algn="l" rtl="0">
              <a:lnSpc>
                <a:spcPct val="100000"/>
              </a:lnSpc>
              <a:spcBef>
                <a:spcPts val="360"/>
              </a:spcBef>
              <a:buClr>
                <a:srgbClr val="CCCC99"/>
              </a:buClr>
              <a:buSzPts val="1260"/>
              <a:buFont typeface="Noto Sans Symbols"/>
              <a:buChar char="●"/>
            </a:pPr>
            <a:r>
              <a:rPr lang="en-US" sz="1000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1993 – VHDL IEEE-1076-93 released.</a:t>
            </a:r>
          </a:p>
          <a:p>
            <a:pPr marL="457200" lvl="0" indent="-308610" algn="l" rtl="0">
              <a:lnSpc>
                <a:spcPct val="100000"/>
              </a:lnSpc>
              <a:spcBef>
                <a:spcPts val="360"/>
              </a:spcBef>
              <a:buClr>
                <a:srgbClr val="CCCC99"/>
              </a:buClr>
              <a:buSzPts val="1260"/>
              <a:buFont typeface="Noto Sans Symbols"/>
              <a:buChar char="●"/>
            </a:pPr>
            <a:r>
              <a:rPr lang="en-US" sz="1000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1995 Standard VITAL’95 is released for simulation of Gate-Level libraries.</a:t>
            </a:r>
          </a:p>
          <a:p>
            <a:pPr marL="457200" lvl="0" indent="-308610" algn="l" rtl="0">
              <a:lnSpc>
                <a:spcPct val="100000"/>
              </a:lnSpc>
              <a:spcBef>
                <a:spcPts val="360"/>
              </a:spcBef>
              <a:buClr>
                <a:srgbClr val="CCCC99"/>
              </a:buClr>
              <a:buSzPts val="1260"/>
              <a:buFont typeface="Noto Sans Symbols"/>
              <a:buChar char="●"/>
            </a:pPr>
            <a:r>
              <a:rPr lang="en-US" sz="1000" kern="0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VHDL 200X – The Future of VHDL. Enhance/update VHDL to improve performance, modeling capability, ease of use, simulation control, and the type system.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1CFE4D1-1432-70CC-D536-CA1E15860602}"/>
              </a:ext>
            </a:extLst>
          </p:cNvPr>
          <p:cNvSpPr txBox="1">
            <a:spLocks/>
          </p:cNvSpPr>
          <p:nvPr/>
        </p:nvSpPr>
        <p:spPr>
          <a:xfrm>
            <a:off x="5998014" y="1874985"/>
            <a:ext cx="4371230" cy="2842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861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●"/>
              <a:defRPr sz="3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4859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CCC99"/>
              </a:buClr>
              <a:buSzPts val="1260"/>
              <a:buFont typeface="Noto Sans Symbols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Verilog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861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CCC99"/>
              </a:buClr>
              <a:buSzPts val="1260"/>
              <a:buFont typeface="Noto Sans Symbols"/>
              <a:buChar char="●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1984: Gateway Design Automation introduced Verilog.</a:t>
            </a:r>
          </a:p>
          <a:p>
            <a:pPr marL="457200" marR="0" lvl="0" indent="-30861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CCC99"/>
              </a:buClr>
              <a:buSzPts val="1260"/>
              <a:buFont typeface="Noto Sans Symbols"/>
              <a:buChar char="●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1989: Gateway merged into Cadence Design Systems.</a:t>
            </a:r>
          </a:p>
          <a:p>
            <a:pPr marL="457200" marR="0" lvl="0" indent="-30861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CCC99"/>
              </a:buClr>
              <a:buSzPts val="1260"/>
              <a:buFont typeface="Noto Sans Symbols"/>
              <a:buChar char="●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1990: Cadence put Verilog HDL into the public domain</a:t>
            </a:r>
          </a:p>
          <a:p>
            <a:pPr marL="457200" marR="0" lvl="0" indent="-30861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CCC99"/>
              </a:buClr>
              <a:buSzPts val="1260"/>
              <a:buFont typeface="Noto Sans Symbols"/>
              <a:buChar char="●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(OVI = Open Verilog International).</a:t>
            </a:r>
          </a:p>
          <a:p>
            <a:pPr marL="457200" marR="0" lvl="0" indent="-30861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CCC99"/>
              </a:buClr>
              <a:buSzPts val="1260"/>
              <a:buFont typeface="Noto Sans Symbols"/>
              <a:buChar char="●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1995: IEEE standardized the Verilog IEEE 1364-1995.</a:t>
            </a:r>
          </a:p>
          <a:p>
            <a:pPr marL="457200" marR="0" lvl="0" indent="-30861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CCC99"/>
              </a:buClr>
              <a:buSzPts val="1260"/>
              <a:buFont typeface="Noto Sans Symbols"/>
              <a:buChar char="●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2001: IEEE standardized the Verilog IEEE 1364-2001.</a:t>
            </a:r>
          </a:p>
          <a:p>
            <a:pPr marL="457200" marR="0" lvl="0" indent="-30861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CCC99"/>
              </a:buClr>
              <a:buSzPts val="1260"/>
              <a:buFont typeface="Noto Sans Symbols"/>
              <a:buChar char="●"/>
              <a:tabLst/>
              <a:defRPr/>
            </a:pPr>
            <a:r>
              <a:rPr kumimoji="0" lang="sv-SE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2002: Accellera publishes System Verilog.</a:t>
            </a:r>
          </a:p>
          <a:p>
            <a:pPr marL="457200" marR="0" lvl="0" indent="-30861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CCC99"/>
              </a:buClr>
              <a:buSzPts val="1260"/>
              <a:buFont typeface="Noto Sans Symbols"/>
              <a:buChar char="●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Accelerate is the merged replacement of OVI &amp; VHDL</a:t>
            </a:r>
          </a:p>
          <a:p>
            <a:pPr marL="457200" marR="0" lvl="0" indent="-30861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CCC99"/>
              </a:buClr>
              <a:buSzPts val="1260"/>
              <a:buFont typeface="Noto Sans Symbols"/>
              <a:buChar char="●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International (VI).</a:t>
            </a:r>
          </a:p>
          <a:p>
            <a:pPr marL="457200" marR="0" lvl="0" indent="-30861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CCC99"/>
              </a:buClr>
              <a:buSzPts val="1260"/>
              <a:buFont typeface="Noto Sans Symbols"/>
              <a:buChar char="●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2005: IEEE standardized the System Verilog IEEE 1800-2005.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2566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2622E340-1FA5-3592-F7EF-A09EAE76D250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dirty="0">
                <a:solidFill>
                  <a:srgbClr val="0070C0"/>
                </a:solidFill>
              </a:rPr>
              <a:t>Main Structure 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6F0C24CF-BA61-D5F6-FE61-2FF4D13BFA1F}"/>
              </a:ext>
            </a:extLst>
          </p:cNvPr>
          <p:cNvSpPr txBox="1"/>
          <p:nvPr/>
        </p:nvSpPr>
        <p:spPr>
          <a:xfrm>
            <a:off x="6397926" y="694149"/>
            <a:ext cx="401147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1">
            <a:spAutoFit/>
          </a:bodyPr>
          <a:lstStyle/>
          <a:p>
            <a:r>
              <a:rPr lang="en-US" sz="1200" dirty="0"/>
              <a:t>library IEEE;</a:t>
            </a:r>
          </a:p>
          <a:p>
            <a:r>
              <a:rPr lang="en-US" sz="1200" dirty="0"/>
              <a:t>use IEEE.STD_LOGIC_1164.ALL;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BF742D2C-A98A-4BAB-10F4-D8029BF79E87}"/>
              </a:ext>
            </a:extLst>
          </p:cNvPr>
          <p:cNvSpPr txBox="1"/>
          <p:nvPr/>
        </p:nvSpPr>
        <p:spPr>
          <a:xfrm>
            <a:off x="822038" y="1589556"/>
            <a:ext cx="2807854" cy="2123658"/>
          </a:xfrm>
          <a:prstGeom prst="rect">
            <a:avLst/>
          </a:prstGeom>
          <a:solidFill>
            <a:srgbClr val="00B0F0"/>
          </a:solidFill>
        </p:spPr>
        <p:txBody>
          <a:bodyPr wrap="square" rtlCol="1">
            <a:spAutoFit/>
          </a:bodyPr>
          <a:lstStyle/>
          <a:p>
            <a:r>
              <a:rPr lang="en-US" sz="1200" dirty="0"/>
              <a:t>module Master #(</a:t>
            </a:r>
          </a:p>
          <a:p>
            <a:r>
              <a:rPr lang="en-US" sz="1200" dirty="0"/>
              <a:t> parameter WIDTH = 4</a:t>
            </a:r>
          </a:p>
          <a:p>
            <a:r>
              <a:rPr lang="en-US" sz="1200" dirty="0"/>
              <a:t>    )( </a:t>
            </a:r>
          </a:p>
          <a:p>
            <a:r>
              <a:rPr lang="en-US" sz="1200" dirty="0"/>
              <a:t>         input </a:t>
            </a:r>
            <a:r>
              <a:rPr lang="en-US" sz="1200" dirty="0" err="1"/>
              <a:t>clk</a:t>
            </a:r>
            <a:r>
              <a:rPr lang="en-US" sz="1200" dirty="0"/>
              <a:t>,</a:t>
            </a:r>
          </a:p>
          <a:p>
            <a:r>
              <a:rPr lang="en-US" sz="1200" dirty="0"/>
              <a:t>         output [WIDTH :0] data, </a:t>
            </a:r>
          </a:p>
          <a:p>
            <a:r>
              <a:rPr lang="en-US" sz="1200" dirty="0"/>
              <a:t>   );</a:t>
            </a:r>
          </a:p>
          <a:p>
            <a:r>
              <a:rPr lang="en-US" sz="1200" dirty="0"/>
              <a:t>wire [WIDTH -1:0]  </a:t>
            </a:r>
            <a:r>
              <a:rPr lang="en-US" sz="1200" dirty="0" err="1"/>
              <a:t>wireData</a:t>
            </a:r>
            <a:r>
              <a:rPr lang="en-US" sz="1200" dirty="0"/>
              <a:t>;</a:t>
            </a:r>
          </a:p>
          <a:p>
            <a:r>
              <a:rPr lang="en-US" sz="1200" dirty="0"/>
              <a:t>Reg  [WIDTH -1:0]  </a:t>
            </a:r>
            <a:r>
              <a:rPr lang="en-US" sz="1200" dirty="0" err="1"/>
              <a:t>regData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 err="1"/>
              <a:t>endmodule</a:t>
            </a:r>
            <a:endParaRPr lang="he-IL" sz="1200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41CDF0DF-A2D7-6C07-9844-5C27FEB4651B}"/>
              </a:ext>
            </a:extLst>
          </p:cNvPr>
          <p:cNvSpPr txBox="1"/>
          <p:nvPr/>
        </p:nvSpPr>
        <p:spPr>
          <a:xfrm>
            <a:off x="6397925" y="1163316"/>
            <a:ext cx="4011471" cy="1938992"/>
          </a:xfrm>
          <a:prstGeom prst="rect">
            <a:avLst/>
          </a:prstGeom>
          <a:solidFill>
            <a:srgbClr val="FFC000"/>
          </a:solidFill>
        </p:spPr>
        <p:txBody>
          <a:bodyPr wrap="square" rtlCol="1">
            <a:spAutoFit/>
          </a:bodyPr>
          <a:lstStyle/>
          <a:p>
            <a:r>
              <a:rPr lang="en-US" sz="1200" dirty="0"/>
              <a:t>entity Master is</a:t>
            </a:r>
          </a:p>
          <a:p>
            <a:r>
              <a:rPr lang="en-US" sz="1200" dirty="0"/>
              <a:t>generic (</a:t>
            </a:r>
          </a:p>
          <a:p>
            <a:r>
              <a:rPr lang="en-US" sz="1200" dirty="0"/>
              <a:t>     WIDTH : integer := 4</a:t>
            </a:r>
          </a:p>
          <a:p>
            <a:r>
              <a:rPr lang="en-US" sz="1200" dirty="0"/>
              <a:t>);</a:t>
            </a:r>
          </a:p>
          <a:p>
            <a:r>
              <a:rPr lang="en-US" sz="1200" dirty="0"/>
              <a:t>   Port ( </a:t>
            </a:r>
          </a:p>
          <a:p>
            <a:r>
              <a:rPr lang="en-US" sz="1200" dirty="0"/>
              <a:t>   Start    : in STD_LOGIC;</a:t>
            </a:r>
          </a:p>
          <a:p>
            <a:r>
              <a:rPr lang="en-US" sz="1200" dirty="0"/>
              <a:t>   Data: in  STD_LOGIC_VECTOR (WIDTH-1 </a:t>
            </a:r>
            <a:r>
              <a:rPr lang="en-US" sz="1200" dirty="0" err="1"/>
              <a:t>downto</a:t>
            </a:r>
            <a:r>
              <a:rPr lang="en-US" sz="1200" dirty="0"/>
              <a:t> 0 );</a:t>
            </a:r>
          </a:p>
          <a:p>
            <a:r>
              <a:rPr lang="en-US" sz="1200" dirty="0"/>
              <a:t>   );</a:t>
            </a:r>
          </a:p>
          <a:p>
            <a:r>
              <a:rPr lang="en-US" sz="1200" dirty="0"/>
              <a:t>end Master;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CC4E3C0F-39EF-6A4D-6BA5-82DF0EE25007}"/>
              </a:ext>
            </a:extLst>
          </p:cNvPr>
          <p:cNvSpPr txBox="1"/>
          <p:nvPr/>
        </p:nvSpPr>
        <p:spPr>
          <a:xfrm>
            <a:off x="6397925" y="3096501"/>
            <a:ext cx="4011473" cy="286232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1">
            <a:spAutoFit/>
          </a:bodyPr>
          <a:lstStyle/>
          <a:p>
            <a:r>
              <a:rPr lang="en-US" sz="1200" dirty="0"/>
              <a:t>architecture Behavioral of Master is</a:t>
            </a:r>
          </a:p>
          <a:p>
            <a:endParaRPr lang="en-US" sz="1200" dirty="0"/>
          </a:p>
          <a:p>
            <a:r>
              <a:rPr lang="en-US" sz="1200" dirty="0"/>
              <a:t>   component </a:t>
            </a:r>
            <a:r>
              <a:rPr lang="en-US" sz="1200" dirty="0" err="1"/>
              <a:t>ComponentName</a:t>
            </a:r>
            <a:r>
              <a:rPr lang="en-US" sz="1200" dirty="0"/>
              <a:t> is</a:t>
            </a:r>
          </a:p>
          <a:p>
            <a:r>
              <a:rPr lang="en-US" sz="1200" dirty="0"/>
              <a:t>       Port ( </a:t>
            </a:r>
          </a:p>
          <a:p>
            <a:r>
              <a:rPr lang="en-US" sz="1200" dirty="0"/>
              <a:t>   	</a:t>
            </a:r>
          </a:p>
          <a:p>
            <a:r>
              <a:rPr lang="en-US" sz="1200" dirty="0"/>
              <a:t>       );</a:t>
            </a:r>
          </a:p>
          <a:p>
            <a:r>
              <a:rPr lang="en-US" sz="1200" dirty="0"/>
              <a:t>   end component </a:t>
            </a:r>
            <a:r>
              <a:rPr lang="en-US" sz="1200" dirty="0" err="1"/>
              <a:t>ComponentName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   signal start    : </a:t>
            </a:r>
            <a:r>
              <a:rPr lang="en-US" sz="1200" dirty="0" err="1"/>
              <a:t>std_logic</a:t>
            </a:r>
            <a:r>
              <a:rPr lang="en-US" sz="1200" dirty="0"/>
              <a:t>;</a:t>
            </a:r>
          </a:p>
          <a:p>
            <a:r>
              <a:rPr lang="en-US" sz="1200" dirty="0"/>
              <a:t>   signal data   : </a:t>
            </a:r>
            <a:r>
              <a:rPr lang="en-US" sz="1200" dirty="0" err="1"/>
              <a:t>std_logic_vector</a:t>
            </a:r>
            <a:r>
              <a:rPr lang="en-US" sz="1200" dirty="0"/>
              <a:t> (WIDTH-1 </a:t>
            </a:r>
            <a:r>
              <a:rPr lang="en-US" sz="1200" dirty="0" err="1"/>
              <a:t>downto</a:t>
            </a:r>
            <a:r>
              <a:rPr lang="en-US" sz="1200" dirty="0"/>
              <a:t> 0);</a:t>
            </a:r>
          </a:p>
          <a:p>
            <a:endParaRPr lang="en-US" sz="1200" dirty="0"/>
          </a:p>
          <a:p>
            <a:r>
              <a:rPr lang="en-US" sz="1200" dirty="0"/>
              <a:t>begin</a:t>
            </a:r>
          </a:p>
          <a:p>
            <a:r>
              <a:rPr lang="en-US" sz="1200" dirty="0"/>
              <a:t>   Logic</a:t>
            </a:r>
          </a:p>
          <a:p>
            <a:endParaRPr lang="en-US" sz="1200" dirty="0"/>
          </a:p>
          <a:p>
            <a:r>
              <a:rPr lang="en-US" sz="1200" dirty="0"/>
              <a:t>end Behavioral;</a:t>
            </a:r>
            <a:endParaRPr lang="he-IL" sz="1200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CA470D9-F496-EE30-734D-63462F1DC5DC}"/>
              </a:ext>
            </a:extLst>
          </p:cNvPr>
          <p:cNvSpPr>
            <a:spLocks noGrp="1"/>
          </p:cNvSpPr>
          <p:nvPr/>
        </p:nvSpPr>
        <p:spPr>
          <a:xfrm>
            <a:off x="6397925" y="259545"/>
            <a:ext cx="2533654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VHDL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86D18731-1F5D-9A3A-F3F6-2E1979BFD439}"/>
              </a:ext>
            </a:extLst>
          </p:cNvPr>
          <p:cNvSpPr>
            <a:spLocks noGrp="1"/>
          </p:cNvSpPr>
          <p:nvPr/>
        </p:nvSpPr>
        <p:spPr>
          <a:xfrm>
            <a:off x="699076" y="979956"/>
            <a:ext cx="2533654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Verilog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851478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5E33-ED1F-7112-C459-C2CA44B0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EA9E6222-5718-4BA2-574E-E18701FAA23D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dirty="0">
                <a:solidFill>
                  <a:srgbClr val="0070C0"/>
                </a:solidFill>
              </a:rPr>
              <a:t>Combinational Logic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6D8949CD-63A7-374C-2298-AF99D773B926}"/>
              </a:ext>
            </a:extLst>
          </p:cNvPr>
          <p:cNvSpPr>
            <a:spLocks noGrp="1"/>
          </p:cNvSpPr>
          <p:nvPr/>
        </p:nvSpPr>
        <p:spPr>
          <a:xfrm>
            <a:off x="6508748" y="924537"/>
            <a:ext cx="2533654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VHDL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7E947FA3-AF0A-03BB-446F-FD90A3153582}"/>
              </a:ext>
            </a:extLst>
          </p:cNvPr>
          <p:cNvSpPr>
            <a:spLocks noGrp="1"/>
          </p:cNvSpPr>
          <p:nvPr/>
        </p:nvSpPr>
        <p:spPr>
          <a:xfrm>
            <a:off x="615946" y="924537"/>
            <a:ext cx="2533654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Verilog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CE295F89-840A-0587-9784-D7E38F055F0A}"/>
              </a:ext>
            </a:extLst>
          </p:cNvPr>
          <p:cNvSpPr txBox="1"/>
          <p:nvPr/>
        </p:nvSpPr>
        <p:spPr>
          <a:xfrm>
            <a:off x="6508748" y="1534137"/>
            <a:ext cx="472267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signal start    : </a:t>
            </a:r>
            <a:r>
              <a:rPr lang="en-US" sz="1200" dirty="0" err="1"/>
              <a:t>std_logic</a:t>
            </a:r>
            <a:r>
              <a:rPr lang="en-US" sz="1200" dirty="0"/>
              <a:t> := ‘0’/‘1’;</a:t>
            </a:r>
          </a:p>
          <a:p>
            <a:r>
              <a:rPr lang="en-US" sz="1200" dirty="0"/>
              <a:t>signal data   : </a:t>
            </a:r>
            <a:r>
              <a:rPr lang="en-US" sz="1200" dirty="0" err="1"/>
              <a:t>std_logic_vector</a:t>
            </a:r>
            <a:r>
              <a:rPr lang="en-US" sz="1200" dirty="0"/>
              <a:t> (WIDTH-1 </a:t>
            </a:r>
            <a:r>
              <a:rPr lang="en-US" sz="1200" dirty="0" err="1"/>
              <a:t>downto</a:t>
            </a:r>
            <a:r>
              <a:rPr lang="en-US" sz="1200" dirty="0"/>
              <a:t> 0) := x”0000;</a:t>
            </a:r>
          </a:p>
          <a:p>
            <a:r>
              <a:rPr lang="en-US" sz="1200" dirty="0"/>
              <a:t>signal </a:t>
            </a:r>
            <a:r>
              <a:rPr lang="en-US" sz="1200" dirty="0" err="1"/>
              <a:t>index_count</a:t>
            </a:r>
            <a:r>
              <a:rPr lang="en-US" sz="1200" dirty="0"/>
              <a:t> : unsigned(7 </a:t>
            </a:r>
            <a:r>
              <a:rPr lang="en-US" sz="1200" dirty="0" err="1"/>
              <a:t>downto</a:t>
            </a:r>
            <a:r>
              <a:rPr lang="en-US" sz="1200" dirty="0"/>
              <a:t> 0) := x"00";</a:t>
            </a:r>
          </a:p>
          <a:p>
            <a:r>
              <a:rPr lang="en-US" sz="1200" dirty="0"/>
              <a:t>signal temperature : signed(11 </a:t>
            </a:r>
            <a:r>
              <a:rPr lang="en-US" sz="1200" dirty="0" err="1"/>
              <a:t>downto</a:t>
            </a:r>
            <a:r>
              <a:rPr lang="en-US" sz="1200" dirty="0"/>
              <a:t> 0);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280301EB-707E-924F-10D9-612C354E1427}"/>
              </a:ext>
            </a:extLst>
          </p:cNvPr>
          <p:cNvSpPr txBox="1"/>
          <p:nvPr/>
        </p:nvSpPr>
        <p:spPr>
          <a:xfrm>
            <a:off x="523582" y="1534136"/>
            <a:ext cx="3812262" cy="1015663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1’bx; 8’h00; 0;</a:t>
            </a:r>
            <a:endParaRPr lang="he-IL" sz="1200" dirty="0"/>
          </a:p>
          <a:p>
            <a:r>
              <a:rPr lang="en-US" sz="1200" dirty="0"/>
              <a:t>wire [WIDTH -1:0]  </a:t>
            </a:r>
            <a:r>
              <a:rPr lang="en-US" sz="1200" dirty="0" err="1"/>
              <a:t>wireData</a:t>
            </a:r>
            <a:r>
              <a:rPr lang="en-US" sz="1200" dirty="0"/>
              <a:t> = {WIDTH{1’b0}};</a:t>
            </a:r>
          </a:p>
          <a:p>
            <a:r>
              <a:rPr lang="en-US" sz="1200" dirty="0"/>
              <a:t>reg [WIDTH -1:0]  </a:t>
            </a:r>
            <a:r>
              <a:rPr lang="en-US" sz="1200" dirty="0" err="1"/>
              <a:t>regData</a:t>
            </a:r>
            <a:r>
              <a:rPr lang="en-US" sz="1200" dirty="0"/>
              <a:t>;</a:t>
            </a:r>
          </a:p>
          <a:p>
            <a:r>
              <a:rPr lang="en-US" sz="1200" dirty="0"/>
              <a:t>reg signed [WIDTH-1:0] </a:t>
            </a:r>
            <a:r>
              <a:rPr lang="en-US" sz="1200" dirty="0" err="1"/>
              <a:t>signed_reg</a:t>
            </a:r>
            <a:r>
              <a:rPr lang="en-US" sz="1200" dirty="0"/>
              <a:t> = {WIDTH{1'b0}};</a:t>
            </a:r>
          </a:p>
          <a:p>
            <a:endParaRPr lang="en-US" sz="1200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A06B5A6A-5FC7-7562-3AF8-42F0E84FA8E7}"/>
              </a:ext>
            </a:extLst>
          </p:cNvPr>
          <p:cNvSpPr txBox="1"/>
          <p:nvPr/>
        </p:nvSpPr>
        <p:spPr>
          <a:xfrm>
            <a:off x="615945" y="2407249"/>
            <a:ext cx="1397581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wire a, b;</a:t>
            </a:r>
          </a:p>
          <a:p>
            <a:r>
              <a:rPr lang="en-US" sz="1200" dirty="0"/>
              <a:t>assign a = b;</a:t>
            </a:r>
          </a:p>
          <a:p>
            <a:r>
              <a:rPr lang="en-US" sz="1200" dirty="0"/>
              <a:t>assign a = !b;</a:t>
            </a:r>
            <a:endParaRPr lang="he-IL" sz="1200" dirty="0"/>
          </a:p>
          <a:p>
            <a:r>
              <a:rPr lang="en-US" sz="1200" dirty="0"/>
              <a:t>assign a = ~b;</a:t>
            </a:r>
            <a:endParaRPr lang="he-IL" sz="1200" dirty="0"/>
          </a:p>
          <a:p>
            <a:endParaRPr lang="he-IL" sz="1200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0079017D-5912-BAEA-21A4-163DB5C911B8}"/>
              </a:ext>
            </a:extLst>
          </p:cNvPr>
          <p:cNvSpPr txBox="1"/>
          <p:nvPr/>
        </p:nvSpPr>
        <p:spPr>
          <a:xfrm>
            <a:off x="615945" y="3435089"/>
            <a:ext cx="1864613" cy="12003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wire a, b, c;       </a:t>
            </a:r>
          </a:p>
          <a:p>
            <a:endParaRPr lang="en-US" sz="1200" dirty="0"/>
          </a:p>
          <a:p>
            <a:r>
              <a:rPr lang="en-US" sz="1200" dirty="0"/>
              <a:t>assign a = a || b;    // or </a:t>
            </a:r>
          </a:p>
          <a:p>
            <a:r>
              <a:rPr lang="en-US" sz="1200" dirty="0"/>
              <a:t>assign a = a &amp;&amp; b; // and</a:t>
            </a:r>
          </a:p>
          <a:p>
            <a:r>
              <a:rPr lang="en-US" sz="1200" dirty="0"/>
              <a:t>assign a = a ^ b;    // </a:t>
            </a:r>
            <a:r>
              <a:rPr lang="en-US" sz="1200" dirty="0" err="1"/>
              <a:t>xor</a:t>
            </a:r>
            <a:endParaRPr lang="en-US" sz="1200" dirty="0"/>
          </a:p>
          <a:p>
            <a:endParaRPr lang="he-IL" sz="1200" dirty="0"/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66E3D8CD-8A3F-B53D-C100-A55A0EE95531}"/>
              </a:ext>
            </a:extLst>
          </p:cNvPr>
          <p:cNvSpPr txBox="1"/>
          <p:nvPr/>
        </p:nvSpPr>
        <p:spPr>
          <a:xfrm>
            <a:off x="6508748" y="2650258"/>
            <a:ext cx="1661032" cy="138499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signal a, b : </a:t>
            </a:r>
            <a:r>
              <a:rPr lang="en-US" sz="1200" dirty="0" err="1"/>
              <a:t>std_logic</a:t>
            </a:r>
            <a:r>
              <a:rPr lang="en-US" sz="1200" dirty="0"/>
              <a:t>;</a:t>
            </a:r>
            <a:endParaRPr lang="he-IL" sz="1200" dirty="0"/>
          </a:p>
          <a:p>
            <a:endParaRPr lang="en-US" sz="1200" dirty="0"/>
          </a:p>
          <a:p>
            <a:r>
              <a:rPr lang="en-US" sz="1200" dirty="0"/>
              <a:t>a &lt;= not b;    // not</a:t>
            </a:r>
          </a:p>
          <a:p>
            <a:r>
              <a:rPr lang="en-US" sz="1200" dirty="0"/>
              <a:t>a &lt;= a or b;    // or </a:t>
            </a:r>
          </a:p>
          <a:p>
            <a:r>
              <a:rPr lang="en-US" sz="1200" dirty="0"/>
              <a:t>a &lt;= a and b; // and</a:t>
            </a:r>
          </a:p>
          <a:p>
            <a:r>
              <a:rPr lang="en-US" sz="1200" dirty="0"/>
              <a:t>a &lt;= a </a:t>
            </a:r>
            <a:r>
              <a:rPr lang="en-US" sz="1200" dirty="0" err="1"/>
              <a:t>xor</a:t>
            </a:r>
            <a:r>
              <a:rPr lang="en-US" sz="1200" dirty="0"/>
              <a:t> b;    // </a:t>
            </a:r>
            <a:r>
              <a:rPr lang="en-US" sz="1200" dirty="0" err="1"/>
              <a:t>xor</a:t>
            </a:r>
            <a:endParaRPr lang="en-US" sz="1200" dirty="0"/>
          </a:p>
          <a:p>
            <a:endParaRPr lang="he-IL" sz="1200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1DFC6EC7-46BA-E011-00E9-E418E3AAEFBB}"/>
              </a:ext>
            </a:extLst>
          </p:cNvPr>
          <p:cNvSpPr txBox="1"/>
          <p:nvPr/>
        </p:nvSpPr>
        <p:spPr>
          <a:xfrm>
            <a:off x="6508748" y="4133310"/>
            <a:ext cx="188064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1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</a:rPr>
              <a:t>use </a:t>
            </a:r>
            <a:r>
              <a:rPr lang="en-US" sz="1200" dirty="0" err="1">
                <a:solidFill>
                  <a:srgbClr val="002060"/>
                </a:solidFill>
              </a:rPr>
              <a:t>ieee.numeric_std.all</a:t>
            </a:r>
            <a:r>
              <a:rPr lang="en-US" sz="1200" dirty="0">
                <a:solidFill>
                  <a:srgbClr val="FFFF00"/>
                </a:solidFill>
              </a:rPr>
              <a:t>;</a:t>
            </a:r>
            <a:endParaRPr lang="he-IL" sz="1200" dirty="0">
              <a:solidFill>
                <a:srgbClr val="FFFF00"/>
              </a:solidFill>
            </a:endParaRP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73CC6223-8FA1-EE04-8821-F6ED8121B4AC}"/>
              </a:ext>
            </a:extLst>
          </p:cNvPr>
          <p:cNvSpPr txBox="1"/>
          <p:nvPr/>
        </p:nvSpPr>
        <p:spPr>
          <a:xfrm>
            <a:off x="6508748" y="4410309"/>
            <a:ext cx="4156907" cy="1015663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 err="1"/>
              <a:t>vec_out</a:t>
            </a:r>
            <a:r>
              <a:rPr lang="en-US" sz="1200" dirty="0"/>
              <a:t> &lt;= </a:t>
            </a:r>
            <a:r>
              <a:rPr lang="en-US" sz="1200" dirty="0" err="1"/>
              <a:t>std_logic_vector</a:t>
            </a:r>
            <a:r>
              <a:rPr lang="en-US" sz="1200" dirty="0"/>
              <a:t>(</a:t>
            </a:r>
            <a:r>
              <a:rPr lang="en-US" sz="1200" dirty="0" err="1"/>
              <a:t>to_unsigned</a:t>
            </a:r>
            <a:r>
              <a:rPr lang="en-US" sz="1200" dirty="0"/>
              <a:t>(</a:t>
            </a:r>
            <a:r>
              <a:rPr lang="en-US" sz="1200" dirty="0" err="1"/>
              <a:t>int_in</a:t>
            </a:r>
            <a:r>
              <a:rPr lang="en-US" sz="1200" dirty="0"/>
              <a:t>, WIDTH));</a:t>
            </a:r>
          </a:p>
          <a:p>
            <a:r>
              <a:rPr lang="en-US" sz="1200" dirty="0" err="1"/>
              <a:t>my_integer</a:t>
            </a:r>
            <a:r>
              <a:rPr lang="en-US" sz="1200" dirty="0"/>
              <a:t> &lt;= </a:t>
            </a:r>
            <a:r>
              <a:rPr lang="en-US" sz="1200" dirty="0" err="1"/>
              <a:t>to_integer</a:t>
            </a:r>
            <a:r>
              <a:rPr lang="en-US" sz="1200" dirty="0"/>
              <a:t>(unsigned(</a:t>
            </a:r>
            <a:r>
              <a:rPr lang="en-US" sz="1200" dirty="0" err="1"/>
              <a:t>my_std_logic_vector</a:t>
            </a:r>
            <a:r>
              <a:rPr lang="en-US" sz="1200" dirty="0"/>
              <a:t>));</a:t>
            </a:r>
          </a:p>
          <a:p>
            <a:r>
              <a:rPr lang="en-US" sz="1200" dirty="0" err="1"/>
              <a:t>vec_out</a:t>
            </a:r>
            <a:r>
              <a:rPr lang="en-US" sz="1200" dirty="0"/>
              <a:t> &lt;= </a:t>
            </a:r>
            <a:r>
              <a:rPr lang="en-US" sz="1200" dirty="0" err="1"/>
              <a:t>std_logic_vector</a:t>
            </a:r>
            <a:r>
              <a:rPr lang="en-US" sz="1200" dirty="0"/>
              <a:t>(</a:t>
            </a:r>
            <a:r>
              <a:rPr lang="en-US" sz="1200" dirty="0" err="1"/>
              <a:t>to_signed</a:t>
            </a:r>
            <a:r>
              <a:rPr lang="en-US" sz="1200" dirty="0"/>
              <a:t>(</a:t>
            </a:r>
            <a:r>
              <a:rPr lang="en-US" sz="1200" dirty="0" err="1"/>
              <a:t>int_in</a:t>
            </a:r>
            <a:r>
              <a:rPr lang="en-US" sz="1200" dirty="0"/>
              <a:t>, WIDTH));</a:t>
            </a:r>
          </a:p>
          <a:p>
            <a:r>
              <a:rPr lang="en-US" sz="1200" dirty="0" err="1"/>
              <a:t>unsigned_signal</a:t>
            </a:r>
            <a:r>
              <a:rPr lang="en-US" sz="1200" dirty="0"/>
              <a:t> &lt;= </a:t>
            </a:r>
            <a:r>
              <a:rPr lang="en-US" sz="1200" dirty="0" err="1"/>
              <a:t>to_unsigned</a:t>
            </a:r>
            <a:r>
              <a:rPr lang="en-US" sz="1200" dirty="0"/>
              <a:t>(42, </a:t>
            </a:r>
            <a:r>
              <a:rPr lang="en-US" sz="1200" dirty="0" err="1"/>
              <a:t>my_vector'length</a:t>
            </a:r>
            <a:r>
              <a:rPr lang="en-US" sz="1200" dirty="0"/>
              <a:t>);</a:t>
            </a:r>
          </a:p>
          <a:p>
            <a:r>
              <a:rPr lang="en-US" sz="1200" dirty="0"/>
              <a:t>signal </a:t>
            </a:r>
            <a:r>
              <a:rPr lang="en-US" sz="1200" dirty="0" err="1"/>
              <a:t>r_buffer</a:t>
            </a:r>
            <a:r>
              <a:rPr lang="en-US" sz="1200" dirty="0"/>
              <a:t> : </a:t>
            </a:r>
            <a:r>
              <a:rPr lang="en-US" sz="1200" dirty="0" err="1"/>
              <a:t>std_logic_vector</a:t>
            </a:r>
            <a:r>
              <a:rPr lang="en-US" sz="1200" dirty="0"/>
              <a:t>(</a:t>
            </a:r>
            <a:r>
              <a:rPr lang="en-US" sz="1200" dirty="0" err="1"/>
              <a:t>vector_out'range</a:t>
            </a:r>
            <a:r>
              <a:rPr lang="en-US" sz="1200" dirty="0"/>
              <a:t>);</a:t>
            </a:r>
            <a:endParaRPr lang="he-IL" sz="1200" dirty="0"/>
          </a:p>
        </p:txBody>
      </p:sp>
    </p:spTree>
    <p:extLst>
      <p:ext uri="{BB962C8B-B14F-4D97-AF65-F5344CB8AC3E}">
        <p14:creationId xmlns:p14="http://schemas.microsoft.com/office/powerpoint/2010/main" val="3423709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7E640-2AF2-E862-D2F5-A3EB7BD3A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D17A95E3-DFD1-5E7B-E682-82F9651DA6E9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dirty="0">
                <a:solidFill>
                  <a:srgbClr val="0070C0"/>
                </a:solidFill>
              </a:rPr>
              <a:t>Combinational Logic (arrays)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491F35B0-5884-169B-123C-193D5907A734}"/>
              </a:ext>
            </a:extLst>
          </p:cNvPr>
          <p:cNvSpPr>
            <a:spLocks noGrp="1"/>
          </p:cNvSpPr>
          <p:nvPr/>
        </p:nvSpPr>
        <p:spPr>
          <a:xfrm>
            <a:off x="615946" y="955750"/>
            <a:ext cx="2533654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VHDL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263DD960-EA9A-23C9-9FA1-B8140F4E04DD}"/>
              </a:ext>
            </a:extLst>
          </p:cNvPr>
          <p:cNvSpPr>
            <a:spLocks noGrp="1"/>
          </p:cNvSpPr>
          <p:nvPr/>
        </p:nvSpPr>
        <p:spPr>
          <a:xfrm>
            <a:off x="8282128" y="346150"/>
            <a:ext cx="2533654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Verilog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0C976938-6BA7-9D06-665A-B6340D7DA7EA}"/>
              </a:ext>
            </a:extLst>
          </p:cNvPr>
          <p:cNvSpPr txBox="1"/>
          <p:nvPr/>
        </p:nvSpPr>
        <p:spPr>
          <a:xfrm>
            <a:off x="5804922" y="936666"/>
            <a:ext cx="5941050" cy="83099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wire [WIDTH -1:0]  </a:t>
            </a:r>
            <a:r>
              <a:rPr lang="en-US" sz="1200" dirty="0" err="1"/>
              <a:t>wireData</a:t>
            </a:r>
            <a:r>
              <a:rPr lang="en-US" sz="1200" dirty="0"/>
              <a:t> [0:DEPTH1-1] [0:DEPTH2-1] ={DEPTH {WIDTH{1’b0}}};</a:t>
            </a:r>
          </a:p>
          <a:p>
            <a:endParaRPr lang="en-US" sz="1200" dirty="0"/>
          </a:p>
          <a:p>
            <a:r>
              <a:rPr lang="en-US" sz="1200" dirty="0"/>
              <a:t>assign </a:t>
            </a:r>
            <a:r>
              <a:rPr lang="en-US" sz="1200" dirty="0" err="1"/>
              <a:t>wireData</a:t>
            </a:r>
            <a:r>
              <a:rPr lang="en-US" sz="1200" dirty="0"/>
              <a:t>[1][3] = Data;</a:t>
            </a:r>
          </a:p>
          <a:p>
            <a:endParaRPr lang="en-US" sz="1200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B8EF5D5-0679-8CF4-13F2-90DA7C273EB7}"/>
              </a:ext>
            </a:extLst>
          </p:cNvPr>
          <p:cNvSpPr txBox="1"/>
          <p:nvPr/>
        </p:nvSpPr>
        <p:spPr>
          <a:xfrm>
            <a:off x="615945" y="1508393"/>
            <a:ext cx="6024999" cy="415498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library IEEE;</a:t>
            </a:r>
          </a:p>
          <a:p>
            <a:r>
              <a:rPr lang="en-US" sz="1200" dirty="0"/>
              <a:t>use IEEE.STD_LOGIC_1164.ALL;</a:t>
            </a:r>
          </a:p>
          <a:p>
            <a:r>
              <a:rPr lang="en-US" sz="1200" dirty="0"/>
              <a:t>package </a:t>
            </a:r>
            <a:r>
              <a:rPr lang="en-US" sz="1200" dirty="0" err="1"/>
              <a:t>my_types_pkg</a:t>
            </a:r>
            <a:r>
              <a:rPr lang="en-US" sz="1200" dirty="0"/>
              <a:t> is</a:t>
            </a:r>
          </a:p>
          <a:p>
            <a:r>
              <a:rPr lang="en-US" sz="1200" dirty="0"/>
              <a:t>    type matrix_1d is array (0 to 3) of </a:t>
            </a:r>
            <a:r>
              <a:rPr lang="en-US" sz="1200" dirty="0" err="1"/>
              <a:t>std_logic_vector</a:t>
            </a:r>
            <a:r>
              <a:rPr lang="en-US" sz="1200" dirty="0"/>
              <a:t>(7 </a:t>
            </a:r>
            <a:r>
              <a:rPr lang="en-US" sz="1200" dirty="0" err="1"/>
              <a:t>downto</a:t>
            </a:r>
            <a:r>
              <a:rPr lang="en-US" sz="1200" dirty="0"/>
              <a:t> 0);</a:t>
            </a:r>
          </a:p>
          <a:p>
            <a:r>
              <a:rPr lang="en-US" sz="1200" dirty="0"/>
              <a:t>    type array_2d is array (0 to 1) of matrix_2d;</a:t>
            </a:r>
          </a:p>
          <a:p>
            <a:r>
              <a:rPr lang="en-US" sz="1200" dirty="0"/>
              <a:t>end package </a:t>
            </a:r>
            <a:r>
              <a:rPr lang="en-US" sz="1200" dirty="0" err="1"/>
              <a:t>my_types_pkg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library IEEE;</a:t>
            </a:r>
          </a:p>
          <a:p>
            <a:r>
              <a:rPr lang="en-US" sz="1200" dirty="0"/>
              <a:t>use IEEE.STD_LOGIC_1164.ALL;</a:t>
            </a:r>
          </a:p>
          <a:p>
            <a:r>
              <a:rPr lang="en-US" sz="1200" dirty="0"/>
              <a:t>library work;</a:t>
            </a:r>
          </a:p>
          <a:p>
            <a:r>
              <a:rPr lang="en-US" sz="1200" dirty="0"/>
              <a:t>use </a:t>
            </a:r>
            <a:r>
              <a:rPr lang="en-US" sz="1200" dirty="0" err="1"/>
              <a:t>work.my_types_pkg.all</a:t>
            </a:r>
            <a:r>
              <a:rPr lang="en-US" sz="1200" dirty="0"/>
              <a:t>;</a:t>
            </a:r>
          </a:p>
          <a:p>
            <a:r>
              <a:rPr lang="en-US" sz="1200" dirty="0"/>
              <a:t>entity </a:t>
            </a:r>
            <a:r>
              <a:rPr lang="en-US" sz="1200" dirty="0" err="1"/>
              <a:t>top_module</a:t>
            </a:r>
            <a:r>
              <a:rPr lang="en-US" sz="1200" dirty="0"/>
              <a:t> is</a:t>
            </a:r>
          </a:p>
          <a:p>
            <a:r>
              <a:rPr lang="en-US" sz="1200" dirty="0"/>
              <a:t>    port (	</a:t>
            </a:r>
          </a:p>
          <a:p>
            <a:r>
              <a:rPr lang="en-US" sz="1200" dirty="0"/>
              <a:t>    );</a:t>
            </a:r>
          </a:p>
          <a:p>
            <a:r>
              <a:rPr lang="en-US" sz="1200" dirty="0"/>
              <a:t>end entity </a:t>
            </a:r>
            <a:r>
              <a:rPr lang="en-US" sz="1200" dirty="0" err="1"/>
              <a:t>top_module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architecture behavioral of </a:t>
            </a:r>
            <a:r>
              <a:rPr lang="en-US" sz="1200" dirty="0" err="1"/>
              <a:t>top_module</a:t>
            </a:r>
            <a:r>
              <a:rPr lang="en-US" sz="1200" dirty="0"/>
              <a:t> is</a:t>
            </a:r>
          </a:p>
          <a:p>
            <a:r>
              <a:rPr lang="en-US" sz="1200" dirty="0"/>
              <a:t>    signal my_3d_grid : array_2d := (others =&gt;(others =&gt;(others =&gt;'0')));</a:t>
            </a:r>
          </a:p>
          <a:p>
            <a:r>
              <a:rPr lang="en-US" sz="1200" dirty="0"/>
              <a:t>begin</a:t>
            </a:r>
          </a:p>
          <a:p>
            <a:endParaRPr lang="en-US" sz="1200" dirty="0"/>
          </a:p>
          <a:p>
            <a:r>
              <a:rPr lang="en-US" sz="1200" dirty="0"/>
              <a:t>   my_3d_grid(1)(3) &lt;= "01011010";</a:t>
            </a:r>
          </a:p>
          <a:p>
            <a:r>
              <a:rPr lang="en-US" sz="1200" dirty="0"/>
              <a:t>end architecture behavioral;</a:t>
            </a:r>
          </a:p>
        </p:txBody>
      </p:sp>
    </p:spTree>
    <p:extLst>
      <p:ext uri="{BB962C8B-B14F-4D97-AF65-F5344CB8AC3E}">
        <p14:creationId xmlns:p14="http://schemas.microsoft.com/office/powerpoint/2010/main" val="585859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30A52-F6CC-6063-0916-3B22898B9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0D13EC42-A1DE-B4AD-DFCD-AF35A6A05DD6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dirty="0">
                <a:solidFill>
                  <a:srgbClr val="0070C0"/>
                </a:solidFill>
              </a:rPr>
              <a:t>Combinational Select (MUX)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F28E20C6-8A95-E53A-5B8C-805939D50AE6}"/>
              </a:ext>
            </a:extLst>
          </p:cNvPr>
          <p:cNvSpPr>
            <a:spLocks noGrp="1"/>
          </p:cNvSpPr>
          <p:nvPr/>
        </p:nvSpPr>
        <p:spPr>
          <a:xfrm>
            <a:off x="649071" y="1607181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Verilog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91E920C4-7A27-1835-D801-9586C97B5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7065" y="1197216"/>
            <a:ext cx="245814" cy="53891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9" name="Line 8">
            <a:extLst>
              <a:ext uri="{FF2B5EF4-FFF2-40B4-BE49-F238E27FC236}">
                <a16:creationId xmlns:a16="http://schemas.microsoft.com/office/drawing/2014/main" id="{12B24805-A9D8-373C-6C63-29DEA7D293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5578" y="1743294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0" name="Text Box 9">
            <a:extLst>
              <a:ext uri="{FF2B5EF4-FFF2-40B4-BE49-F238E27FC236}">
                <a16:creationId xmlns:a16="http://schemas.microsoft.com/office/drawing/2014/main" id="{789204D9-7EDC-642C-A26F-04140DB96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459" y="1791850"/>
            <a:ext cx="56778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 err="1"/>
              <a:t>sel</a:t>
            </a:r>
            <a:r>
              <a:rPr lang="en-US" altLang="he-IL" sz="1200" dirty="0"/>
              <a:t>(0)</a:t>
            </a:r>
          </a:p>
        </p:txBody>
      </p:sp>
      <p:sp>
        <p:nvSpPr>
          <p:cNvPr id="21" name="Line 12">
            <a:extLst>
              <a:ext uri="{FF2B5EF4-FFF2-40B4-BE49-F238E27FC236}">
                <a16:creationId xmlns:a16="http://schemas.microsoft.com/office/drawing/2014/main" id="{3255901E-B126-3D11-D522-8513FEB2CBA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592122" y="1167033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2" name="Line 13">
            <a:extLst>
              <a:ext uri="{FF2B5EF4-FFF2-40B4-BE49-F238E27FC236}">
                <a16:creationId xmlns:a16="http://schemas.microsoft.com/office/drawing/2014/main" id="{FCC9B27F-0307-D772-E875-2B09182CA13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596884" y="1400395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4" name="Line 19">
            <a:extLst>
              <a:ext uri="{FF2B5EF4-FFF2-40B4-BE49-F238E27FC236}">
                <a16:creationId xmlns:a16="http://schemas.microsoft.com/office/drawing/2014/main" id="{2B6E9BAF-412B-CB6B-2252-62C74F066A23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203061" y="1274216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5" name="Text Box 20">
            <a:extLst>
              <a:ext uri="{FF2B5EF4-FFF2-40B4-BE49-F238E27FC236}">
                <a16:creationId xmlns:a16="http://schemas.microsoft.com/office/drawing/2014/main" id="{6415F794-FE98-15AA-4339-FF819F881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0765" y="1202753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0</a:t>
            </a:r>
          </a:p>
        </p:txBody>
      </p:sp>
      <p:sp>
        <p:nvSpPr>
          <p:cNvPr id="26" name="Text Box 21">
            <a:extLst>
              <a:ext uri="{FF2B5EF4-FFF2-40B4-BE49-F238E27FC236}">
                <a16:creationId xmlns:a16="http://schemas.microsoft.com/office/drawing/2014/main" id="{EE6574D1-8409-27AF-3A40-91C750A52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3253" y="1436115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1</a:t>
            </a: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67E7ED8F-0774-6853-64A2-BAD0AE747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0720" y="1534579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a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F0AF8C15-4349-5E75-E57D-43F2D99CE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7272" y="1215492"/>
            <a:ext cx="3978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out</a:t>
            </a:r>
          </a:p>
        </p:txBody>
      </p:sp>
      <p:sp>
        <p:nvSpPr>
          <p:cNvPr id="54" name="Rectangle 5">
            <a:extLst>
              <a:ext uri="{FF2B5EF4-FFF2-40B4-BE49-F238E27FC236}">
                <a16:creationId xmlns:a16="http://schemas.microsoft.com/office/drawing/2014/main" id="{884CEE5E-86EA-F381-F6F0-C12746516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7803" y="1091283"/>
            <a:ext cx="245814" cy="53891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55" name="Line 8">
            <a:extLst>
              <a:ext uri="{FF2B5EF4-FFF2-40B4-BE49-F238E27FC236}">
                <a16:creationId xmlns:a16="http://schemas.microsoft.com/office/drawing/2014/main" id="{AEC6E90A-3333-40E5-9D90-60705E783E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6316" y="1637361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6" name="Text Box 9">
            <a:extLst>
              <a:ext uri="{FF2B5EF4-FFF2-40B4-BE49-F238E27FC236}">
                <a16:creationId xmlns:a16="http://schemas.microsoft.com/office/drawing/2014/main" id="{18C815CA-242B-4FDF-F9E5-C348D7BCE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6197" y="1685917"/>
            <a:ext cx="56778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 err="1"/>
              <a:t>sel</a:t>
            </a:r>
            <a:r>
              <a:rPr lang="en-US" altLang="he-IL" sz="1200" dirty="0"/>
              <a:t>(1)</a:t>
            </a:r>
          </a:p>
        </p:txBody>
      </p:sp>
      <p:sp>
        <p:nvSpPr>
          <p:cNvPr id="57" name="Line 12">
            <a:extLst>
              <a:ext uri="{FF2B5EF4-FFF2-40B4-BE49-F238E27FC236}">
                <a16:creationId xmlns:a16="http://schemas.microsoft.com/office/drawing/2014/main" id="{46A30B13-0D41-15D0-A8FC-25B5EB0AABD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692860" y="1061100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8" name="Line 13">
            <a:extLst>
              <a:ext uri="{FF2B5EF4-FFF2-40B4-BE49-F238E27FC236}">
                <a16:creationId xmlns:a16="http://schemas.microsoft.com/office/drawing/2014/main" id="{F5891D53-9AE6-C505-5EBB-5B88032868D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697622" y="1294462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9" name="Line 19">
            <a:extLst>
              <a:ext uri="{FF2B5EF4-FFF2-40B4-BE49-F238E27FC236}">
                <a16:creationId xmlns:a16="http://schemas.microsoft.com/office/drawing/2014/main" id="{8A391FD9-65A0-7E7E-9CDC-B249AA59CC0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303799" y="1168283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0" name="Text Box 20">
            <a:extLst>
              <a:ext uri="{FF2B5EF4-FFF2-40B4-BE49-F238E27FC236}">
                <a16:creationId xmlns:a16="http://schemas.microsoft.com/office/drawing/2014/main" id="{61AA3D40-4232-A45E-31C2-BAE31FA7F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1503" y="1096820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0</a:t>
            </a:r>
          </a:p>
        </p:txBody>
      </p:sp>
      <p:sp>
        <p:nvSpPr>
          <p:cNvPr id="61" name="Text Box 21">
            <a:extLst>
              <a:ext uri="{FF2B5EF4-FFF2-40B4-BE49-F238E27FC236}">
                <a16:creationId xmlns:a16="http://schemas.microsoft.com/office/drawing/2014/main" id="{B0D21CCE-ECEC-C04C-1559-6881C5E90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3991" y="1330182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1</a:t>
            </a:r>
          </a:p>
        </p:txBody>
      </p:sp>
      <p:sp>
        <p:nvSpPr>
          <p:cNvPr id="62" name="Text Box 25">
            <a:extLst>
              <a:ext uri="{FF2B5EF4-FFF2-40B4-BE49-F238E27FC236}">
                <a16:creationId xmlns:a16="http://schemas.microsoft.com/office/drawing/2014/main" id="{264C1357-AD6C-AA75-AB17-95DAB9082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1458" y="1428646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b</a:t>
            </a:r>
          </a:p>
        </p:txBody>
      </p:sp>
      <p:sp>
        <p:nvSpPr>
          <p:cNvPr id="64" name="Rectangle 5">
            <a:extLst>
              <a:ext uri="{FF2B5EF4-FFF2-40B4-BE49-F238E27FC236}">
                <a16:creationId xmlns:a16="http://schemas.microsoft.com/office/drawing/2014/main" id="{83FCEFFE-45A4-D0C4-DD88-95392F8E3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3027" y="982901"/>
            <a:ext cx="245814" cy="53891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65" name="Line 8">
            <a:extLst>
              <a:ext uri="{FF2B5EF4-FFF2-40B4-BE49-F238E27FC236}">
                <a16:creationId xmlns:a16="http://schemas.microsoft.com/office/drawing/2014/main" id="{69C3FB35-5A05-EA1A-E3CB-0C6C80A10B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1540" y="1528979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6" name="Text Box 9">
            <a:extLst>
              <a:ext uri="{FF2B5EF4-FFF2-40B4-BE49-F238E27FC236}">
                <a16:creationId xmlns:a16="http://schemas.microsoft.com/office/drawing/2014/main" id="{E67B3B66-5087-7FB2-A482-E795C52EC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1421" y="1577535"/>
            <a:ext cx="56778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 err="1"/>
              <a:t>sel</a:t>
            </a:r>
            <a:r>
              <a:rPr lang="en-US" altLang="he-IL" sz="1200" dirty="0"/>
              <a:t>(2)</a:t>
            </a:r>
          </a:p>
        </p:txBody>
      </p:sp>
      <p:sp>
        <p:nvSpPr>
          <p:cNvPr id="67" name="Line 12">
            <a:extLst>
              <a:ext uri="{FF2B5EF4-FFF2-40B4-BE49-F238E27FC236}">
                <a16:creationId xmlns:a16="http://schemas.microsoft.com/office/drawing/2014/main" id="{C0368E05-A1D8-D4AE-1689-647237F4FFE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768084" y="952718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8" name="Line 13">
            <a:extLst>
              <a:ext uri="{FF2B5EF4-FFF2-40B4-BE49-F238E27FC236}">
                <a16:creationId xmlns:a16="http://schemas.microsoft.com/office/drawing/2014/main" id="{3531618D-CAE5-292E-F6B5-DF3770A130A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772846" y="1186080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9" name="Line 19">
            <a:extLst>
              <a:ext uri="{FF2B5EF4-FFF2-40B4-BE49-F238E27FC236}">
                <a16:creationId xmlns:a16="http://schemas.microsoft.com/office/drawing/2014/main" id="{6B7B5851-0084-1E3B-D84F-27C82C01B88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79023" y="1059901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70" name="Text Box 20">
            <a:extLst>
              <a:ext uri="{FF2B5EF4-FFF2-40B4-BE49-F238E27FC236}">
                <a16:creationId xmlns:a16="http://schemas.microsoft.com/office/drawing/2014/main" id="{B67B7890-5AFA-5255-F379-0C24F5B85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6727" y="988438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0</a:t>
            </a:r>
          </a:p>
        </p:txBody>
      </p:sp>
      <p:sp>
        <p:nvSpPr>
          <p:cNvPr id="71" name="Text Box 21">
            <a:extLst>
              <a:ext uri="{FF2B5EF4-FFF2-40B4-BE49-F238E27FC236}">
                <a16:creationId xmlns:a16="http://schemas.microsoft.com/office/drawing/2014/main" id="{50085F08-DC6F-4F8E-9446-40BD84537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215" y="1221800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1</a:t>
            </a:r>
          </a:p>
        </p:txBody>
      </p:sp>
      <p:sp>
        <p:nvSpPr>
          <p:cNvPr id="72" name="Text Box 25">
            <a:extLst>
              <a:ext uri="{FF2B5EF4-FFF2-40B4-BE49-F238E27FC236}">
                <a16:creationId xmlns:a16="http://schemas.microsoft.com/office/drawing/2014/main" id="{2FF85EFD-93EA-B76D-9DC0-9FC421726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682" y="1320264"/>
            <a:ext cx="2616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c</a:t>
            </a:r>
          </a:p>
        </p:txBody>
      </p:sp>
      <p:sp>
        <p:nvSpPr>
          <p:cNvPr id="74" name="Text Box 25">
            <a:extLst>
              <a:ext uri="{FF2B5EF4-FFF2-40B4-BE49-F238E27FC236}">
                <a16:creationId xmlns:a16="http://schemas.microsoft.com/office/drawing/2014/main" id="{E251E92D-218A-D32A-4C29-6DE18B351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2062" y="863058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d</a:t>
            </a:r>
          </a:p>
        </p:txBody>
      </p:sp>
      <p:sp>
        <p:nvSpPr>
          <p:cNvPr id="75" name="מלבן 74">
            <a:extLst>
              <a:ext uri="{FF2B5EF4-FFF2-40B4-BE49-F238E27FC236}">
                <a16:creationId xmlns:a16="http://schemas.microsoft.com/office/drawing/2014/main" id="{D4F73A9C-9BD5-30D1-8AB9-BFA320FF40B4}"/>
              </a:ext>
            </a:extLst>
          </p:cNvPr>
          <p:cNvSpPr>
            <a:spLocks noGrp="1"/>
          </p:cNvSpPr>
          <p:nvPr/>
        </p:nvSpPr>
        <p:spPr>
          <a:xfrm>
            <a:off x="6619528" y="1616306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VHDL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6" name="תיבת טקסט 75">
            <a:extLst>
              <a:ext uri="{FF2B5EF4-FFF2-40B4-BE49-F238E27FC236}">
                <a16:creationId xmlns:a16="http://schemas.microsoft.com/office/drawing/2014/main" id="{EDA26BCF-1915-C6DA-4EFE-87A176CFC1B1}"/>
              </a:ext>
            </a:extLst>
          </p:cNvPr>
          <p:cNvSpPr txBox="1"/>
          <p:nvPr/>
        </p:nvSpPr>
        <p:spPr>
          <a:xfrm>
            <a:off x="649652" y="2309091"/>
            <a:ext cx="2159566" cy="138499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wire a, b, c, d;</a:t>
            </a:r>
          </a:p>
          <a:p>
            <a:r>
              <a:rPr lang="en-US" sz="1200" dirty="0"/>
              <a:t>wire [2:0] </a:t>
            </a:r>
            <a:r>
              <a:rPr lang="en-US" sz="1200" dirty="0" err="1"/>
              <a:t>sel</a:t>
            </a:r>
            <a:r>
              <a:rPr lang="en-US" sz="1200" dirty="0"/>
              <a:t>;</a:t>
            </a:r>
          </a:p>
          <a:p>
            <a:r>
              <a:rPr lang="en-US" sz="1200" dirty="0"/>
              <a:t>wire out;</a:t>
            </a:r>
          </a:p>
          <a:p>
            <a:endParaRPr lang="en-US" sz="1200" dirty="0"/>
          </a:p>
          <a:p>
            <a:r>
              <a:rPr lang="en-US" sz="1200" dirty="0"/>
              <a:t>assign out  = (~</a:t>
            </a:r>
            <a:r>
              <a:rPr lang="en-US" sz="1200" dirty="0" err="1"/>
              <a:t>sel</a:t>
            </a:r>
            <a:r>
              <a:rPr lang="en-US" sz="1200" dirty="0"/>
              <a:t>[0]) ? a : </a:t>
            </a:r>
          </a:p>
          <a:p>
            <a:r>
              <a:rPr lang="en-US" sz="1200" dirty="0"/>
              <a:t>                     (~</a:t>
            </a:r>
            <a:r>
              <a:rPr lang="en-US" sz="1200" dirty="0" err="1"/>
              <a:t>sel</a:t>
            </a:r>
            <a:r>
              <a:rPr lang="en-US" sz="1200" dirty="0"/>
              <a:t>[1]) ? b :</a:t>
            </a:r>
          </a:p>
          <a:p>
            <a:r>
              <a:rPr lang="en-US" sz="1200" dirty="0"/>
              <a:t>                     (~</a:t>
            </a:r>
            <a:r>
              <a:rPr lang="en-US" sz="1200" dirty="0" err="1"/>
              <a:t>sel</a:t>
            </a:r>
            <a:r>
              <a:rPr lang="en-US" sz="1200" dirty="0"/>
              <a:t>[2]) ? c : d;</a:t>
            </a:r>
            <a:endParaRPr lang="he-IL" sz="1200" dirty="0"/>
          </a:p>
        </p:txBody>
      </p:sp>
      <p:sp>
        <p:nvSpPr>
          <p:cNvPr id="77" name="תיבת טקסט 76">
            <a:extLst>
              <a:ext uri="{FF2B5EF4-FFF2-40B4-BE49-F238E27FC236}">
                <a16:creationId xmlns:a16="http://schemas.microsoft.com/office/drawing/2014/main" id="{1D9E1A2C-156F-9BE3-1F8E-28F114777F26}"/>
              </a:ext>
            </a:extLst>
          </p:cNvPr>
          <p:cNvSpPr txBox="1"/>
          <p:nvPr/>
        </p:nvSpPr>
        <p:spPr>
          <a:xfrm>
            <a:off x="6545676" y="2309091"/>
            <a:ext cx="2999539" cy="138499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signal a, b, c, d : </a:t>
            </a:r>
            <a:r>
              <a:rPr lang="en-US" sz="1200" dirty="0" err="1"/>
              <a:t>std_logic</a:t>
            </a:r>
            <a:r>
              <a:rPr lang="en-US" sz="1200" dirty="0"/>
              <a:t>;</a:t>
            </a:r>
          </a:p>
          <a:p>
            <a:r>
              <a:rPr lang="en-US" sz="1200" dirty="0"/>
              <a:t>signal </a:t>
            </a:r>
            <a:r>
              <a:rPr lang="en-US" sz="1200" dirty="0" err="1"/>
              <a:t>sel</a:t>
            </a:r>
            <a:r>
              <a:rPr lang="en-US" sz="1200" dirty="0"/>
              <a:t> : </a:t>
            </a:r>
            <a:r>
              <a:rPr lang="en-US" sz="1200" dirty="0" err="1"/>
              <a:t>std_logic_vector</a:t>
            </a:r>
            <a:r>
              <a:rPr lang="en-US" sz="1200" dirty="0"/>
              <a:t> (2 </a:t>
            </a:r>
            <a:r>
              <a:rPr lang="en-US" sz="1200" dirty="0" err="1"/>
              <a:t>downto</a:t>
            </a:r>
            <a:r>
              <a:rPr lang="en-US" sz="1200" dirty="0"/>
              <a:t> 0);</a:t>
            </a:r>
          </a:p>
          <a:p>
            <a:r>
              <a:rPr lang="en-US" sz="1200" dirty="0"/>
              <a:t>Signal out  : </a:t>
            </a:r>
            <a:r>
              <a:rPr lang="en-US" sz="1200" dirty="0" err="1"/>
              <a:t>std_logic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out = a when </a:t>
            </a:r>
            <a:r>
              <a:rPr lang="en-US" sz="1200" dirty="0" err="1"/>
              <a:t>sel</a:t>
            </a:r>
            <a:r>
              <a:rPr lang="en-US" sz="1200" dirty="0"/>
              <a:t>(0) =  ‘0’ else </a:t>
            </a:r>
          </a:p>
          <a:p>
            <a:r>
              <a:rPr lang="en-US" sz="1200" dirty="0"/>
              <a:t>         b when </a:t>
            </a:r>
            <a:r>
              <a:rPr lang="en-US" sz="1200" dirty="0" err="1"/>
              <a:t>sel</a:t>
            </a:r>
            <a:r>
              <a:rPr lang="en-US" sz="1200" dirty="0"/>
              <a:t>(1) =  ‘0’ else</a:t>
            </a:r>
          </a:p>
          <a:p>
            <a:r>
              <a:rPr lang="en-US" sz="1200" dirty="0"/>
              <a:t>         c when </a:t>
            </a:r>
            <a:r>
              <a:rPr lang="en-US" sz="1200" dirty="0" err="1"/>
              <a:t>sel</a:t>
            </a:r>
            <a:r>
              <a:rPr lang="en-US" sz="1200" dirty="0"/>
              <a:t>(2) =  ‘0’ else d;</a:t>
            </a:r>
          </a:p>
        </p:txBody>
      </p:sp>
    </p:spTree>
    <p:extLst>
      <p:ext uri="{BB962C8B-B14F-4D97-AF65-F5344CB8AC3E}">
        <p14:creationId xmlns:p14="http://schemas.microsoft.com/office/powerpoint/2010/main" val="350267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67725-95F1-221C-2A88-8F1628C8F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28F82CF2-F3AF-3116-D1E0-CBD4DE277F7A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dirty="0">
                <a:solidFill>
                  <a:srgbClr val="0070C0"/>
                </a:solidFill>
              </a:rPr>
              <a:t>Comparator 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4CBD9364-F0F9-53FD-BE03-9C503C6838FE}"/>
              </a:ext>
            </a:extLst>
          </p:cNvPr>
          <p:cNvSpPr>
            <a:spLocks noGrp="1"/>
          </p:cNvSpPr>
          <p:nvPr/>
        </p:nvSpPr>
        <p:spPr>
          <a:xfrm>
            <a:off x="615946" y="799522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Verilog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5" name="מלבן 74">
            <a:extLst>
              <a:ext uri="{FF2B5EF4-FFF2-40B4-BE49-F238E27FC236}">
                <a16:creationId xmlns:a16="http://schemas.microsoft.com/office/drawing/2014/main" id="{75F8ADC5-AB07-DD7E-C148-6E6C63BB430C}"/>
              </a:ext>
            </a:extLst>
          </p:cNvPr>
          <p:cNvSpPr>
            <a:spLocks noGrp="1"/>
          </p:cNvSpPr>
          <p:nvPr/>
        </p:nvSpPr>
        <p:spPr>
          <a:xfrm>
            <a:off x="6952037" y="799521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VHDL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6" name="תיבת טקסט 75">
            <a:extLst>
              <a:ext uri="{FF2B5EF4-FFF2-40B4-BE49-F238E27FC236}">
                <a16:creationId xmlns:a16="http://schemas.microsoft.com/office/drawing/2014/main" id="{2AAFA6FE-4A6A-B5FD-CE8F-559D2380F757}"/>
              </a:ext>
            </a:extLst>
          </p:cNvPr>
          <p:cNvSpPr txBox="1"/>
          <p:nvPr/>
        </p:nvSpPr>
        <p:spPr>
          <a:xfrm>
            <a:off x="199186" y="2788655"/>
            <a:ext cx="4338752" cy="193899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wire </a:t>
            </a:r>
            <a:r>
              <a:rPr lang="en-US" sz="1200" dirty="0" err="1"/>
              <a:t>sel</a:t>
            </a:r>
            <a:r>
              <a:rPr lang="en-US" sz="1200" dirty="0"/>
              <a:t>;</a:t>
            </a:r>
          </a:p>
          <a:p>
            <a:r>
              <a:rPr lang="en-US" sz="1200" dirty="0"/>
              <a:t>wire [WIDTH -1:0]  A,B;</a:t>
            </a:r>
          </a:p>
          <a:p>
            <a:endParaRPr lang="en-US" sz="1200" dirty="0"/>
          </a:p>
          <a:p>
            <a:r>
              <a:rPr lang="en-US" sz="1200" dirty="0"/>
              <a:t>assign </a:t>
            </a:r>
            <a:r>
              <a:rPr lang="en-US" sz="1200" dirty="0" err="1"/>
              <a:t>sel</a:t>
            </a:r>
            <a:r>
              <a:rPr lang="en-US" sz="1200" dirty="0"/>
              <a:t> = ( A == B )   ? 1'b1 : 1'b0;         Equal to             </a:t>
            </a:r>
          </a:p>
          <a:p>
            <a:r>
              <a:rPr lang="en-US" sz="1200" dirty="0"/>
              <a:t>assign </a:t>
            </a:r>
            <a:r>
              <a:rPr lang="en-US" sz="1200" dirty="0" err="1"/>
              <a:t>sel</a:t>
            </a:r>
            <a:r>
              <a:rPr lang="en-US" sz="1200" dirty="0"/>
              <a:t> = ( A === B ) ? 1'b1 : 1'b0;         Strictly Equal to  </a:t>
            </a:r>
          </a:p>
          <a:p>
            <a:r>
              <a:rPr lang="en-US" sz="1200" dirty="0"/>
              <a:t>assign </a:t>
            </a:r>
            <a:r>
              <a:rPr lang="en-US" sz="1200" dirty="0" err="1"/>
              <a:t>sel</a:t>
            </a:r>
            <a:r>
              <a:rPr lang="en-US" sz="1200" dirty="0"/>
              <a:t> = ( A != B )    ? 1'b1 : 1'b0;         Not Equal to       </a:t>
            </a:r>
          </a:p>
          <a:p>
            <a:r>
              <a:rPr lang="en-US" sz="1200" dirty="0"/>
              <a:t>assign </a:t>
            </a:r>
            <a:r>
              <a:rPr lang="en-US" sz="1200" dirty="0" err="1"/>
              <a:t>sel</a:t>
            </a:r>
            <a:r>
              <a:rPr lang="en-US" sz="1200" dirty="0"/>
              <a:t> = ( A &gt; B )     ? 1'b1 : 1'b0;         Greater than       </a:t>
            </a:r>
          </a:p>
          <a:p>
            <a:r>
              <a:rPr lang="en-US" sz="1200" dirty="0"/>
              <a:t>assign </a:t>
            </a:r>
            <a:r>
              <a:rPr lang="en-US" sz="1200" dirty="0" err="1"/>
              <a:t>sel</a:t>
            </a:r>
            <a:r>
              <a:rPr lang="en-US" sz="1200" dirty="0"/>
              <a:t> = ( A &gt;= B )   ? 1'b1 : 1'b0;         Greater or Equal   </a:t>
            </a:r>
          </a:p>
          <a:p>
            <a:r>
              <a:rPr lang="en-US" sz="1200" dirty="0"/>
              <a:t>assign </a:t>
            </a:r>
            <a:r>
              <a:rPr lang="en-US" sz="1200" dirty="0" err="1"/>
              <a:t>sel</a:t>
            </a:r>
            <a:r>
              <a:rPr lang="en-US" sz="1200" dirty="0"/>
              <a:t> = ( A &lt; B )     ? 1'b1 : 1'b0;         Less than           </a:t>
            </a:r>
          </a:p>
          <a:p>
            <a:r>
              <a:rPr lang="en-US" sz="1200" dirty="0"/>
              <a:t>assign </a:t>
            </a:r>
            <a:r>
              <a:rPr lang="en-US" sz="1200" dirty="0" err="1"/>
              <a:t>sel</a:t>
            </a:r>
            <a:r>
              <a:rPr lang="en-US" sz="1200" dirty="0"/>
              <a:t> = ( A &lt;= B )   ? 1'b1 : 1'b0;         Less or Equal</a:t>
            </a:r>
            <a:endParaRPr lang="he-IL" sz="1200" dirty="0"/>
          </a:p>
        </p:txBody>
      </p:sp>
      <p:sp>
        <p:nvSpPr>
          <p:cNvPr id="77" name="תיבת טקסט 76">
            <a:extLst>
              <a:ext uri="{FF2B5EF4-FFF2-40B4-BE49-F238E27FC236}">
                <a16:creationId xmlns:a16="http://schemas.microsoft.com/office/drawing/2014/main" id="{585ED998-E7B3-4777-2D4C-EB0CB22EC7F6}"/>
              </a:ext>
            </a:extLst>
          </p:cNvPr>
          <p:cNvSpPr txBox="1"/>
          <p:nvPr/>
        </p:nvSpPr>
        <p:spPr>
          <a:xfrm>
            <a:off x="6711031" y="2838716"/>
            <a:ext cx="3730060" cy="193899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signal </a:t>
            </a:r>
            <a:r>
              <a:rPr lang="en-US" sz="1200" dirty="0" err="1"/>
              <a:t>sel</a:t>
            </a:r>
            <a:r>
              <a:rPr lang="en-US" sz="1200" dirty="0"/>
              <a:t> : </a:t>
            </a:r>
            <a:r>
              <a:rPr lang="en-US" sz="1200" dirty="0" err="1"/>
              <a:t>std_logic</a:t>
            </a:r>
            <a:r>
              <a:rPr lang="en-US" sz="1200" dirty="0"/>
              <a:t>;</a:t>
            </a:r>
          </a:p>
          <a:p>
            <a:r>
              <a:rPr lang="en-US" sz="1200" dirty="0"/>
              <a:t>signal A,B : </a:t>
            </a:r>
            <a:r>
              <a:rPr lang="en-US" sz="1200" dirty="0" err="1"/>
              <a:t>std_logic_vector</a:t>
            </a:r>
            <a:r>
              <a:rPr lang="en-US" sz="1200" dirty="0"/>
              <a:t> (WIDTH -1 </a:t>
            </a:r>
            <a:r>
              <a:rPr lang="en-US" sz="1200" dirty="0" err="1"/>
              <a:t>downto</a:t>
            </a:r>
            <a:r>
              <a:rPr lang="en-US" sz="1200" dirty="0"/>
              <a:t>  0) ;</a:t>
            </a:r>
          </a:p>
          <a:p>
            <a:endParaRPr lang="en-US" sz="1200" dirty="0"/>
          </a:p>
          <a:p>
            <a:r>
              <a:rPr lang="en-US" sz="1200" dirty="0" err="1"/>
              <a:t>sel</a:t>
            </a:r>
            <a:r>
              <a:rPr lang="en-US" sz="1200" dirty="0"/>
              <a:t> &lt;= '1' when A = B  else '0';</a:t>
            </a:r>
          </a:p>
          <a:p>
            <a:r>
              <a:rPr lang="en-US" sz="1200" dirty="0" err="1"/>
              <a:t>sel</a:t>
            </a:r>
            <a:r>
              <a:rPr lang="en-US" sz="1200" dirty="0"/>
              <a:t> &lt;= '1' when A /= B else '0';</a:t>
            </a:r>
          </a:p>
          <a:p>
            <a:r>
              <a:rPr lang="en-US" sz="1200" dirty="0" err="1"/>
              <a:t>sel</a:t>
            </a:r>
            <a:r>
              <a:rPr lang="en-US" sz="1200" dirty="0"/>
              <a:t> &lt;= '1' when A &gt; B  else '0';</a:t>
            </a:r>
          </a:p>
          <a:p>
            <a:r>
              <a:rPr lang="en-US" sz="1200" dirty="0" err="1"/>
              <a:t>sel</a:t>
            </a:r>
            <a:r>
              <a:rPr lang="en-US" sz="1200" dirty="0"/>
              <a:t> &lt;= '1' when A &gt;= B else '0';</a:t>
            </a:r>
          </a:p>
          <a:p>
            <a:r>
              <a:rPr lang="en-US" sz="1200" dirty="0" err="1"/>
              <a:t>sel</a:t>
            </a:r>
            <a:r>
              <a:rPr lang="en-US" sz="1200" dirty="0"/>
              <a:t> &lt;= '1' when A &lt; B  else '0';</a:t>
            </a:r>
          </a:p>
          <a:p>
            <a:r>
              <a:rPr lang="en-US" sz="1200" dirty="0" err="1"/>
              <a:t>sel</a:t>
            </a:r>
            <a:r>
              <a:rPr lang="en-US" sz="1200" dirty="0"/>
              <a:t> &lt;= '1' when A &lt;= B else '0';</a:t>
            </a:r>
          </a:p>
          <a:p>
            <a:endParaRPr lang="en-US" sz="1200" dirty="0"/>
          </a:p>
        </p:txBody>
      </p:sp>
      <p:sp>
        <p:nvSpPr>
          <p:cNvPr id="3" name="משולש שווה-שוקיים 2">
            <a:extLst>
              <a:ext uri="{FF2B5EF4-FFF2-40B4-BE49-F238E27FC236}">
                <a16:creationId xmlns:a16="http://schemas.microsoft.com/office/drawing/2014/main" id="{B7A4137B-7BCB-BA54-3229-5CD11239FC1C}"/>
              </a:ext>
            </a:extLst>
          </p:cNvPr>
          <p:cNvSpPr/>
          <p:nvPr/>
        </p:nvSpPr>
        <p:spPr>
          <a:xfrm rot="5400000">
            <a:off x="4237918" y="909782"/>
            <a:ext cx="1060704" cy="914400"/>
          </a:xfrm>
          <a:prstGeom prst="triangl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5" name="מחבר חץ ישר 4">
            <a:extLst>
              <a:ext uri="{FF2B5EF4-FFF2-40B4-BE49-F238E27FC236}">
                <a16:creationId xmlns:a16="http://schemas.microsoft.com/office/drawing/2014/main" id="{64EA0CF5-49A4-F013-EDDE-4053AEDB822B}"/>
              </a:ext>
            </a:extLst>
          </p:cNvPr>
          <p:cNvCxnSpPr/>
          <p:nvPr/>
        </p:nvCxnSpPr>
        <p:spPr>
          <a:xfrm>
            <a:off x="5190103" y="1366982"/>
            <a:ext cx="906818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מחבר חץ ישר 5">
            <a:extLst>
              <a:ext uri="{FF2B5EF4-FFF2-40B4-BE49-F238E27FC236}">
                <a16:creationId xmlns:a16="http://schemas.microsoft.com/office/drawing/2014/main" id="{7CCD7EEA-A69C-8415-973A-62694A307608}"/>
              </a:ext>
            </a:extLst>
          </p:cNvPr>
          <p:cNvCxnSpPr/>
          <p:nvPr/>
        </p:nvCxnSpPr>
        <p:spPr>
          <a:xfrm>
            <a:off x="3404252" y="1122219"/>
            <a:ext cx="90681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E4EDBF60-CD0D-4CAD-B5F6-9043F00AAC96}"/>
              </a:ext>
            </a:extLst>
          </p:cNvPr>
          <p:cNvCxnSpPr/>
          <p:nvPr/>
        </p:nvCxnSpPr>
        <p:spPr>
          <a:xfrm>
            <a:off x="3404252" y="1597892"/>
            <a:ext cx="90681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F9D27A2C-8DAF-4137-8E67-A8DF145C8B56}"/>
              </a:ext>
            </a:extLst>
          </p:cNvPr>
          <p:cNvSpPr txBox="1"/>
          <p:nvPr/>
        </p:nvSpPr>
        <p:spPr>
          <a:xfrm>
            <a:off x="3084951" y="969818"/>
            <a:ext cx="304892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A</a:t>
            </a:r>
            <a:endParaRPr lang="he-IL" sz="1400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0B25F82C-D6C9-0142-6383-FACA0DD7FB16}"/>
              </a:ext>
            </a:extLst>
          </p:cNvPr>
          <p:cNvSpPr txBox="1"/>
          <p:nvPr/>
        </p:nvSpPr>
        <p:spPr>
          <a:xfrm>
            <a:off x="3084951" y="1421827"/>
            <a:ext cx="304892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B</a:t>
            </a:r>
            <a:endParaRPr lang="he-IL" sz="1400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9E7AB9AA-7D84-F8CB-6913-3B9E0B4B5A76}"/>
              </a:ext>
            </a:extLst>
          </p:cNvPr>
          <p:cNvSpPr txBox="1"/>
          <p:nvPr/>
        </p:nvSpPr>
        <p:spPr>
          <a:xfrm>
            <a:off x="5479094" y="962466"/>
            <a:ext cx="364202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‘1’</a:t>
            </a:r>
            <a:endParaRPr lang="he-IL" sz="1400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4E52577A-42C9-991C-8CF5-A5AB6B8BB9A6}"/>
              </a:ext>
            </a:extLst>
          </p:cNvPr>
          <p:cNvSpPr txBox="1"/>
          <p:nvPr/>
        </p:nvSpPr>
        <p:spPr>
          <a:xfrm>
            <a:off x="5479094" y="1400224"/>
            <a:ext cx="364202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‘0’</a:t>
            </a:r>
            <a:endParaRPr lang="he-IL" sz="1400" dirty="0"/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D2D5224F-3607-E3C2-EB3D-FC0BC90C2737}"/>
              </a:ext>
            </a:extLst>
          </p:cNvPr>
          <p:cNvSpPr txBox="1"/>
          <p:nvPr/>
        </p:nvSpPr>
        <p:spPr>
          <a:xfrm>
            <a:off x="6203031" y="1267365"/>
            <a:ext cx="413896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 err="1"/>
              <a:t>sel</a:t>
            </a:r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2428351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C16F0-8E3F-6648-0D8F-121C4D22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8F5D5725-7695-41E7-56AD-682D1CC352B2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dirty="0">
                <a:solidFill>
                  <a:srgbClr val="0070C0"/>
                </a:solidFill>
              </a:rPr>
              <a:t>Combinational Select (MUX)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178D748B-7A53-F7B6-3275-0AF147C09694}"/>
              </a:ext>
            </a:extLst>
          </p:cNvPr>
          <p:cNvSpPr>
            <a:spLocks noGrp="1"/>
          </p:cNvSpPr>
          <p:nvPr/>
        </p:nvSpPr>
        <p:spPr>
          <a:xfrm>
            <a:off x="649071" y="1634902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Verilog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5" name="מלבן 74">
            <a:extLst>
              <a:ext uri="{FF2B5EF4-FFF2-40B4-BE49-F238E27FC236}">
                <a16:creationId xmlns:a16="http://schemas.microsoft.com/office/drawing/2014/main" id="{C12CC8C9-2DE6-43BE-9A8B-AE031E1FF5A8}"/>
              </a:ext>
            </a:extLst>
          </p:cNvPr>
          <p:cNvSpPr>
            <a:spLocks noGrp="1"/>
          </p:cNvSpPr>
          <p:nvPr/>
        </p:nvSpPr>
        <p:spPr>
          <a:xfrm>
            <a:off x="6619528" y="1644027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VHDL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6" name="תיבת טקסט 75">
            <a:extLst>
              <a:ext uri="{FF2B5EF4-FFF2-40B4-BE49-F238E27FC236}">
                <a16:creationId xmlns:a16="http://schemas.microsoft.com/office/drawing/2014/main" id="{47336137-676E-A753-19CC-7AF53A53CF97}"/>
              </a:ext>
            </a:extLst>
          </p:cNvPr>
          <p:cNvSpPr txBox="1"/>
          <p:nvPr/>
        </p:nvSpPr>
        <p:spPr>
          <a:xfrm>
            <a:off x="615946" y="2447647"/>
            <a:ext cx="1967205" cy="249299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wire a, b, c, d;</a:t>
            </a:r>
          </a:p>
          <a:p>
            <a:r>
              <a:rPr lang="en-US" sz="1200" dirty="0"/>
              <a:t>wire [1:0] </a:t>
            </a:r>
            <a:r>
              <a:rPr lang="en-US" sz="1200" dirty="0" err="1"/>
              <a:t>sel</a:t>
            </a:r>
            <a:r>
              <a:rPr lang="en-US" sz="1200" dirty="0"/>
              <a:t>;</a:t>
            </a:r>
          </a:p>
          <a:p>
            <a:r>
              <a:rPr lang="en-US" sz="1200" dirty="0"/>
              <a:t>wire out;</a:t>
            </a:r>
          </a:p>
          <a:p>
            <a:endParaRPr lang="en-US" sz="1200" dirty="0"/>
          </a:p>
          <a:p>
            <a:r>
              <a:rPr lang="en-US" sz="1200" dirty="0"/>
              <a:t>always @(*) begin </a:t>
            </a:r>
          </a:p>
          <a:p>
            <a:r>
              <a:rPr lang="en-US" sz="1200" dirty="0"/>
              <a:t>      case (</a:t>
            </a:r>
            <a:r>
              <a:rPr lang="en-US" sz="1200" dirty="0" err="1"/>
              <a:t>sel</a:t>
            </a:r>
            <a:r>
              <a:rPr lang="en-US" sz="1200" dirty="0"/>
              <a:t>) </a:t>
            </a:r>
          </a:p>
          <a:p>
            <a:r>
              <a:rPr lang="en-US" sz="1200" dirty="0"/>
              <a:t>          2'b00 : out = in0; </a:t>
            </a:r>
          </a:p>
          <a:p>
            <a:r>
              <a:rPr lang="en-US" sz="1200" dirty="0"/>
              <a:t>          2'b01 : out = in1; </a:t>
            </a:r>
          </a:p>
          <a:p>
            <a:r>
              <a:rPr lang="en-US" sz="1200" dirty="0"/>
              <a:t>          2'b10 : out = in2; </a:t>
            </a:r>
          </a:p>
          <a:p>
            <a:r>
              <a:rPr lang="en-US" sz="1200" dirty="0"/>
              <a:t>          2'b11 : out = in3; </a:t>
            </a:r>
          </a:p>
          <a:p>
            <a:r>
              <a:rPr lang="en-US" sz="1200" dirty="0"/>
              <a:t>          default : out = 1'b0; </a:t>
            </a:r>
          </a:p>
          <a:p>
            <a:r>
              <a:rPr lang="en-US" sz="1200" dirty="0"/>
              <a:t>      </a:t>
            </a:r>
            <a:r>
              <a:rPr lang="en-US" sz="1200" dirty="0" err="1"/>
              <a:t>endcase</a:t>
            </a:r>
            <a:r>
              <a:rPr lang="en-US" sz="1200" dirty="0"/>
              <a:t> </a:t>
            </a:r>
          </a:p>
          <a:p>
            <a:r>
              <a:rPr lang="en-US" sz="1200" dirty="0"/>
              <a:t>end </a:t>
            </a:r>
            <a:endParaRPr lang="he-IL" sz="1200" dirty="0"/>
          </a:p>
        </p:txBody>
      </p:sp>
      <p:sp>
        <p:nvSpPr>
          <p:cNvPr id="77" name="תיבת טקסט 76">
            <a:extLst>
              <a:ext uri="{FF2B5EF4-FFF2-40B4-BE49-F238E27FC236}">
                <a16:creationId xmlns:a16="http://schemas.microsoft.com/office/drawing/2014/main" id="{C5BC4027-0CD6-D7BD-8B0F-EDAD86E58590}"/>
              </a:ext>
            </a:extLst>
          </p:cNvPr>
          <p:cNvSpPr txBox="1"/>
          <p:nvPr/>
        </p:nvSpPr>
        <p:spPr>
          <a:xfrm>
            <a:off x="6383243" y="2447647"/>
            <a:ext cx="2999539" cy="267765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signal a, b, c, d : </a:t>
            </a:r>
            <a:r>
              <a:rPr lang="en-US" sz="1200" dirty="0" err="1"/>
              <a:t>std_logic</a:t>
            </a:r>
            <a:r>
              <a:rPr lang="en-US" sz="1200" dirty="0"/>
              <a:t>;</a:t>
            </a:r>
          </a:p>
          <a:p>
            <a:r>
              <a:rPr lang="en-US" sz="1200" dirty="0"/>
              <a:t>signal </a:t>
            </a:r>
            <a:r>
              <a:rPr lang="en-US" sz="1200" dirty="0" err="1"/>
              <a:t>sel</a:t>
            </a:r>
            <a:r>
              <a:rPr lang="en-US" sz="1200" dirty="0"/>
              <a:t> : </a:t>
            </a:r>
            <a:r>
              <a:rPr lang="en-US" sz="1200" dirty="0" err="1"/>
              <a:t>std_logic_vector</a:t>
            </a:r>
            <a:r>
              <a:rPr lang="en-US" sz="1200" dirty="0"/>
              <a:t> (1 </a:t>
            </a:r>
            <a:r>
              <a:rPr lang="en-US" sz="1200" dirty="0" err="1"/>
              <a:t>downto</a:t>
            </a:r>
            <a:r>
              <a:rPr lang="en-US" sz="1200" dirty="0"/>
              <a:t> 0);</a:t>
            </a:r>
          </a:p>
          <a:p>
            <a:r>
              <a:rPr lang="en-US" sz="1200" dirty="0"/>
              <a:t>Signal out  : </a:t>
            </a:r>
            <a:r>
              <a:rPr lang="en-US" sz="1200" dirty="0" err="1"/>
              <a:t>std_logic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 err="1"/>
              <a:t>mux_process</a:t>
            </a:r>
            <a:r>
              <a:rPr lang="en-US" sz="1200" dirty="0"/>
              <a:t> : process(</a:t>
            </a:r>
            <a:r>
              <a:rPr lang="en-US" sz="1200" dirty="0" err="1"/>
              <a:t>sel</a:t>
            </a:r>
            <a:r>
              <a:rPr lang="en-US" sz="1200" dirty="0"/>
              <a:t>, a, b, c, d) </a:t>
            </a:r>
          </a:p>
          <a:p>
            <a:r>
              <a:rPr lang="en-US" sz="1200" dirty="0"/>
              <a:t>begin</a:t>
            </a:r>
          </a:p>
          <a:p>
            <a:r>
              <a:rPr lang="en-US" sz="1200" dirty="0"/>
              <a:t>    case </a:t>
            </a:r>
            <a:r>
              <a:rPr lang="en-US" sz="1200" dirty="0" err="1"/>
              <a:t>sel</a:t>
            </a:r>
            <a:r>
              <a:rPr lang="en-US" sz="1200" dirty="0"/>
              <a:t> is </a:t>
            </a:r>
          </a:p>
          <a:p>
            <a:r>
              <a:rPr lang="en-US" sz="1200" dirty="0"/>
              <a:t>        when "00" =&gt; out&lt;= in0; </a:t>
            </a:r>
          </a:p>
          <a:p>
            <a:r>
              <a:rPr lang="en-US" sz="1200" dirty="0"/>
              <a:t>        when "01" =&gt; out&lt;= in1; </a:t>
            </a:r>
          </a:p>
          <a:p>
            <a:r>
              <a:rPr lang="en-US" sz="1200" dirty="0"/>
              <a:t>        when "10" =&gt; out&lt;= in2; </a:t>
            </a:r>
          </a:p>
          <a:p>
            <a:r>
              <a:rPr lang="en-US" sz="1200" dirty="0"/>
              <a:t>        when "11" =&gt; out&lt;= in3; </a:t>
            </a:r>
          </a:p>
          <a:p>
            <a:r>
              <a:rPr lang="en-US" sz="1200" dirty="0"/>
              <a:t>        when others =&gt; out&lt;= '0’; 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endcase</a:t>
            </a:r>
            <a:r>
              <a:rPr lang="en-US" sz="1200" dirty="0"/>
              <a:t>; </a:t>
            </a:r>
          </a:p>
          <a:p>
            <a:r>
              <a:rPr lang="en-US" sz="1200" dirty="0"/>
              <a:t>end process </a:t>
            </a:r>
            <a:r>
              <a:rPr lang="en-US" sz="1200" dirty="0" err="1"/>
              <a:t>mux_process</a:t>
            </a:r>
            <a:r>
              <a:rPr lang="en-US" sz="1200" dirty="0"/>
              <a:t>;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37E06F-352E-9AE5-CFED-C592B2423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0688" y="1125157"/>
            <a:ext cx="708672" cy="1081288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6" name="Line 74">
            <a:extLst>
              <a:ext uri="{FF2B5EF4-FFF2-40B4-BE49-F238E27FC236}">
                <a16:creationId xmlns:a16="http://schemas.microsoft.com/office/drawing/2014/main" id="{6568100E-2EA8-ECC8-2280-3185081DFA2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1356" y="2214138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7" name="Line 75">
            <a:extLst>
              <a:ext uri="{FF2B5EF4-FFF2-40B4-BE49-F238E27FC236}">
                <a16:creationId xmlns:a16="http://schemas.microsoft.com/office/drawing/2014/main" id="{D29925D5-8947-6966-2ACE-67F8A29E6B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7256" y="2214138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9" name="Text Box 76">
            <a:extLst>
              <a:ext uri="{FF2B5EF4-FFF2-40B4-BE49-F238E27FC236}">
                <a16:creationId xmlns:a16="http://schemas.microsoft.com/office/drawing/2014/main" id="{E367B1CE-C547-01D1-C6D4-A82B4F1E8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8531" y="2212550"/>
            <a:ext cx="38023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 err="1"/>
              <a:t>sel</a:t>
            </a:r>
            <a:endParaRPr lang="en-US" altLang="he-IL" sz="1200" dirty="0"/>
          </a:p>
        </p:txBody>
      </p:sp>
      <p:sp>
        <p:nvSpPr>
          <p:cNvPr id="14" name="Line 82">
            <a:extLst>
              <a:ext uri="{FF2B5EF4-FFF2-40B4-BE49-F238E27FC236}">
                <a16:creationId xmlns:a16="http://schemas.microsoft.com/office/drawing/2014/main" id="{8FCE9759-4160-CF81-D0D7-13213D45277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916991" y="1623537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5" name="Line 83">
            <a:extLst>
              <a:ext uri="{FF2B5EF4-FFF2-40B4-BE49-F238E27FC236}">
                <a16:creationId xmlns:a16="http://schemas.microsoft.com/office/drawing/2014/main" id="{A6B09AC2-AEBB-5860-0F60-BB8EDB7C115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916991" y="1882304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6" name="Line 84">
            <a:extLst>
              <a:ext uri="{FF2B5EF4-FFF2-40B4-BE49-F238E27FC236}">
                <a16:creationId xmlns:a16="http://schemas.microsoft.com/office/drawing/2014/main" id="{43173A56-B17F-B1F0-7922-DE45B2D4D35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916991" y="1152053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7" name="Line 85">
            <a:extLst>
              <a:ext uri="{FF2B5EF4-FFF2-40B4-BE49-F238E27FC236}">
                <a16:creationId xmlns:a16="http://schemas.microsoft.com/office/drawing/2014/main" id="{8F555E23-244D-4F92-1480-2F132CF7898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916991" y="1377479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9" name="Line 87">
            <a:extLst>
              <a:ext uri="{FF2B5EF4-FFF2-40B4-BE49-F238E27FC236}">
                <a16:creationId xmlns:a16="http://schemas.microsoft.com/office/drawing/2014/main" id="{69F65D38-285E-FDDC-1E2D-4CE90412F6E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967961" y="1480111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0" name="Text Box 88">
            <a:extLst>
              <a:ext uri="{FF2B5EF4-FFF2-40B4-BE49-F238E27FC236}">
                <a16:creationId xmlns:a16="http://schemas.microsoft.com/office/drawing/2014/main" id="{376194B8-DB7B-1454-E524-510776E05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126" y="1191839"/>
            <a:ext cx="5581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2’b00</a:t>
            </a:r>
          </a:p>
        </p:txBody>
      </p:sp>
      <p:sp>
        <p:nvSpPr>
          <p:cNvPr id="31" name="Text Box 89">
            <a:extLst>
              <a:ext uri="{FF2B5EF4-FFF2-40B4-BE49-F238E27FC236}">
                <a16:creationId xmlns:a16="http://schemas.microsoft.com/office/drawing/2014/main" id="{6C92A052-CFDE-CC0B-404D-8B8144174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126" y="1418701"/>
            <a:ext cx="5581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2’b01</a:t>
            </a:r>
          </a:p>
        </p:txBody>
      </p:sp>
      <p:sp>
        <p:nvSpPr>
          <p:cNvPr id="32" name="Text Box 90">
            <a:extLst>
              <a:ext uri="{FF2B5EF4-FFF2-40B4-BE49-F238E27FC236}">
                <a16:creationId xmlns:a16="http://schemas.microsoft.com/office/drawing/2014/main" id="{C8247FB3-B7C8-9A64-74DA-22D5FE94A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349" y="1672988"/>
            <a:ext cx="5581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2’b10</a:t>
            </a:r>
          </a:p>
        </p:txBody>
      </p:sp>
      <p:sp>
        <p:nvSpPr>
          <p:cNvPr id="33" name="Text Box 91">
            <a:extLst>
              <a:ext uri="{FF2B5EF4-FFF2-40B4-BE49-F238E27FC236}">
                <a16:creationId xmlns:a16="http://schemas.microsoft.com/office/drawing/2014/main" id="{BDD4F81A-9E1F-642E-6482-28630C96B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401" y="1945320"/>
            <a:ext cx="5467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2’b11</a:t>
            </a:r>
          </a:p>
        </p:txBody>
      </p:sp>
      <p:sp>
        <p:nvSpPr>
          <p:cNvPr id="34" name="Text Box 92">
            <a:extLst>
              <a:ext uri="{FF2B5EF4-FFF2-40B4-BE49-F238E27FC236}">
                <a16:creationId xmlns:a16="http://schemas.microsoft.com/office/drawing/2014/main" id="{E8BA9AA1-D398-8A44-6951-BB44CF000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4830" y="1191838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a</a:t>
            </a:r>
          </a:p>
        </p:txBody>
      </p:sp>
      <p:sp>
        <p:nvSpPr>
          <p:cNvPr id="35" name="Text Box 93">
            <a:extLst>
              <a:ext uri="{FF2B5EF4-FFF2-40B4-BE49-F238E27FC236}">
                <a16:creationId xmlns:a16="http://schemas.microsoft.com/office/drawing/2014/main" id="{31A36999-05DC-12B0-89CB-7E12FA8B7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8076" y="1400483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b</a:t>
            </a:r>
          </a:p>
        </p:txBody>
      </p:sp>
      <p:sp>
        <p:nvSpPr>
          <p:cNvPr id="36" name="Text Box 94">
            <a:extLst>
              <a:ext uri="{FF2B5EF4-FFF2-40B4-BE49-F238E27FC236}">
                <a16:creationId xmlns:a16="http://schemas.microsoft.com/office/drawing/2014/main" id="{7CDC6BED-0509-64D7-22DD-D95154A1D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092" y="1660293"/>
            <a:ext cx="2616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c</a:t>
            </a:r>
          </a:p>
        </p:txBody>
      </p:sp>
      <p:sp>
        <p:nvSpPr>
          <p:cNvPr id="37" name="Text Box 95">
            <a:extLst>
              <a:ext uri="{FF2B5EF4-FFF2-40B4-BE49-F238E27FC236}">
                <a16:creationId xmlns:a16="http://schemas.microsoft.com/office/drawing/2014/main" id="{84AB5928-92C5-1AED-0142-FD6E077AD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8076" y="1929445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d</a:t>
            </a:r>
          </a:p>
        </p:txBody>
      </p:sp>
      <p:sp>
        <p:nvSpPr>
          <p:cNvPr id="38" name="Text Box 96">
            <a:extLst>
              <a:ext uri="{FF2B5EF4-FFF2-40B4-BE49-F238E27FC236}">
                <a16:creationId xmlns:a16="http://schemas.microsoft.com/office/drawing/2014/main" id="{A97E13C2-EACD-972B-9844-503E429A2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783" y="1383293"/>
            <a:ext cx="3978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out</a:t>
            </a:r>
          </a:p>
        </p:txBody>
      </p:sp>
    </p:spTree>
    <p:extLst>
      <p:ext uri="{BB962C8B-B14F-4D97-AF65-F5344CB8AC3E}">
        <p14:creationId xmlns:p14="http://schemas.microsoft.com/office/powerpoint/2010/main" val="1665152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52E88-0D06-8D54-1D0E-DAE7B0A5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802CE003-93E1-E4F6-2992-BD53573BC8F5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3900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Registers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Google Shape;280;p19">
            <a:extLst>
              <a:ext uri="{FF2B5EF4-FFF2-40B4-BE49-F238E27FC236}">
                <a16:creationId xmlns:a16="http://schemas.microsoft.com/office/drawing/2014/main" id="{CEDDCD18-47FE-70CD-64E1-33631FA0583D}"/>
              </a:ext>
            </a:extLst>
          </p:cNvPr>
          <p:cNvSpPr/>
          <p:nvPr/>
        </p:nvSpPr>
        <p:spPr>
          <a:xfrm>
            <a:off x="3687329" y="1214010"/>
            <a:ext cx="1189037" cy="503237"/>
          </a:xfrm>
          <a:prstGeom prst="cloudCallout">
            <a:avLst>
              <a:gd name="adj1" fmla="val 7387"/>
              <a:gd name="adj2" fmla="val 15093"/>
            </a:avLst>
          </a:prstGeom>
          <a:solidFill>
            <a:srgbClr val="00B0F0"/>
          </a:solidFill>
          <a:ln w="25400" cap="flat" cmpd="sng">
            <a:solidFill>
              <a:srgbClr val="6E969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 rtl="1"/>
            <a:endParaRPr sz="14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82;p19">
            <a:extLst>
              <a:ext uri="{FF2B5EF4-FFF2-40B4-BE49-F238E27FC236}">
                <a16:creationId xmlns:a16="http://schemas.microsoft.com/office/drawing/2014/main" id="{EF687B2B-D688-5E0D-1052-F4BE4AC481CF}"/>
              </a:ext>
            </a:extLst>
          </p:cNvPr>
          <p:cNvSpPr txBox="1"/>
          <p:nvPr/>
        </p:nvSpPr>
        <p:spPr>
          <a:xfrm>
            <a:off x="2933597" y="1336247"/>
            <a:ext cx="538795" cy="720147"/>
          </a:xfrm>
          <a:prstGeom prst="rect">
            <a:avLst/>
          </a:prstGeom>
          <a:solidFill>
            <a:srgbClr val="00B0F0"/>
          </a:solidFill>
          <a:ln w="25400" cap="flat" cmpd="sng">
            <a:solidFill>
              <a:srgbClr val="6E969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85;p19">
            <a:extLst>
              <a:ext uri="{FF2B5EF4-FFF2-40B4-BE49-F238E27FC236}">
                <a16:creationId xmlns:a16="http://schemas.microsoft.com/office/drawing/2014/main" id="{C4F824FE-5700-6B25-606A-D39B3FAD2A4B}"/>
              </a:ext>
            </a:extLst>
          </p:cNvPr>
          <p:cNvSpPr/>
          <p:nvPr/>
        </p:nvSpPr>
        <p:spPr>
          <a:xfrm>
            <a:off x="3148639" y="2056394"/>
            <a:ext cx="54355" cy="72015"/>
          </a:xfrm>
          <a:prstGeom prst="ellipse">
            <a:avLst/>
          </a:prstGeom>
          <a:solidFill>
            <a:srgbClr val="00B0F0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86;p19">
            <a:extLst>
              <a:ext uri="{FF2B5EF4-FFF2-40B4-BE49-F238E27FC236}">
                <a16:creationId xmlns:a16="http://schemas.microsoft.com/office/drawing/2014/main" id="{29FB2795-19D7-7F4B-FDD4-440B88D20687}"/>
              </a:ext>
            </a:extLst>
          </p:cNvPr>
          <p:cNvSpPr txBox="1"/>
          <p:nvPr/>
        </p:nvSpPr>
        <p:spPr>
          <a:xfrm>
            <a:off x="2929120" y="1341764"/>
            <a:ext cx="294914" cy="2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dirty="0"/>
          </a:p>
        </p:txBody>
      </p:sp>
      <p:sp>
        <p:nvSpPr>
          <p:cNvPr id="12" name="Google Shape;287;p19">
            <a:extLst>
              <a:ext uri="{FF2B5EF4-FFF2-40B4-BE49-F238E27FC236}">
                <a16:creationId xmlns:a16="http://schemas.microsoft.com/office/drawing/2014/main" id="{A3C92360-AB35-7E19-5E69-B3C519EF6524}"/>
              </a:ext>
            </a:extLst>
          </p:cNvPr>
          <p:cNvSpPr txBox="1"/>
          <p:nvPr/>
        </p:nvSpPr>
        <p:spPr>
          <a:xfrm>
            <a:off x="3187090" y="1336247"/>
            <a:ext cx="304520" cy="2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dirty="0"/>
          </a:p>
        </p:txBody>
      </p:sp>
      <p:cxnSp>
        <p:nvCxnSpPr>
          <p:cNvPr id="13" name="Google Shape;288;p19">
            <a:extLst>
              <a:ext uri="{FF2B5EF4-FFF2-40B4-BE49-F238E27FC236}">
                <a16:creationId xmlns:a16="http://schemas.microsoft.com/office/drawing/2014/main" id="{B0A9E08D-6304-5E33-0A7E-C2C38C2C4677}"/>
              </a:ext>
            </a:extLst>
          </p:cNvPr>
          <p:cNvCxnSpPr/>
          <p:nvPr/>
        </p:nvCxnSpPr>
        <p:spPr>
          <a:xfrm rot="10800000">
            <a:off x="2717366" y="1480275"/>
            <a:ext cx="215042" cy="0"/>
          </a:xfrm>
          <a:prstGeom prst="straightConnector1">
            <a:avLst/>
          </a:prstGeom>
          <a:solidFill>
            <a:srgbClr val="00B0F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" name="Google Shape;289;p19">
            <a:extLst>
              <a:ext uri="{FF2B5EF4-FFF2-40B4-BE49-F238E27FC236}">
                <a16:creationId xmlns:a16="http://schemas.microsoft.com/office/drawing/2014/main" id="{44E2DD57-D626-4E88-6586-BDF84D0EC325}"/>
              </a:ext>
            </a:extLst>
          </p:cNvPr>
          <p:cNvCxnSpPr/>
          <p:nvPr/>
        </p:nvCxnSpPr>
        <p:spPr>
          <a:xfrm rot="10800000">
            <a:off x="3477049" y="1480275"/>
            <a:ext cx="215042" cy="0"/>
          </a:xfrm>
          <a:prstGeom prst="straightConnector1">
            <a:avLst/>
          </a:prstGeom>
          <a:solidFill>
            <a:srgbClr val="00B0F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6" name="Google Shape;291;p19">
            <a:extLst>
              <a:ext uri="{FF2B5EF4-FFF2-40B4-BE49-F238E27FC236}">
                <a16:creationId xmlns:a16="http://schemas.microsoft.com/office/drawing/2014/main" id="{23617CAB-5174-FD1B-109C-C13D16514861}"/>
              </a:ext>
            </a:extLst>
          </p:cNvPr>
          <p:cNvSpPr txBox="1"/>
          <p:nvPr/>
        </p:nvSpPr>
        <p:spPr>
          <a:xfrm>
            <a:off x="5094537" y="1328310"/>
            <a:ext cx="539672" cy="720147"/>
          </a:xfrm>
          <a:prstGeom prst="rect">
            <a:avLst/>
          </a:prstGeom>
          <a:solidFill>
            <a:srgbClr val="00B0F0"/>
          </a:solidFill>
          <a:ln w="25400" cap="flat" cmpd="sng">
            <a:solidFill>
              <a:srgbClr val="6E969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294;p19">
            <a:extLst>
              <a:ext uri="{FF2B5EF4-FFF2-40B4-BE49-F238E27FC236}">
                <a16:creationId xmlns:a16="http://schemas.microsoft.com/office/drawing/2014/main" id="{CE1F6F4E-2BF0-AF22-D14E-EF40185164E7}"/>
              </a:ext>
            </a:extLst>
          </p:cNvPr>
          <p:cNvSpPr/>
          <p:nvPr/>
        </p:nvSpPr>
        <p:spPr>
          <a:xfrm>
            <a:off x="5309930" y="2048457"/>
            <a:ext cx="54443" cy="72015"/>
          </a:xfrm>
          <a:prstGeom prst="ellipse">
            <a:avLst/>
          </a:prstGeom>
          <a:solidFill>
            <a:srgbClr val="00B0F0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95;p19">
            <a:extLst>
              <a:ext uri="{FF2B5EF4-FFF2-40B4-BE49-F238E27FC236}">
                <a16:creationId xmlns:a16="http://schemas.microsoft.com/office/drawing/2014/main" id="{242A8529-E8E0-52C2-8120-291D78DC0430}"/>
              </a:ext>
            </a:extLst>
          </p:cNvPr>
          <p:cNvSpPr txBox="1"/>
          <p:nvPr/>
        </p:nvSpPr>
        <p:spPr>
          <a:xfrm>
            <a:off x="5080756" y="1333827"/>
            <a:ext cx="295394" cy="2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dirty="0"/>
          </a:p>
        </p:txBody>
      </p:sp>
      <p:sp>
        <p:nvSpPr>
          <p:cNvPr id="22" name="Google Shape;296;p19">
            <a:extLst>
              <a:ext uri="{FF2B5EF4-FFF2-40B4-BE49-F238E27FC236}">
                <a16:creationId xmlns:a16="http://schemas.microsoft.com/office/drawing/2014/main" id="{C5E32486-C0D1-E4BB-9F70-D825EEC3B3C3}"/>
              </a:ext>
            </a:extLst>
          </p:cNvPr>
          <p:cNvSpPr txBox="1"/>
          <p:nvPr/>
        </p:nvSpPr>
        <p:spPr>
          <a:xfrm>
            <a:off x="5348442" y="1328310"/>
            <a:ext cx="305016" cy="2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dirty="0"/>
          </a:p>
        </p:txBody>
      </p:sp>
      <p:cxnSp>
        <p:nvCxnSpPr>
          <p:cNvPr id="23" name="Google Shape;297;p19">
            <a:extLst>
              <a:ext uri="{FF2B5EF4-FFF2-40B4-BE49-F238E27FC236}">
                <a16:creationId xmlns:a16="http://schemas.microsoft.com/office/drawing/2014/main" id="{15B50B6F-9406-4ECE-5488-088FF5C90F3C}"/>
              </a:ext>
            </a:extLst>
          </p:cNvPr>
          <p:cNvCxnSpPr/>
          <p:nvPr/>
        </p:nvCxnSpPr>
        <p:spPr>
          <a:xfrm rot="10800000">
            <a:off x="4877954" y="1472338"/>
            <a:ext cx="215393" cy="0"/>
          </a:xfrm>
          <a:prstGeom prst="straightConnector1">
            <a:avLst/>
          </a:prstGeom>
          <a:solidFill>
            <a:srgbClr val="00B0F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" name="Google Shape;298;p19">
            <a:extLst>
              <a:ext uri="{FF2B5EF4-FFF2-40B4-BE49-F238E27FC236}">
                <a16:creationId xmlns:a16="http://schemas.microsoft.com/office/drawing/2014/main" id="{B8158196-3AB1-0B30-B0C1-D487C31CBCD0}"/>
              </a:ext>
            </a:extLst>
          </p:cNvPr>
          <p:cNvCxnSpPr/>
          <p:nvPr/>
        </p:nvCxnSpPr>
        <p:spPr>
          <a:xfrm rot="10800000">
            <a:off x="5638873" y="1472338"/>
            <a:ext cx="215393" cy="0"/>
          </a:xfrm>
          <a:prstGeom prst="straightConnector1">
            <a:avLst/>
          </a:prstGeom>
          <a:solidFill>
            <a:srgbClr val="00B0F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" name="Google Shape;299;p19">
            <a:extLst>
              <a:ext uri="{FF2B5EF4-FFF2-40B4-BE49-F238E27FC236}">
                <a16:creationId xmlns:a16="http://schemas.microsoft.com/office/drawing/2014/main" id="{34A513B9-83CF-8AED-3604-DF7076D35A1E}"/>
              </a:ext>
            </a:extLst>
          </p:cNvPr>
          <p:cNvCxnSpPr/>
          <p:nvPr/>
        </p:nvCxnSpPr>
        <p:spPr>
          <a:xfrm rot="10800000">
            <a:off x="2139516" y="2509410"/>
            <a:ext cx="3200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6" name="Google Shape;300;p19">
            <a:extLst>
              <a:ext uri="{FF2B5EF4-FFF2-40B4-BE49-F238E27FC236}">
                <a16:creationId xmlns:a16="http://schemas.microsoft.com/office/drawing/2014/main" id="{2746AB9A-FB5F-40DE-26A8-B1FD55BB126B}"/>
              </a:ext>
            </a:extLst>
          </p:cNvPr>
          <p:cNvSpPr txBox="1"/>
          <p:nvPr/>
        </p:nvSpPr>
        <p:spPr>
          <a:xfrm>
            <a:off x="2334779" y="1326722"/>
            <a:ext cx="3238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dirty="0"/>
          </a:p>
        </p:txBody>
      </p:sp>
      <p:sp>
        <p:nvSpPr>
          <p:cNvPr id="27" name="Google Shape;301;p19">
            <a:extLst>
              <a:ext uri="{FF2B5EF4-FFF2-40B4-BE49-F238E27FC236}">
                <a16:creationId xmlns:a16="http://schemas.microsoft.com/office/drawing/2014/main" id="{E0B09628-65FB-0837-363A-361C60E7A97C}"/>
              </a:ext>
            </a:extLst>
          </p:cNvPr>
          <p:cNvSpPr txBox="1"/>
          <p:nvPr/>
        </p:nvSpPr>
        <p:spPr>
          <a:xfrm>
            <a:off x="5771716" y="1326722"/>
            <a:ext cx="433387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endParaRPr/>
          </a:p>
        </p:txBody>
      </p:sp>
      <p:sp>
        <p:nvSpPr>
          <p:cNvPr id="28" name="Google Shape;302;p19">
            <a:extLst>
              <a:ext uri="{FF2B5EF4-FFF2-40B4-BE49-F238E27FC236}">
                <a16:creationId xmlns:a16="http://schemas.microsoft.com/office/drawing/2014/main" id="{94C8A697-49A3-D55E-C895-E9439F0658DB}"/>
              </a:ext>
            </a:extLst>
          </p:cNvPr>
          <p:cNvSpPr txBox="1"/>
          <p:nvPr/>
        </p:nvSpPr>
        <p:spPr>
          <a:xfrm>
            <a:off x="1634691" y="1985535"/>
            <a:ext cx="404812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clk</a:t>
            </a:r>
            <a:endParaRPr/>
          </a:p>
        </p:txBody>
      </p:sp>
      <p:sp>
        <p:nvSpPr>
          <p:cNvPr id="29" name="Google Shape;303;p19">
            <a:extLst>
              <a:ext uri="{FF2B5EF4-FFF2-40B4-BE49-F238E27FC236}">
                <a16:creationId xmlns:a16="http://schemas.microsoft.com/office/drawing/2014/main" id="{85AB4360-C20B-C793-AFBA-82649CB573B0}"/>
              </a:ext>
            </a:extLst>
          </p:cNvPr>
          <p:cNvSpPr txBox="1"/>
          <p:nvPr/>
        </p:nvSpPr>
        <p:spPr>
          <a:xfrm>
            <a:off x="3419041" y="1214010"/>
            <a:ext cx="3048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dirty="0"/>
          </a:p>
        </p:txBody>
      </p:sp>
      <p:sp>
        <p:nvSpPr>
          <p:cNvPr id="30" name="Google Shape;304;p19">
            <a:extLst>
              <a:ext uri="{FF2B5EF4-FFF2-40B4-BE49-F238E27FC236}">
                <a16:creationId xmlns:a16="http://schemas.microsoft.com/office/drawing/2014/main" id="{8A62A6C8-B2A4-80E8-DCA5-18E2CF7A0F3E}"/>
              </a:ext>
            </a:extLst>
          </p:cNvPr>
          <p:cNvSpPr txBox="1"/>
          <p:nvPr/>
        </p:nvSpPr>
        <p:spPr>
          <a:xfrm>
            <a:off x="4833504" y="1214010"/>
            <a:ext cx="3048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cxnSp>
        <p:nvCxnSpPr>
          <p:cNvPr id="31" name="Google Shape;305;p19">
            <a:extLst>
              <a:ext uri="{FF2B5EF4-FFF2-40B4-BE49-F238E27FC236}">
                <a16:creationId xmlns:a16="http://schemas.microsoft.com/office/drawing/2014/main" id="{9588839E-31F5-A8D1-DF58-3B1F01FB0FEB}"/>
              </a:ext>
            </a:extLst>
          </p:cNvPr>
          <p:cNvCxnSpPr/>
          <p:nvPr/>
        </p:nvCxnSpPr>
        <p:spPr>
          <a:xfrm rot="10800000">
            <a:off x="1785504" y="2222072"/>
            <a:ext cx="3048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" name="Google Shape;306;p19">
            <a:extLst>
              <a:ext uri="{FF2B5EF4-FFF2-40B4-BE49-F238E27FC236}">
                <a16:creationId xmlns:a16="http://schemas.microsoft.com/office/drawing/2014/main" id="{8AA87778-CEF3-B5A7-3ED8-C0C71455662B}"/>
              </a:ext>
            </a:extLst>
          </p:cNvPr>
          <p:cNvCxnSpPr/>
          <p:nvPr/>
        </p:nvCxnSpPr>
        <p:spPr>
          <a:xfrm rot="10800000" flipH="1">
            <a:off x="2410979" y="1929872"/>
            <a:ext cx="522300" cy="292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3" name="Google Shape;307;p19">
            <a:extLst>
              <a:ext uri="{FF2B5EF4-FFF2-40B4-BE49-F238E27FC236}">
                <a16:creationId xmlns:a16="http://schemas.microsoft.com/office/drawing/2014/main" id="{6B244DDC-F0B6-749F-DA20-C78771D18026}"/>
              </a:ext>
            </a:extLst>
          </p:cNvPr>
          <p:cNvCxnSpPr/>
          <p:nvPr/>
        </p:nvCxnSpPr>
        <p:spPr>
          <a:xfrm rot="10800000" flipH="1">
            <a:off x="4573154" y="1929872"/>
            <a:ext cx="522300" cy="292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4" name="Google Shape;308;p19">
            <a:extLst>
              <a:ext uri="{FF2B5EF4-FFF2-40B4-BE49-F238E27FC236}">
                <a16:creationId xmlns:a16="http://schemas.microsoft.com/office/drawing/2014/main" id="{8D1ED5DE-185E-3D93-9CCA-695B8F6B84F7}"/>
              </a:ext>
            </a:extLst>
          </p:cNvPr>
          <p:cNvCxnSpPr/>
          <p:nvPr/>
        </p:nvCxnSpPr>
        <p:spPr>
          <a:xfrm>
            <a:off x="3176154" y="2128410"/>
            <a:ext cx="0" cy="381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5" name="Google Shape;309;p19">
            <a:extLst>
              <a:ext uri="{FF2B5EF4-FFF2-40B4-BE49-F238E27FC236}">
                <a16:creationId xmlns:a16="http://schemas.microsoft.com/office/drawing/2014/main" id="{88C874EF-9534-6E1D-3560-E185C087BF94}"/>
              </a:ext>
            </a:extLst>
          </p:cNvPr>
          <p:cNvCxnSpPr/>
          <p:nvPr/>
        </p:nvCxnSpPr>
        <p:spPr>
          <a:xfrm>
            <a:off x="5338329" y="2128410"/>
            <a:ext cx="0" cy="381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6" name="Google Shape;310;p19">
            <a:extLst>
              <a:ext uri="{FF2B5EF4-FFF2-40B4-BE49-F238E27FC236}">
                <a16:creationId xmlns:a16="http://schemas.microsoft.com/office/drawing/2014/main" id="{1F63E760-1E25-F275-3777-E36AEC46BB98}"/>
              </a:ext>
            </a:extLst>
          </p:cNvPr>
          <p:cNvSpPr txBox="1"/>
          <p:nvPr/>
        </p:nvSpPr>
        <p:spPr>
          <a:xfrm>
            <a:off x="1955366" y="2222072"/>
            <a:ext cx="581025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reset</a:t>
            </a:r>
            <a:endParaRPr/>
          </a:p>
        </p:txBody>
      </p:sp>
      <p:grpSp>
        <p:nvGrpSpPr>
          <p:cNvPr id="18" name="קבוצה 17">
            <a:extLst>
              <a:ext uri="{FF2B5EF4-FFF2-40B4-BE49-F238E27FC236}">
                <a16:creationId xmlns:a16="http://schemas.microsoft.com/office/drawing/2014/main" id="{A7031DC7-D7E7-B381-5510-0CE6C1E82342}"/>
              </a:ext>
            </a:extLst>
          </p:cNvPr>
          <p:cNvGrpSpPr/>
          <p:nvPr/>
        </p:nvGrpSpPr>
        <p:grpSpPr>
          <a:xfrm>
            <a:off x="2122238" y="3076610"/>
            <a:ext cx="2783307" cy="225021"/>
            <a:chOff x="4041547" y="3897560"/>
            <a:chExt cx="2783307" cy="225021"/>
          </a:xfrm>
        </p:grpSpPr>
        <p:sp>
          <p:nvSpPr>
            <p:cNvPr id="38" name="Line 53">
              <a:extLst>
                <a:ext uri="{FF2B5EF4-FFF2-40B4-BE49-F238E27FC236}">
                  <a16:creationId xmlns:a16="http://schemas.microsoft.com/office/drawing/2014/main" id="{E3881002-EDE3-2A5A-19F7-6A87BD336D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74936" y="4113460"/>
              <a:ext cx="2153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9" name="Line 54">
              <a:extLst>
                <a:ext uri="{FF2B5EF4-FFF2-40B4-BE49-F238E27FC236}">
                  <a16:creationId xmlns:a16="http://schemas.microsoft.com/office/drawing/2014/main" id="{95F61519-9AF6-4E25-4688-797F0274B7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367581" y="4006106"/>
              <a:ext cx="215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0" name="Line 55">
              <a:extLst>
                <a:ext uri="{FF2B5EF4-FFF2-40B4-BE49-F238E27FC236}">
                  <a16:creationId xmlns:a16="http://schemas.microsoft.com/office/drawing/2014/main" id="{BF1E6FC7-69ED-AC45-DB1A-88E8A01E11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58441" y="3897560"/>
              <a:ext cx="2153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1" name="Line 56">
              <a:extLst>
                <a:ext uri="{FF2B5EF4-FFF2-40B4-BE49-F238E27FC236}">
                  <a16:creationId xmlns:a16="http://schemas.microsoft.com/office/drawing/2014/main" id="{7109928F-1814-69B0-1683-90B77BC8D48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151086" y="4006106"/>
              <a:ext cx="215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grpSp>
          <p:nvGrpSpPr>
            <p:cNvPr id="42" name="Group 57">
              <a:extLst>
                <a:ext uri="{FF2B5EF4-FFF2-40B4-BE49-F238E27FC236}">
                  <a16:creationId xmlns:a16="http://schemas.microsoft.com/office/drawing/2014/main" id="{A906B6EA-1B59-E045-7832-6F34270753F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90241" y="3897560"/>
              <a:ext cx="431800" cy="215900"/>
              <a:chOff x="2109" y="3294"/>
              <a:chExt cx="363" cy="181"/>
            </a:xfrm>
          </p:grpSpPr>
          <p:sp>
            <p:nvSpPr>
              <p:cNvPr id="43" name="Line 58">
                <a:extLst>
                  <a:ext uri="{FF2B5EF4-FFF2-40B4-BE49-F238E27FC236}">
                    <a16:creationId xmlns:a16="http://schemas.microsoft.com/office/drawing/2014/main" id="{FBB676C8-6366-8AC0-245D-F1FE43535A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347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44" name="Line 59">
                <a:extLst>
                  <a:ext uri="{FF2B5EF4-FFF2-40B4-BE49-F238E27FC236}">
                    <a16:creationId xmlns:a16="http://schemas.microsoft.com/office/drawing/2014/main" id="{60C1250F-B769-7FD6-F9CD-2662A8956A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199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45" name="Line 60">
                <a:extLst>
                  <a:ext uri="{FF2B5EF4-FFF2-40B4-BE49-F238E27FC236}">
                    <a16:creationId xmlns:a16="http://schemas.microsoft.com/office/drawing/2014/main" id="{0CFEF4C4-E5DA-778F-BCF4-E8A493D58C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1" y="3294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46" name="Line 61">
                <a:extLst>
                  <a:ext uri="{FF2B5EF4-FFF2-40B4-BE49-F238E27FC236}">
                    <a16:creationId xmlns:a16="http://schemas.microsoft.com/office/drawing/2014/main" id="{8604378D-A479-0070-8769-6695CA379F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381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  <p:grpSp>
          <p:nvGrpSpPr>
            <p:cNvPr id="66" name="Group 57">
              <a:extLst>
                <a:ext uri="{FF2B5EF4-FFF2-40B4-BE49-F238E27FC236}">
                  <a16:creationId xmlns:a16="http://schemas.microsoft.com/office/drawing/2014/main" id="{021D3EB6-205F-C5A3-7D34-353ACF14293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120255" y="3902543"/>
              <a:ext cx="431800" cy="215900"/>
              <a:chOff x="2109" y="3294"/>
              <a:chExt cx="363" cy="181"/>
            </a:xfrm>
          </p:grpSpPr>
          <p:sp>
            <p:nvSpPr>
              <p:cNvPr id="67" name="Line 58">
                <a:extLst>
                  <a:ext uri="{FF2B5EF4-FFF2-40B4-BE49-F238E27FC236}">
                    <a16:creationId xmlns:a16="http://schemas.microsoft.com/office/drawing/2014/main" id="{FFE14FDD-9083-C431-FE18-54B49AE88C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347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68" name="Line 59">
                <a:extLst>
                  <a:ext uri="{FF2B5EF4-FFF2-40B4-BE49-F238E27FC236}">
                    <a16:creationId xmlns:a16="http://schemas.microsoft.com/office/drawing/2014/main" id="{9537B5D4-EB6B-994E-E304-F145062630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199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69" name="Line 60">
                <a:extLst>
                  <a:ext uri="{FF2B5EF4-FFF2-40B4-BE49-F238E27FC236}">
                    <a16:creationId xmlns:a16="http://schemas.microsoft.com/office/drawing/2014/main" id="{467B60C2-8ED3-C61A-7F4E-F1F46662E8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1" y="3294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70" name="Line 61">
                <a:extLst>
                  <a:ext uri="{FF2B5EF4-FFF2-40B4-BE49-F238E27FC236}">
                    <a16:creationId xmlns:a16="http://schemas.microsoft.com/office/drawing/2014/main" id="{9099AC13-5FC7-6F4F-97DB-4A75DA6205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381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  <p:grpSp>
          <p:nvGrpSpPr>
            <p:cNvPr id="71" name="Group 57">
              <a:extLst>
                <a:ext uri="{FF2B5EF4-FFF2-40B4-BE49-F238E27FC236}">
                  <a16:creationId xmlns:a16="http://schemas.microsoft.com/office/drawing/2014/main" id="{6231A8F5-3BB4-F27F-33D5-727F2E1EB2C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544029" y="3902753"/>
              <a:ext cx="431800" cy="215900"/>
              <a:chOff x="2109" y="3294"/>
              <a:chExt cx="363" cy="181"/>
            </a:xfrm>
          </p:grpSpPr>
          <p:sp>
            <p:nvSpPr>
              <p:cNvPr id="72" name="Line 58">
                <a:extLst>
                  <a:ext uri="{FF2B5EF4-FFF2-40B4-BE49-F238E27FC236}">
                    <a16:creationId xmlns:a16="http://schemas.microsoft.com/office/drawing/2014/main" id="{2FD9642F-87A2-E281-2CC7-88FD58A4B0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347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73" name="Line 59">
                <a:extLst>
                  <a:ext uri="{FF2B5EF4-FFF2-40B4-BE49-F238E27FC236}">
                    <a16:creationId xmlns:a16="http://schemas.microsoft.com/office/drawing/2014/main" id="{78EBA379-B4E0-E8D9-77D2-31E3836A0B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199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74" name="Line 60">
                <a:extLst>
                  <a:ext uri="{FF2B5EF4-FFF2-40B4-BE49-F238E27FC236}">
                    <a16:creationId xmlns:a16="http://schemas.microsoft.com/office/drawing/2014/main" id="{778A5C12-CF86-4F66-5FB1-919D2128BB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1" y="3294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78" name="Line 61">
                <a:extLst>
                  <a:ext uri="{FF2B5EF4-FFF2-40B4-BE49-F238E27FC236}">
                    <a16:creationId xmlns:a16="http://schemas.microsoft.com/office/drawing/2014/main" id="{AC26721D-1398-7C46-AD21-42AC35BE9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381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  <p:grpSp>
          <p:nvGrpSpPr>
            <p:cNvPr id="81" name="Group 57">
              <a:extLst>
                <a:ext uri="{FF2B5EF4-FFF2-40B4-BE49-F238E27FC236}">
                  <a16:creationId xmlns:a16="http://schemas.microsoft.com/office/drawing/2014/main" id="{A65F69BB-3489-9B78-7368-D5A02D83B96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64231" y="3906681"/>
              <a:ext cx="431800" cy="215900"/>
              <a:chOff x="2109" y="3294"/>
              <a:chExt cx="363" cy="181"/>
            </a:xfrm>
          </p:grpSpPr>
          <p:sp>
            <p:nvSpPr>
              <p:cNvPr id="82" name="Line 58">
                <a:extLst>
                  <a:ext uri="{FF2B5EF4-FFF2-40B4-BE49-F238E27FC236}">
                    <a16:creationId xmlns:a16="http://schemas.microsoft.com/office/drawing/2014/main" id="{89ED9432-4EBE-9C14-6988-B891AE8D97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347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83" name="Line 59">
                <a:extLst>
                  <a:ext uri="{FF2B5EF4-FFF2-40B4-BE49-F238E27FC236}">
                    <a16:creationId xmlns:a16="http://schemas.microsoft.com/office/drawing/2014/main" id="{56448170-7F71-5CEC-91A2-988E8FB476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199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84" name="Line 60">
                <a:extLst>
                  <a:ext uri="{FF2B5EF4-FFF2-40B4-BE49-F238E27FC236}">
                    <a16:creationId xmlns:a16="http://schemas.microsoft.com/office/drawing/2014/main" id="{034B93F0-F00A-DD6F-592D-A63FAC9FF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1" y="3294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86" name="Line 61">
                <a:extLst>
                  <a:ext uri="{FF2B5EF4-FFF2-40B4-BE49-F238E27FC236}">
                    <a16:creationId xmlns:a16="http://schemas.microsoft.com/office/drawing/2014/main" id="{9B82774F-F4C0-1666-2C00-ED6FBA7076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381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  <p:grpSp>
          <p:nvGrpSpPr>
            <p:cNvPr id="87" name="Group 57">
              <a:extLst>
                <a:ext uri="{FF2B5EF4-FFF2-40B4-BE49-F238E27FC236}">
                  <a16:creationId xmlns:a16="http://schemas.microsoft.com/office/drawing/2014/main" id="{43A8D5A4-3219-A2CF-0B73-13EAC34C38C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6393054" y="3906681"/>
              <a:ext cx="431800" cy="215900"/>
              <a:chOff x="2109" y="3294"/>
              <a:chExt cx="363" cy="181"/>
            </a:xfrm>
          </p:grpSpPr>
          <p:sp>
            <p:nvSpPr>
              <p:cNvPr id="88" name="Line 58">
                <a:extLst>
                  <a:ext uri="{FF2B5EF4-FFF2-40B4-BE49-F238E27FC236}">
                    <a16:creationId xmlns:a16="http://schemas.microsoft.com/office/drawing/2014/main" id="{827EE328-C1E3-C305-F718-C162C387E3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347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89" name="Line 59">
                <a:extLst>
                  <a:ext uri="{FF2B5EF4-FFF2-40B4-BE49-F238E27FC236}">
                    <a16:creationId xmlns:a16="http://schemas.microsoft.com/office/drawing/2014/main" id="{B7FAE414-74A6-5553-892C-75AF524647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199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90" name="Line 60">
                <a:extLst>
                  <a:ext uri="{FF2B5EF4-FFF2-40B4-BE49-F238E27FC236}">
                    <a16:creationId xmlns:a16="http://schemas.microsoft.com/office/drawing/2014/main" id="{0EDC9CE0-AA24-FECF-2A9D-CC7984E7D3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1" y="3294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91" name="Line 61">
                <a:extLst>
                  <a:ext uri="{FF2B5EF4-FFF2-40B4-BE49-F238E27FC236}">
                    <a16:creationId xmlns:a16="http://schemas.microsoft.com/office/drawing/2014/main" id="{A36A6AF1-8B5C-7995-8488-F0A8F3466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381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  <p:sp>
          <p:nvSpPr>
            <p:cNvPr id="92" name="Line 53">
              <a:extLst>
                <a:ext uri="{FF2B5EF4-FFF2-40B4-BE49-F238E27FC236}">
                  <a16:creationId xmlns:a16="http://schemas.microsoft.com/office/drawing/2014/main" id="{22CC7333-243B-C58C-843A-EE90B6B332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1547" y="4113460"/>
              <a:ext cx="2153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96" name="Line 62">
            <a:extLst>
              <a:ext uri="{FF2B5EF4-FFF2-40B4-BE49-F238E27FC236}">
                <a16:creationId xmlns:a16="http://schemas.microsoft.com/office/drawing/2014/main" id="{CE92F1C4-0FE3-EB01-ABCD-EA8F0FB3EBE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22236" y="3749290"/>
            <a:ext cx="647017" cy="85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98" name="Line 66">
            <a:extLst>
              <a:ext uri="{FF2B5EF4-FFF2-40B4-BE49-F238E27FC236}">
                <a16:creationId xmlns:a16="http://schemas.microsoft.com/office/drawing/2014/main" id="{48954D9C-F957-E657-9E76-3C692F8A9C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0169" y="3443698"/>
            <a:ext cx="2063411" cy="288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" name="Line 65">
            <a:extLst>
              <a:ext uri="{FF2B5EF4-FFF2-40B4-BE49-F238E27FC236}">
                <a16:creationId xmlns:a16="http://schemas.microsoft.com/office/drawing/2014/main" id="{7C272AC6-E3A9-1FC6-74EA-8A9AFA024C72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2652562" y="3561318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A51E1243-62B9-5DDF-7809-B24DE97E4A1A}"/>
              </a:ext>
            </a:extLst>
          </p:cNvPr>
          <p:cNvCxnSpPr>
            <a:cxnSpLocks/>
          </p:cNvCxnSpPr>
          <p:nvPr/>
        </p:nvCxnSpPr>
        <p:spPr>
          <a:xfrm flipV="1">
            <a:off x="4903581" y="3053035"/>
            <a:ext cx="0" cy="205580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B009EB27-3CB1-48E8-208B-C51EA92E4144}"/>
              </a:ext>
            </a:extLst>
          </p:cNvPr>
          <p:cNvCxnSpPr>
            <a:cxnSpLocks/>
          </p:cNvCxnSpPr>
          <p:nvPr/>
        </p:nvCxnSpPr>
        <p:spPr>
          <a:xfrm flipV="1">
            <a:off x="2334779" y="3076610"/>
            <a:ext cx="0" cy="205580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מחבר ישר 36">
            <a:extLst>
              <a:ext uri="{FF2B5EF4-FFF2-40B4-BE49-F238E27FC236}">
                <a16:creationId xmlns:a16="http://schemas.microsoft.com/office/drawing/2014/main" id="{BC1C0BF3-4345-05FA-2999-90FDDA4DBCFB}"/>
              </a:ext>
            </a:extLst>
          </p:cNvPr>
          <p:cNvCxnSpPr>
            <a:cxnSpLocks/>
          </p:cNvCxnSpPr>
          <p:nvPr/>
        </p:nvCxnSpPr>
        <p:spPr>
          <a:xfrm flipV="1">
            <a:off x="2770932" y="3076610"/>
            <a:ext cx="0" cy="205580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מחבר ישר 47">
            <a:extLst>
              <a:ext uri="{FF2B5EF4-FFF2-40B4-BE49-F238E27FC236}">
                <a16:creationId xmlns:a16="http://schemas.microsoft.com/office/drawing/2014/main" id="{14F53F55-9660-A485-9742-33A2F44A5C76}"/>
              </a:ext>
            </a:extLst>
          </p:cNvPr>
          <p:cNvCxnSpPr>
            <a:cxnSpLocks/>
          </p:cNvCxnSpPr>
          <p:nvPr/>
        </p:nvCxnSpPr>
        <p:spPr>
          <a:xfrm flipV="1">
            <a:off x="3200967" y="3076610"/>
            <a:ext cx="0" cy="205580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מחבר ישר 48">
            <a:extLst>
              <a:ext uri="{FF2B5EF4-FFF2-40B4-BE49-F238E27FC236}">
                <a16:creationId xmlns:a16="http://schemas.microsoft.com/office/drawing/2014/main" id="{FDDDEBE7-E512-81C8-0BC9-A30FCAEF7156}"/>
              </a:ext>
            </a:extLst>
          </p:cNvPr>
          <p:cNvCxnSpPr>
            <a:cxnSpLocks/>
          </p:cNvCxnSpPr>
          <p:nvPr/>
        </p:nvCxnSpPr>
        <p:spPr>
          <a:xfrm flipV="1">
            <a:off x="3624720" y="3085731"/>
            <a:ext cx="0" cy="205580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מחבר ישר 49">
            <a:extLst>
              <a:ext uri="{FF2B5EF4-FFF2-40B4-BE49-F238E27FC236}">
                <a16:creationId xmlns:a16="http://schemas.microsoft.com/office/drawing/2014/main" id="{BDD81BD3-E328-537A-6E97-8E2118377759}"/>
              </a:ext>
            </a:extLst>
          </p:cNvPr>
          <p:cNvCxnSpPr>
            <a:cxnSpLocks/>
          </p:cNvCxnSpPr>
          <p:nvPr/>
        </p:nvCxnSpPr>
        <p:spPr>
          <a:xfrm flipV="1">
            <a:off x="4042231" y="3076610"/>
            <a:ext cx="0" cy="205580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מחבר ישר 50">
            <a:extLst>
              <a:ext uri="{FF2B5EF4-FFF2-40B4-BE49-F238E27FC236}">
                <a16:creationId xmlns:a16="http://schemas.microsoft.com/office/drawing/2014/main" id="{E5B7041A-FF4F-AE2D-874E-E7EB7B3E2728}"/>
              </a:ext>
            </a:extLst>
          </p:cNvPr>
          <p:cNvCxnSpPr>
            <a:cxnSpLocks/>
          </p:cNvCxnSpPr>
          <p:nvPr/>
        </p:nvCxnSpPr>
        <p:spPr>
          <a:xfrm flipV="1">
            <a:off x="4470305" y="3076610"/>
            <a:ext cx="0" cy="205580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Line 62">
            <a:extLst>
              <a:ext uri="{FF2B5EF4-FFF2-40B4-BE49-F238E27FC236}">
                <a16:creationId xmlns:a16="http://schemas.microsoft.com/office/drawing/2014/main" id="{53AF6D99-CD59-B952-233D-0262DA2ABE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21641" y="4131231"/>
            <a:ext cx="1236331" cy="265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3" name="Line 66">
            <a:extLst>
              <a:ext uri="{FF2B5EF4-FFF2-40B4-BE49-F238E27FC236}">
                <a16:creationId xmlns:a16="http://schemas.microsoft.com/office/drawing/2014/main" id="{AC19C171-EA44-9DA3-7133-37BD9EC935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88130" y="3829893"/>
            <a:ext cx="1615450" cy="44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4" name="Line 65">
            <a:extLst>
              <a:ext uri="{FF2B5EF4-FFF2-40B4-BE49-F238E27FC236}">
                <a16:creationId xmlns:a16="http://schemas.microsoft.com/office/drawing/2014/main" id="{4746DC16-94A8-8B5C-7D6E-E5B1C2837AD2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3100522" y="3944624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5" name="Line 62">
            <a:extLst>
              <a:ext uri="{FF2B5EF4-FFF2-40B4-BE49-F238E27FC236}">
                <a16:creationId xmlns:a16="http://schemas.microsoft.com/office/drawing/2014/main" id="{7E13E5C0-8141-8EF1-90BE-79AE1E23CA3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21642" y="4501208"/>
            <a:ext cx="1497350" cy="631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6" name="Line 66">
            <a:extLst>
              <a:ext uri="{FF2B5EF4-FFF2-40B4-BE49-F238E27FC236}">
                <a16:creationId xmlns:a16="http://schemas.microsoft.com/office/drawing/2014/main" id="{5723AB33-E06F-7BDE-B084-1CDB6198F48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89908" y="4203964"/>
            <a:ext cx="1213672" cy="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7" name="Line 65">
            <a:extLst>
              <a:ext uri="{FF2B5EF4-FFF2-40B4-BE49-F238E27FC236}">
                <a16:creationId xmlns:a16="http://schemas.microsoft.com/office/drawing/2014/main" id="{5C653A1A-725A-869D-1794-9A3AEC450809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3502300" y="4318695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8" name="תיבת טקסט 57">
            <a:extLst>
              <a:ext uri="{FF2B5EF4-FFF2-40B4-BE49-F238E27FC236}">
                <a16:creationId xmlns:a16="http://schemas.microsoft.com/office/drawing/2014/main" id="{F1DB9C38-934D-637D-D3BB-628441B320BD}"/>
              </a:ext>
            </a:extLst>
          </p:cNvPr>
          <p:cNvSpPr txBox="1"/>
          <p:nvPr/>
        </p:nvSpPr>
        <p:spPr>
          <a:xfrm>
            <a:off x="7846194" y="1748709"/>
            <a:ext cx="3745441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i="1" dirty="0" err="1"/>
              <a:t>Tco</a:t>
            </a:r>
            <a:r>
              <a:rPr lang="en-US" dirty="0"/>
              <a:t>​+</a:t>
            </a:r>
            <a:r>
              <a:rPr lang="en-US" i="1" dirty="0" err="1"/>
              <a:t>Tdata</a:t>
            </a:r>
            <a:r>
              <a:rPr lang="en-US" dirty="0"/>
              <a:t>​</a:t>
            </a:r>
            <a:r>
              <a:rPr lang="en-US" i="1" dirty="0"/>
              <a:t> </a:t>
            </a:r>
            <a:r>
              <a:rPr lang="en-US" dirty="0"/>
              <a:t>​</a:t>
            </a:r>
            <a:r>
              <a:rPr lang="he-IL" dirty="0"/>
              <a:t>≤</a:t>
            </a:r>
            <a:r>
              <a:rPr lang="en-US" i="1" dirty="0"/>
              <a:t> </a:t>
            </a:r>
            <a:r>
              <a:rPr lang="en-US" i="1" dirty="0" err="1"/>
              <a:t>Tclk</a:t>
            </a:r>
            <a:r>
              <a:rPr lang="en-US" i="1" dirty="0"/>
              <a:t> </a:t>
            </a:r>
            <a:r>
              <a:rPr lang="en-US" dirty="0"/>
              <a:t>-</a:t>
            </a:r>
            <a:r>
              <a:rPr lang="en-US" i="1" dirty="0" err="1"/>
              <a:t>Tsetup</a:t>
            </a:r>
            <a:r>
              <a:rPr lang="en-US" i="1" dirty="0"/>
              <a:t> </a:t>
            </a:r>
            <a:r>
              <a:rPr lang="en-US" dirty="0"/>
              <a:t>​​</a:t>
            </a:r>
            <a:br>
              <a:rPr lang="en-US" sz="1400" dirty="0"/>
            </a:br>
            <a:endParaRPr lang="he-IL" sz="1400" dirty="0"/>
          </a:p>
        </p:txBody>
      </p:sp>
      <p:sp>
        <p:nvSpPr>
          <p:cNvPr id="60" name="תיבת טקסט 59">
            <a:extLst>
              <a:ext uri="{FF2B5EF4-FFF2-40B4-BE49-F238E27FC236}">
                <a16:creationId xmlns:a16="http://schemas.microsoft.com/office/drawing/2014/main" id="{3B230166-6003-6F0D-5E3E-CA0171C30875}"/>
              </a:ext>
            </a:extLst>
          </p:cNvPr>
          <p:cNvSpPr txBox="1"/>
          <p:nvPr/>
        </p:nvSpPr>
        <p:spPr>
          <a:xfrm>
            <a:off x="2928297" y="1601142"/>
            <a:ext cx="397866" cy="24622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000" i="1" dirty="0" err="1"/>
              <a:t>Tco</a:t>
            </a:r>
            <a:endParaRPr lang="he-IL" sz="1000" dirty="0"/>
          </a:p>
        </p:txBody>
      </p:sp>
      <p:sp>
        <p:nvSpPr>
          <p:cNvPr id="61" name="קשת 60">
            <a:extLst>
              <a:ext uri="{FF2B5EF4-FFF2-40B4-BE49-F238E27FC236}">
                <a16:creationId xmlns:a16="http://schemas.microsoft.com/office/drawing/2014/main" id="{91FEC9A7-F3FA-F0FE-648A-4412182B3570}"/>
              </a:ext>
            </a:extLst>
          </p:cNvPr>
          <p:cNvSpPr/>
          <p:nvPr/>
        </p:nvSpPr>
        <p:spPr>
          <a:xfrm rot="10800000" flipV="1">
            <a:off x="2946185" y="1479469"/>
            <a:ext cx="1057075" cy="787246"/>
          </a:xfrm>
          <a:prstGeom prst="arc">
            <a:avLst>
              <a:gd name="adj1" fmla="val 16197934"/>
              <a:gd name="adj2" fmla="val 30237"/>
            </a:avLst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22DCC860-653A-5D94-1390-D8AC855B66D0}"/>
              </a:ext>
            </a:extLst>
          </p:cNvPr>
          <p:cNvSpPr txBox="1"/>
          <p:nvPr/>
        </p:nvSpPr>
        <p:spPr>
          <a:xfrm>
            <a:off x="3984446" y="1263570"/>
            <a:ext cx="510076" cy="24622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000" i="1" dirty="0" err="1"/>
              <a:t>Tdata</a:t>
            </a:r>
            <a:endParaRPr lang="he-IL" sz="1000" dirty="0"/>
          </a:p>
        </p:txBody>
      </p:sp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A639AE3F-D89F-107E-7CD9-FDBEAB6A8DAF}"/>
              </a:ext>
            </a:extLst>
          </p:cNvPr>
          <p:cNvCxnSpPr>
            <a:cxnSpLocks/>
          </p:cNvCxnSpPr>
          <p:nvPr/>
        </p:nvCxnSpPr>
        <p:spPr>
          <a:xfrm>
            <a:off x="3723841" y="1475645"/>
            <a:ext cx="1144236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300;p19">
            <a:extLst>
              <a:ext uri="{FF2B5EF4-FFF2-40B4-BE49-F238E27FC236}">
                <a16:creationId xmlns:a16="http://schemas.microsoft.com/office/drawing/2014/main" id="{7C34808E-3A85-6FE7-3109-9A546E1C1FF0}"/>
              </a:ext>
            </a:extLst>
          </p:cNvPr>
          <p:cNvSpPr txBox="1"/>
          <p:nvPr/>
        </p:nvSpPr>
        <p:spPr>
          <a:xfrm>
            <a:off x="1765053" y="3440458"/>
            <a:ext cx="3238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dirty="0"/>
          </a:p>
        </p:txBody>
      </p:sp>
      <p:sp>
        <p:nvSpPr>
          <p:cNvPr id="15" name="Google Shape;303;p19">
            <a:extLst>
              <a:ext uri="{FF2B5EF4-FFF2-40B4-BE49-F238E27FC236}">
                <a16:creationId xmlns:a16="http://schemas.microsoft.com/office/drawing/2014/main" id="{EFBE03F9-4B10-0D9A-9256-74852FB243B4}"/>
              </a:ext>
            </a:extLst>
          </p:cNvPr>
          <p:cNvSpPr txBox="1"/>
          <p:nvPr/>
        </p:nvSpPr>
        <p:spPr>
          <a:xfrm>
            <a:off x="1792556" y="3831118"/>
            <a:ext cx="3048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dirty="0"/>
          </a:p>
        </p:txBody>
      </p:sp>
      <p:sp>
        <p:nvSpPr>
          <p:cNvPr id="17" name="Google Shape;303;p19">
            <a:extLst>
              <a:ext uri="{FF2B5EF4-FFF2-40B4-BE49-F238E27FC236}">
                <a16:creationId xmlns:a16="http://schemas.microsoft.com/office/drawing/2014/main" id="{04F5F032-D171-CC10-2D15-C4D95B1DB8B7}"/>
              </a:ext>
            </a:extLst>
          </p:cNvPr>
          <p:cNvSpPr txBox="1"/>
          <p:nvPr/>
        </p:nvSpPr>
        <p:spPr>
          <a:xfrm>
            <a:off x="1808537" y="4203964"/>
            <a:ext cx="3048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B</a:t>
            </a:r>
            <a:endParaRPr dirty="0"/>
          </a:p>
        </p:txBody>
      </p:sp>
      <p:cxnSp>
        <p:nvCxnSpPr>
          <p:cNvPr id="59" name="מחבר ישר 58">
            <a:extLst>
              <a:ext uri="{FF2B5EF4-FFF2-40B4-BE49-F238E27FC236}">
                <a16:creationId xmlns:a16="http://schemas.microsoft.com/office/drawing/2014/main" id="{FAB3A55B-F204-07E7-DE82-0C2A3074AA5A}"/>
              </a:ext>
            </a:extLst>
          </p:cNvPr>
          <p:cNvCxnSpPr>
            <a:cxnSpLocks/>
          </p:cNvCxnSpPr>
          <p:nvPr/>
        </p:nvCxnSpPr>
        <p:spPr>
          <a:xfrm flipV="1">
            <a:off x="3941659" y="3090886"/>
            <a:ext cx="0" cy="2055808"/>
          </a:xfrm>
          <a:prstGeom prst="line">
            <a:avLst/>
          </a:prstGeom>
          <a:ln w="63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מחבר ישר 61">
            <a:extLst>
              <a:ext uri="{FF2B5EF4-FFF2-40B4-BE49-F238E27FC236}">
                <a16:creationId xmlns:a16="http://schemas.microsoft.com/office/drawing/2014/main" id="{DB70EF06-FBD3-DFC4-AD25-1BF4FC6DD022}"/>
              </a:ext>
            </a:extLst>
          </p:cNvPr>
          <p:cNvCxnSpPr>
            <a:cxnSpLocks/>
          </p:cNvCxnSpPr>
          <p:nvPr/>
        </p:nvCxnSpPr>
        <p:spPr>
          <a:xfrm flipV="1">
            <a:off x="3522551" y="3095649"/>
            <a:ext cx="0" cy="2055808"/>
          </a:xfrm>
          <a:prstGeom prst="line">
            <a:avLst/>
          </a:prstGeom>
          <a:ln w="63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מחבר ישר 62">
            <a:extLst>
              <a:ext uri="{FF2B5EF4-FFF2-40B4-BE49-F238E27FC236}">
                <a16:creationId xmlns:a16="http://schemas.microsoft.com/office/drawing/2014/main" id="{04CA88CC-5811-4193-DFB5-D1E2203A1AE3}"/>
              </a:ext>
            </a:extLst>
          </p:cNvPr>
          <p:cNvCxnSpPr>
            <a:cxnSpLocks/>
          </p:cNvCxnSpPr>
          <p:nvPr/>
        </p:nvCxnSpPr>
        <p:spPr>
          <a:xfrm flipV="1">
            <a:off x="3089152" y="3095641"/>
            <a:ext cx="0" cy="2055808"/>
          </a:xfrm>
          <a:prstGeom prst="line">
            <a:avLst/>
          </a:prstGeom>
          <a:ln w="63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Line 65">
            <a:extLst>
              <a:ext uri="{FF2B5EF4-FFF2-40B4-BE49-F238E27FC236}">
                <a16:creationId xmlns:a16="http://schemas.microsoft.com/office/drawing/2014/main" id="{4899946D-685F-4197-51A8-7110A9BF4164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3243686" y="3958484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8921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A84BA-1586-BB79-ABE2-2A0919673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38A70AB2-E0FF-F5F5-3A7C-D47C960C8538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3900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Shift Register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Google Shape;282;p19">
            <a:extLst>
              <a:ext uri="{FF2B5EF4-FFF2-40B4-BE49-F238E27FC236}">
                <a16:creationId xmlns:a16="http://schemas.microsoft.com/office/drawing/2014/main" id="{8891B69A-BC77-A777-A423-C37F1CA536EC}"/>
              </a:ext>
            </a:extLst>
          </p:cNvPr>
          <p:cNvSpPr txBox="1"/>
          <p:nvPr/>
        </p:nvSpPr>
        <p:spPr>
          <a:xfrm>
            <a:off x="4845525" y="1015956"/>
            <a:ext cx="538795" cy="720147"/>
          </a:xfrm>
          <a:prstGeom prst="rect">
            <a:avLst/>
          </a:prstGeom>
          <a:solidFill>
            <a:srgbClr val="00B0F0"/>
          </a:solidFill>
          <a:ln w="25400" cap="flat" cmpd="sng">
            <a:solidFill>
              <a:srgbClr val="6E969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85;p19">
            <a:extLst>
              <a:ext uri="{FF2B5EF4-FFF2-40B4-BE49-F238E27FC236}">
                <a16:creationId xmlns:a16="http://schemas.microsoft.com/office/drawing/2014/main" id="{76F18317-C211-9C80-62D6-9EC014FDBCFB}"/>
              </a:ext>
            </a:extLst>
          </p:cNvPr>
          <p:cNvSpPr/>
          <p:nvPr/>
        </p:nvSpPr>
        <p:spPr>
          <a:xfrm>
            <a:off x="5060567" y="1736103"/>
            <a:ext cx="54355" cy="72015"/>
          </a:xfrm>
          <a:prstGeom prst="ellipse">
            <a:avLst/>
          </a:prstGeom>
          <a:solidFill>
            <a:srgbClr val="00B0F0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86;p19">
            <a:extLst>
              <a:ext uri="{FF2B5EF4-FFF2-40B4-BE49-F238E27FC236}">
                <a16:creationId xmlns:a16="http://schemas.microsoft.com/office/drawing/2014/main" id="{7BF3B20C-BACF-BD13-6923-33D9D54FACA9}"/>
              </a:ext>
            </a:extLst>
          </p:cNvPr>
          <p:cNvSpPr txBox="1"/>
          <p:nvPr/>
        </p:nvSpPr>
        <p:spPr>
          <a:xfrm>
            <a:off x="4841048" y="1021473"/>
            <a:ext cx="294914" cy="2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dirty="0"/>
          </a:p>
        </p:txBody>
      </p:sp>
      <p:sp>
        <p:nvSpPr>
          <p:cNvPr id="12" name="Google Shape;287;p19">
            <a:extLst>
              <a:ext uri="{FF2B5EF4-FFF2-40B4-BE49-F238E27FC236}">
                <a16:creationId xmlns:a16="http://schemas.microsoft.com/office/drawing/2014/main" id="{A45D25F2-C6C4-85CC-1A53-31EAF2AA88C2}"/>
              </a:ext>
            </a:extLst>
          </p:cNvPr>
          <p:cNvSpPr txBox="1"/>
          <p:nvPr/>
        </p:nvSpPr>
        <p:spPr>
          <a:xfrm>
            <a:off x="5099018" y="1015956"/>
            <a:ext cx="304520" cy="2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dirty="0"/>
          </a:p>
        </p:txBody>
      </p:sp>
      <p:cxnSp>
        <p:nvCxnSpPr>
          <p:cNvPr id="13" name="Google Shape;288;p19">
            <a:extLst>
              <a:ext uri="{FF2B5EF4-FFF2-40B4-BE49-F238E27FC236}">
                <a16:creationId xmlns:a16="http://schemas.microsoft.com/office/drawing/2014/main" id="{5A57D09F-57B6-23FF-FAE6-D01BEB2D727F}"/>
              </a:ext>
            </a:extLst>
          </p:cNvPr>
          <p:cNvCxnSpPr/>
          <p:nvPr/>
        </p:nvCxnSpPr>
        <p:spPr>
          <a:xfrm rot="10800000">
            <a:off x="4629294" y="1159984"/>
            <a:ext cx="215042" cy="0"/>
          </a:xfrm>
          <a:prstGeom prst="straightConnector1">
            <a:avLst/>
          </a:prstGeom>
          <a:solidFill>
            <a:srgbClr val="00B0F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" name="Google Shape;289;p19">
            <a:extLst>
              <a:ext uri="{FF2B5EF4-FFF2-40B4-BE49-F238E27FC236}">
                <a16:creationId xmlns:a16="http://schemas.microsoft.com/office/drawing/2014/main" id="{F2681D31-4E5A-CFB0-1E5B-E79980918C3E}"/>
              </a:ext>
            </a:extLst>
          </p:cNvPr>
          <p:cNvCxnSpPr/>
          <p:nvPr/>
        </p:nvCxnSpPr>
        <p:spPr>
          <a:xfrm rot="10800000">
            <a:off x="5388977" y="1159984"/>
            <a:ext cx="215042" cy="0"/>
          </a:xfrm>
          <a:prstGeom prst="straightConnector1">
            <a:avLst/>
          </a:prstGeom>
          <a:solidFill>
            <a:srgbClr val="00B0F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6" name="Google Shape;291;p19">
            <a:extLst>
              <a:ext uri="{FF2B5EF4-FFF2-40B4-BE49-F238E27FC236}">
                <a16:creationId xmlns:a16="http://schemas.microsoft.com/office/drawing/2014/main" id="{64008335-E5C7-440F-E6F5-C399C00C0F63}"/>
              </a:ext>
            </a:extLst>
          </p:cNvPr>
          <p:cNvSpPr txBox="1"/>
          <p:nvPr/>
        </p:nvSpPr>
        <p:spPr>
          <a:xfrm>
            <a:off x="6747857" y="1017255"/>
            <a:ext cx="539672" cy="720147"/>
          </a:xfrm>
          <a:prstGeom prst="rect">
            <a:avLst/>
          </a:prstGeom>
          <a:solidFill>
            <a:srgbClr val="00B0F0"/>
          </a:solidFill>
          <a:ln w="25400" cap="flat" cmpd="sng">
            <a:solidFill>
              <a:srgbClr val="6E969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294;p19">
            <a:extLst>
              <a:ext uri="{FF2B5EF4-FFF2-40B4-BE49-F238E27FC236}">
                <a16:creationId xmlns:a16="http://schemas.microsoft.com/office/drawing/2014/main" id="{512941EE-32E7-0F03-623F-0CB91FC22BC5}"/>
              </a:ext>
            </a:extLst>
          </p:cNvPr>
          <p:cNvSpPr/>
          <p:nvPr/>
        </p:nvSpPr>
        <p:spPr>
          <a:xfrm>
            <a:off x="6963250" y="1737402"/>
            <a:ext cx="54443" cy="72015"/>
          </a:xfrm>
          <a:prstGeom prst="ellipse">
            <a:avLst/>
          </a:prstGeom>
          <a:solidFill>
            <a:srgbClr val="00B0F0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95;p19">
            <a:extLst>
              <a:ext uri="{FF2B5EF4-FFF2-40B4-BE49-F238E27FC236}">
                <a16:creationId xmlns:a16="http://schemas.microsoft.com/office/drawing/2014/main" id="{D451D71C-9255-A4BC-6998-22DF634B4DBF}"/>
              </a:ext>
            </a:extLst>
          </p:cNvPr>
          <p:cNvSpPr txBox="1"/>
          <p:nvPr/>
        </p:nvSpPr>
        <p:spPr>
          <a:xfrm>
            <a:off x="6734076" y="1022772"/>
            <a:ext cx="295394" cy="2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dirty="0"/>
          </a:p>
        </p:txBody>
      </p:sp>
      <p:sp>
        <p:nvSpPr>
          <p:cNvPr id="22" name="Google Shape;296;p19">
            <a:extLst>
              <a:ext uri="{FF2B5EF4-FFF2-40B4-BE49-F238E27FC236}">
                <a16:creationId xmlns:a16="http://schemas.microsoft.com/office/drawing/2014/main" id="{4F20253F-AF3F-4E76-AD4A-5DB7B7B6BDA3}"/>
              </a:ext>
            </a:extLst>
          </p:cNvPr>
          <p:cNvSpPr txBox="1"/>
          <p:nvPr/>
        </p:nvSpPr>
        <p:spPr>
          <a:xfrm>
            <a:off x="7001762" y="1017255"/>
            <a:ext cx="305016" cy="2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dirty="0"/>
          </a:p>
        </p:txBody>
      </p:sp>
      <p:cxnSp>
        <p:nvCxnSpPr>
          <p:cNvPr id="23" name="Google Shape;297;p19">
            <a:extLst>
              <a:ext uri="{FF2B5EF4-FFF2-40B4-BE49-F238E27FC236}">
                <a16:creationId xmlns:a16="http://schemas.microsoft.com/office/drawing/2014/main" id="{A0F2839E-9188-AC80-3A72-621119EB23C7}"/>
              </a:ext>
            </a:extLst>
          </p:cNvPr>
          <p:cNvCxnSpPr/>
          <p:nvPr/>
        </p:nvCxnSpPr>
        <p:spPr>
          <a:xfrm rot="10800000">
            <a:off x="6531274" y="1161283"/>
            <a:ext cx="215393" cy="0"/>
          </a:xfrm>
          <a:prstGeom prst="straightConnector1">
            <a:avLst/>
          </a:prstGeom>
          <a:solidFill>
            <a:srgbClr val="00B0F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" name="Google Shape;298;p19">
            <a:extLst>
              <a:ext uri="{FF2B5EF4-FFF2-40B4-BE49-F238E27FC236}">
                <a16:creationId xmlns:a16="http://schemas.microsoft.com/office/drawing/2014/main" id="{A7036126-D809-8C5D-4799-86463C0606D8}"/>
              </a:ext>
            </a:extLst>
          </p:cNvPr>
          <p:cNvCxnSpPr/>
          <p:nvPr/>
        </p:nvCxnSpPr>
        <p:spPr>
          <a:xfrm rot="10800000">
            <a:off x="7292193" y="1161283"/>
            <a:ext cx="215393" cy="0"/>
          </a:xfrm>
          <a:prstGeom prst="straightConnector1">
            <a:avLst/>
          </a:prstGeom>
          <a:solidFill>
            <a:srgbClr val="00B0F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" name="Google Shape;299;p19">
            <a:extLst>
              <a:ext uri="{FF2B5EF4-FFF2-40B4-BE49-F238E27FC236}">
                <a16:creationId xmlns:a16="http://schemas.microsoft.com/office/drawing/2014/main" id="{359105C9-F258-BD7D-8C8A-F5010C805ED6}"/>
              </a:ext>
            </a:extLst>
          </p:cNvPr>
          <p:cNvCxnSpPr>
            <a:cxnSpLocks/>
          </p:cNvCxnSpPr>
          <p:nvPr/>
        </p:nvCxnSpPr>
        <p:spPr>
          <a:xfrm flipH="1">
            <a:off x="4051444" y="2184257"/>
            <a:ext cx="3839569" cy="4862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6" name="Google Shape;300;p19">
            <a:extLst>
              <a:ext uri="{FF2B5EF4-FFF2-40B4-BE49-F238E27FC236}">
                <a16:creationId xmlns:a16="http://schemas.microsoft.com/office/drawing/2014/main" id="{86D53364-4CD1-80F3-269D-47C0D07A39A6}"/>
              </a:ext>
            </a:extLst>
          </p:cNvPr>
          <p:cNvSpPr txBox="1"/>
          <p:nvPr/>
        </p:nvSpPr>
        <p:spPr>
          <a:xfrm>
            <a:off x="4246707" y="1006431"/>
            <a:ext cx="32385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dirty="0"/>
          </a:p>
        </p:txBody>
      </p:sp>
      <p:sp>
        <p:nvSpPr>
          <p:cNvPr id="28" name="Google Shape;302;p19">
            <a:extLst>
              <a:ext uri="{FF2B5EF4-FFF2-40B4-BE49-F238E27FC236}">
                <a16:creationId xmlns:a16="http://schemas.microsoft.com/office/drawing/2014/main" id="{9A2FF9F5-EBF7-CD32-8DA0-3F6DB4EBD0B1}"/>
              </a:ext>
            </a:extLst>
          </p:cNvPr>
          <p:cNvSpPr txBox="1"/>
          <p:nvPr/>
        </p:nvSpPr>
        <p:spPr>
          <a:xfrm>
            <a:off x="3546619" y="1665244"/>
            <a:ext cx="404812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clk</a:t>
            </a:r>
            <a:endParaRPr/>
          </a:p>
        </p:txBody>
      </p:sp>
      <p:sp>
        <p:nvSpPr>
          <p:cNvPr id="29" name="Google Shape;303;p19">
            <a:extLst>
              <a:ext uri="{FF2B5EF4-FFF2-40B4-BE49-F238E27FC236}">
                <a16:creationId xmlns:a16="http://schemas.microsoft.com/office/drawing/2014/main" id="{382CA1CF-02EF-A8AD-E5BA-963665B09F50}"/>
              </a:ext>
            </a:extLst>
          </p:cNvPr>
          <p:cNvSpPr txBox="1"/>
          <p:nvPr/>
        </p:nvSpPr>
        <p:spPr>
          <a:xfrm>
            <a:off x="5441970" y="839151"/>
            <a:ext cx="3048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dirty="0"/>
          </a:p>
        </p:txBody>
      </p:sp>
      <p:sp>
        <p:nvSpPr>
          <p:cNvPr id="30" name="Google Shape;304;p19">
            <a:extLst>
              <a:ext uri="{FF2B5EF4-FFF2-40B4-BE49-F238E27FC236}">
                <a16:creationId xmlns:a16="http://schemas.microsoft.com/office/drawing/2014/main" id="{3350D6A1-8CC7-0C76-5569-A5D1AACB93BF}"/>
              </a:ext>
            </a:extLst>
          </p:cNvPr>
          <p:cNvSpPr txBox="1"/>
          <p:nvPr/>
        </p:nvSpPr>
        <p:spPr>
          <a:xfrm>
            <a:off x="6415022" y="857925"/>
            <a:ext cx="3048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dirty="0"/>
          </a:p>
        </p:txBody>
      </p:sp>
      <p:cxnSp>
        <p:nvCxnSpPr>
          <p:cNvPr id="31" name="Google Shape;305;p19">
            <a:extLst>
              <a:ext uri="{FF2B5EF4-FFF2-40B4-BE49-F238E27FC236}">
                <a16:creationId xmlns:a16="http://schemas.microsoft.com/office/drawing/2014/main" id="{098483DF-7A65-CD20-8282-4DF4122E435E}"/>
              </a:ext>
            </a:extLst>
          </p:cNvPr>
          <p:cNvCxnSpPr>
            <a:cxnSpLocks/>
          </p:cNvCxnSpPr>
          <p:nvPr/>
        </p:nvCxnSpPr>
        <p:spPr>
          <a:xfrm flipH="1" flipV="1">
            <a:off x="3697432" y="1901781"/>
            <a:ext cx="3690734" cy="633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" name="Google Shape;306;p19">
            <a:extLst>
              <a:ext uri="{FF2B5EF4-FFF2-40B4-BE49-F238E27FC236}">
                <a16:creationId xmlns:a16="http://schemas.microsoft.com/office/drawing/2014/main" id="{97DE049A-CD79-D126-96EE-49F0651DEDE2}"/>
              </a:ext>
            </a:extLst>
          </p:cNvPr>
          <p:cNvCxnSpPr/>
          <p:nvPr/>
        </p:nvCxnSpPr>
        <p:spPr>
          <a:xfrm rot="10800000" flipH="1">
            <a:off x="4322907" y="1609581"/>
            <a:ext cx="522300" cy="292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3" name="Google Shape;307;p19">
            <a:extLst>
              <a:ext uri="{FF2B5EF4-FFF2-40B4-BE49-F238E27FC236}">
                <a16:creationId xmlns:a16="http://schemas.microsoft.com/office/drawing/2014/main" id="{83051FD1-7541-1F1F-AE22-0D550F6591BB}"/>
              </a:ext>
            </a:extLst>
          </p:cNvPr>
          <p:cNvCxnSpPr/>
          <p:nvPr/>
        </p:nvCxnSpPr>
        <p:spPr>
          <a:xfrm rot="10800000" flipH="1">
            <a:off x="6226474" y="1614055"/>
            <a:ext cx="522300" cy="292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4" name="Google Shape;308;p19">
            <a:extLst>
              <a:ext uri="{FF2B5EF4-FFF2-40B4-BE49-F238E27FC236}">
                <a16:creationId xmlns:a16="http://schemas.microsoft.com/office/drawing/2014/main" id="{2A38B028-C240-0713-B39A-0419A4E3702D}"/>
              </a:ext>
            </a:extLst>
          </p:cNvPr>
          <p:cNvCxnSpPr/>
          <p:nvPr/>
        </p:nvCxnSpPr>
        <p:spPr>
          <a:xfrm>
            <a:off x="5088082" y="1808119"/>
            <a:ext cx="0" cy="381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5" name="Google Shape;309;p19">
            <a:extLst>
              <a:ext uri="{FF2B5EF4-FFF2-40B4-BE49-F238E27FC236}">
                <a16:creationId xmlns:a16="http://schemas.microsoft.com/office/drawing/2014/main" id="{164A4738-DE1F-4459-DC57-CD3C2D644CE7}"/>
              </a:ext>
            </a:extLst>
          </p:cNvPr>
          <p:cNvCxnSpPr/>
          <p:nvPr/>
        </p:nvCxnSpPr>
        <p:spPr>
          <a:xfrm>
            <a:off x="6991649" y="1817355"/>
            <a:ext cx="0" cy="381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6" name="Google Shape;310;p19">
            <a:extLst>
              <a:ext uri="{FF2B5EF4-FFF2-40B4-BE49-F238E27FC236}">
                <a16:creationId xmlns:a16="http://schemas.microsoft.com/office/drawing/2014/main" id="{06B447BF-D581-B897-032C-1DF86AF3C583}"/>
              </a:ext>
            </a:extLst>
          </p:cNvPr>
          <p:cNvSpPr txBox="1"/>
          <p:nvPr/>
        </p:nvSpPr>
        <p:spPr>
          <a:xfrm>
            <a:off x="3867294" y="1901781"/>
            <a:ext cx="581025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reset</a:t>
            </a:r>
            <a:endParaRPr/>
          </a:p>
        </p:txBody>
      </p:sp>
      <p:grpSp>
        <p:nvGrpSpPr>
          <p:cNvPr id="18" name="קבוצה 17">
            <a:extLst>
              <a:ext uri="{FF2B5EF4-FFF2-40B4-BE49-F238E27FC236}">
                <a16:creationId xmlns:a16="http://schemas.microsoft.com/office/drawing/2014/main" id="{0D03DBC9-EF80-9150-6DCD-A11671D307FB}"/>
              </a:ext>
            </a:extLst>
          </p:cNvPr>
          <p:cNvGrpSpPr/>
          <p:nvPr/>
        </p:nvGrpSpPr>
        <p:grpSpPr>
          <a:xfrm>
            <a:off x="4034166" y="2756319"/>
            <a:ext cx="2783307" cy="225021"/>
            <a:chOff x="4041547" y="3897560"/>
            <a:chExt cx="2783307" cy="225021"/>
          </a:xfrm>
        </p:grpSpPr>
        <p:sp>
          <p:nvSpPr>
            <p:cNvPr id="38" name="Line 53">
              <a:extLst>
                <a:ext uri="{FF2B5EF4-FFF2-40B4-BE49-F238E27FC236}">
                  <a16:creationId xmlns:a16="http://schemas.microsoft.com/office/drawing/2014/main" id="{82CE04A9-8952-5A2F-6143-EB085A7125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74936" y="4113460"/>
              <a:ext cx="2153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9" name="Line 54">
              <a:extLst>
                <a:ext uri="{FF2B5EF4-FFF2-40B4-BE49-F238E27FC236}">
                  <a16:creationId xmlns:a16="http://schemas.microsoft.com/office/drawing/2014/main" id="{EE331B61-C662-DB00-E71E-0C2ADF10BE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367581" y="4006106"/>
              <a:ext cx="215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0" name="Line 55">
              <a:extLst>
                <a:ext uri="{FF2B5EF4-FFF2-40B4-BE49-F238E27FC236}">
                  <a16:creationId xmlns:a16="http://schemas.microsoft.com/office/drawing/2014/main" id="{F57745DD-4FEB-EA35-6FC3-C494C1A135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58441" y="3897560"/>
              <a:ext cx="2153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1" name="Line 56">
              <a:extLst>
                <a:ext uri="{FF2B5EF4-FFF2-40B4-BE49-F238E27FC236}">
                  <a16:creationId xmlns:a16="http://schemas.microsoft.com/office/drawing/2014/main" id="{7DF006EF-C6C1-0AB8-2784-7C4FD2F52F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151086" y="4006106"/>
              <a:ext cx="215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grpSp>
          <p:nvGrpSpPr>
            <p:cNvPr id="42" name="Group 57">
              <a:extLst>
                <a:ext uri="{FF2B5EF4-FFF2-40B4-BE49-F238E27FC236}">
                  <a16:creationId xmlns:a16="http://schemas.microsoft.com/office/drawing/2014/main" id="{18F684BD-9B9A-0B91-74E4-85FFDC967E6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90241" y="3897560"/>
              <a:ext cx="431800" cy="215900"/>
              <a:chOff x="2109" y="3294"/>
              <a:chExt cx="363" cy="181"/>
            </a:xfrm>
          </p:grpSpPr>
          <p:sp>
            <p:nvSpPr>
              <p:cNvPr id="43" name="Line 58">
                <a:extLst>
                  <a:ext uri="{FF2B5EF4-FFF2-40B4-BE49-F238E27FC236}">
                    <a16:creationId xmlns:a16="http://schemas.microsoft.com/office/drawing/2014/main" id="{E24945ED-61EE-CB67-5F3F-474BD53FC7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347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44" name="Line 59">
                <a:extLst>
                  <a:ext uri="{FF2B5EF4-FFF2-40B4-BE49-F238E27FC236}">
                    <a16:creationId xmlns:a16="http://schemas.microsoft.com/office/drawing/2014/main" id="{E9726789-1CA1-22FD-194C-8C18754FE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199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45" name="Line 60">
                <a:extLst>
                  <a:ext uri="{FF2B5EF4-FFF2-40B4-BE49-F238E27FC236}">
                    <a16:creationId xmlns:a16="http://schemas.microsoft.com/office/drawing/2014/main" id="{1F39A0DC-F96E-49A2-4D51-423017B6C6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1" y="3294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46" name="Line 61">
                <a:extLst>
                  <a:ext uri="{FF2B5EF4-FFF2-40B4-BE49-F238E27FC236}">
                    <a16:creationId xmlns:a16="http://schemas.microsoft.com/office/drawing/2014/main" id="{69A380EE-8AE6-F0F8-BFE3-BDDDCBC41C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381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  <p:grpSp>
          <p:nvGrpSpPr>
            <p:cNvPr id="66" name="Group 57">
              <a:extLst>
                <a:ext uri="{FF2B5EF4-FFF2-40B4-BE49-F238E27FC236}">
                  <a16:creationId xmlns:a16="http://schemas.microsoft.com/office/drawing/2014/main" id="{E1B59307-ED0F-ABCC-C5C7-3FFC016CB34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120255" y="3902543"/>
              <a:ext cx="431800" cy="215900"/>
              <a:chOff x="2109" y="3294"/>
              <a:chExt cx="363" cy="181"/>
            </a:xfrm>
          </p:grpSpPr>
          <p:sp>
            <p:nvSpPr>
              <p:cNvPr id="67" name="Line 58">
                <a:extLst>
                  <a:ext uri="{FF2B5EF4-FFF2-40B4-BE49-F238E27FC236}">
                    <a16:creationId xmlns:a16="http://schemas.microsoft.com/office/drawing/2014/main" id="{27BA6730-0277-CC9F-75A5-C169875E76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347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68" name="Line 59">
                <a:extLst>
                  <a:ext uri="{FF2B5EF4-FFF2-40B4-BE49-F238E27FC236}">
                    <a16:creationId xmlns:a16="http://schemas.microsoft.com/office/drawing/2014/main" id="{BC545E5E-4788-81DC-BA4F-4526D1767F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199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69" name="Line 60">
                <a:extLst>
                  <a:ext uri="{FF2B5EF4-FFF2-40B4-BE49-F238E27FC236}">
                    <a16:creationId xmlns:a16="http://schemas.microsoft.com/office/drawing/2014/main" id="{961CEA4E-B14D-1089-3CE8-AB3C553C1A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1" y="3294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70" name="Line 61">
                <a:extLst>
                  <a:ext uri="{FF2B5EF4-FFF2-40B4-BE49-F238E27FC236}">
                    <a16:creationId xmlns:a16="http://schemas.microsoft.com/office/drawing/2014/main" id="{ACE55C97-A4B1-0A8C-017D-DA2B8EAD2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381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  <p:grpSp>
          <p:nvGrpSpPr>
            <p:cNvPr id="71" name="Group 57">
              <a:extLst>
                <a:ext uri="{FF2B5EF4-FFF2-40B4-BE49-F238E27FC236}">
                  <a16:creationId xmlns:a16="http://schemas.microsoft.com/office/drawing/2014/main" id="{01237472-09CF-3294-421E-09A36593E8C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544029" y="3902753"/>
              <a:ext cx="431800" cy="215900"/>
              <a:chOff x="2109" y="3294"/>
              <a:chExt cx="363" cy="181"/>
            </a:xfrm>
          </p:grpSpPr>
          <p:sp>
            <p:nvSpPr>
              <p:cNvPr id="72" name="Line 58">
                <a:extLst>
                  <a:ext uri="{FF2B5EF4-FFF2-40B4-BE49-F238E27FC236}">
                    <a16:creationId xmlns:a16="http://schemas.microsoft.com/office/drawing/2014/main" id="{53FC5632-C808-12D2-C177-E194431272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347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73" name="Line 59">
                <a:extLst>
                  <a:ext uri="{FF2B5EF4-FFF2-40B4-BE49-F238E27FC236}">
                    <a16:creationId xmlns:a16="http://schemas.microsoft.com/office/drawing/2014/main" id="{61E58FD0-9AA4-3583-D4FD-0E21548C8D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199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74" name="Line 60">
                <a:extLst>
                  <a:ext uri="{FF2B5EF4-FFF2-40B4-BE49-F238E27FC236}">
                    <a16:creationId xmlns:a16="http://schemas.microsoft.com/office/drawing/2014/main" id="{AC640B6C-F868-E802-711B-FB7DA45502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1" y="3294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78" name="Line 61">
                <a:extLst>
                  <a:ext uri="{FF2B5EF4-FFF2-40B4-BE49-F238E27FC236}">
                    <a16:creationId xmlns:a16="http://schemas.microsoft.com/office/drawing/2014/main" id="{29D25C29-CAED-009C-D8AB-D9AFAAC153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381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  <p:grpSp>
          <p:nvGrpSpPr>
            <p:cNvPr id="81" name="Group 57">
              <a:extLst>
                <a:ext uri="{FF2B5EF4-FFF2-40B4-BE49-F238E27FC236}">
                  <a16:creationId xmlns:a16="http://schemas.microsoft.com/office/drawing/2014/main" id="{8A0DD4D5-F9D7-DDF8-66C1-7C8DCB45A2D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64231" y="3906681"/>
              <a:ext cx="431800" cy="215900"/>
              <a:chOff x="2109" y="3294"/>
              <a:chExt cx="363" cy="181"/>
            </a:xfrm>
          </p:grpSpPr>
          <p:sp>
            <p:nvSpPr>
              <p:cNvPr id="82" name="Line 58">
                <a:extLst>
                  <a:ext uri="{FF2B5EF4-FFF2-40B4-BE49-F238E27FC236}">
                    <a16:creationId xmlns:a16="http://schemas.microsoft.com/office/drawing/2014/main" id="{6BDC37C8-88BE-95AC-8F51-01BA48FF7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347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83" name="Line 59">
                <a:extLst>
                  <a:ext uri="{FF2B5EF4-FFF2-40B4-BE49-F238E27FC236}">
                    <a16:creationId xmlns:a16="http://schemas.microsoft.com/office/drawing/2014/main" id="{CBCDC22E-1284-A82A-0EF7-CB015688E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199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84" name="Line 60">
                <a:extLst>
                  <a:ext uri="{FF2B5EF4-FFF2-40B4-BE49-F238E27FC236}">
                    <a16:creationId xmlns:a16="http://schemas.microsoft.com/office/drawing/2014/main" id="{4843E40A-DD65-C213-B68C-3372B7082F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1" y="3294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86" name="Line 61">
                <a:extLst>
                  <a:ext uri="{FF2B5EF4-FFF2-40B4-BE49-F238E27FC236}">
                    <a16:creationId xmlns:a16="http://schemas.microsoft.com/office/drawing/2014/main" id="{BB48E2C6-F130-062F-9D13-F3B96297F4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381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  <p:grpSp>
          <p:nvGrpSpPr>
            <p:cNvPr id="87" name="Group 57">
              <a:extLst>
                <a:ext uri="{FF2B5EF4-FFF2-40B4-BE49-F238E27FC236}">
                  <a16:creationId xmlns:a16="http://schemas.microsoft.com/office/drawing/2014/main" id="{BF198C4D-D6C3-1BF6-8B43-FAFE90315B6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6393054" y="3906681"/>
              <a:ext cx="431800" cy="215900"/>
              <a:chOff x="2109" y="3294"/>
              <a:chExt cx="363" cy="181"/>
            </a:xfrm>
          </p:grpSpPr>
          <p:sp>
            <p:nvSpPr>
              <p:cNvPr id="88" name="Line 58">
                <a:extLst>
                  <a:ext uri="{FF2B5EF4-FFF2-40B4-BE49-F238E27FC236}">
                    <a16:creationId xmlns:a16="http://schemas.microsoft.com/office/drawing/2014/main" id="{C7A20365-4A81-546E-F5A8-CCF774FA1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347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89" name="Line 59">
                <a:extLst>
                  <a:ext uri="{FF2B5EF4-FFF2-40B4-BE49-F238E27FC236}">
                    <a16:creationId xmlns:a16="http://schemas.microsoft.com/office/drawing/2014/main" id="{B593B30B-C308-AF63-18F7-9CA85C7EDD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199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90" name="Line 60">
                <a:extLst>
                  <a:ext uri="{FF2B5EF4-FFF2-40B4-BE49-F238E27FC236}">
                    <a16:creationId xmlns:a16="http://schemas.microsoft.com/office/drawing/2014/main" id="{DE5AEE7A-C637-5B00-FE63-CCA4524B0E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1" y="3294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91" name="Line 61">
                <a:extLst>
                  <a:ext uri="{FF2B5EF4-FFF2-40B4-BE49-F238E27FC236}">
                    <a16:creationId xmlns:a16="http://schemas.microsoft.com/office/drawing/2014/main" id="{4B2726E6-ADB0-7642-673E-0B092E5073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381" y="3385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e-IL"/>
              </a:p>
            </p:txBody>
          </p:sp>
        </p:grpSp>
        <p:sp>
          <p:nvSpPr>
            <p:cNvPr id="92" name="Line 53">
              <a:extLst>
                <a:ext uri="{FF2B5EF4-FFF2-40B4-BE49-F238E27FC236}">
                  <a16:creationId xmlns:a16="http://schemas.microsoft.com/office/drawing/2014/main" id="{8A577B9D-9E5E-F81D-9774-E14D52CA57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1547" y="4113460"/>
              <a:ext cx="2153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17" name="קבוצה 116">
            <a:extLst>
              <a:ext uri="{FF2B5EF4-FFF2-40B4-BE49-F238E27FC236}">
                <a16:creationId xmlns:a16="http://schemas.microsoft.com/office/drawing/2014/main" id="{D029A671-62B9-ABFC-B915-D63B66B6F528}"/>
              </a:ext>
            </a:extLst>
          </p:cNvPr>
          <p:cNvGrpSpPr/>
          <p:nvPr/>
        </p:nvGrpSpPr>
        <p:grpSpPr>
          <a:xfrm>
            <a:off x="4034164" y="3123407"/>
            <a:ext cx="2781344" cy="306451"/>
            <a:chOff x="4034164" y="3123407"/>
            <a:chExt cx="2781344" cy="306451"/>
          </a:xfrm>
        </p:grpSpPr>
        <p:sp>
          <p:nvSpPr>
            <p:cNvPr id="96" name="Line 62">
              <a:extLst>
                <a:ext uri="{FF2B5EF4-FFF2-40B4-BE49-F238E27FC236}">
                  <a16:creationId xmlns:a16="http://schemas.microsoft.com/office/drawing/2014/main" id="{4CD46080-F6DE-9C18-D7C7-0BFA4F8282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4164" y="3428999"/>
              <a:ext cx="647017" cy="8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98" name="Line 66">
              <a:extLst>
                <a:ext uri="{FF2B5EF4-FFF2-40B4-BE49-F238E27FC236}">
                  <a16:creationId xmlns:a16="http://schemas.microsoft.com/office/drawing/2014/main" id="{5C031005-B918-587D-8F6F-E91E9E93E9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097" y="3123407"/>
              <a:ext cx="2063411" cy="28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Line 65">
              <a:extLst>
                <a:ext uri="{FF2B5EF4-FFF2-40B4-BE49-F238E27FC236}">
                  <a16:creationId xmlns:a16="http://schemas.microsoft.com/office/drawing/2014/main" id="{8ACABFCF-D1C6-868A-02A0-597EB0626C5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564490" y="3241027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252C6D2F-A609-E2B1-5AC5-D4D5B3AE4E2D}"/>
              </a:ext>
            </a:extLst>
          </p:cNvPr>
          <p:cNvCxnSpPr>
            <a:cxnSpLocks/>
          </p:cNvCxnSpPr>
          <p:nvPr/>
        </p:nvCxnSpPr>
        <p:spPr>
          <a:xfrm flipV="1">
            <a:off x="6815509" y="2732744"/>
            <a:ext cx="0" cy="205580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E9A0F7AE-9465-EA4F-1EA4-753BD7D8DB68}"/>
              </a:ext>
            </a:extLst>
          </p:cNvPr>
          <p:cNvCxnSpPr>
            <a:cxnSpLocks/>
          </p:cNvCxnSpPr>
          <p:nvPr/>
        </p:nvCxnSpPr>
        <p:spPr>
          <a:xfrm flipV="1">
            <a:off x="4246707" y="2756319"/>
            <a:ext cx="0" cy="205580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מחבר ישר 36">
            <a:extLst>
              <a:ext uri="{FF2B5EF4-FFF2-40B4-BE49-F238E27FC236}">
                <a16:creationId xmlns:a16="http://schemas.microsoft.com/office/drawing/2014/main" id="{67FB7CEE-A851-EEE0-861E-6CFBE737E119}"/>
              </a:ext>
            </a:extLst>
          </p:cNvPr>
          <p:cNvCxnSpPr>
            <a:cxnSpLocks/>
          </p:cNvCxnSpPr>
          <p:nvPr/>
        </p:nvCxnSpPr>
        <p:spPr>
          <a:xfrm flipV="1">
            <a:off x="4682860" y="2756319"/>
            <a:ext cx="0" cy="205580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מחבר ישר 47">
            <a:extLst>
              <a:ext uri="{FF2B5EF4-FFF2-40B4-BE49-F238E27FC236}">
                <a16:creationId xmlns:a16="http://schemas.microsoft.com/office/drawing/2014/main" id="{6B53CCBC-3A84-A56B-98AE-22C863B2B649}"/>
              </a:ext>
            </a:extLst>
          </p:cNvPr>
          <p:cNvCxnSpPr>
            <a:cxnSpLocks/>
          </p:cNvCxnSpPr>
          <p:nvPr/>
        </p:nvCxnSpPr>
        <p:spPr>
          <a:xfrm flipV="1">
            <a:off x="5112895" y="2756319"/>
            <a:ext cx="0" cy="205580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מחבר ישר 48">
            <a:extLst>
              <a:ext uri="{FF2B5EF4-FFF2-40B4-BE49-F238E27FC236}">
                <a16:creationId xmlns:a16="http://schemas.microsoft.com/office/drawing/2014/main" id="{D9C3FF93-801F-E2D5-E265-569269CE5DD2}"/>
              </a:ext>
            </a:extLst>
          </p:cNvPr>
          <p:cNvCxnSpPr>
            <a:cxnSpLocks/>
          </p:cNvCxnSpPr>
          <p:nvPr/>
        </p:nvCxnSpPr>
        <p:spPr>
          <a:xfrm flipV="1">
            <a:off x="5536648" y="2765440"/>
            <a:ext cx="0" cy="205580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מחבר ישר 49">
            <a:extLst>
              <a:ext uri="{FF2B5EF4-FFF2-40B4-BE49-F238E27FC236}">
                <a16:creationId xmlns:a16="http://schemas.microsoft.com/office/drawing/2014/main" id="{3467D12B-CC48-FF60-1972-C406C0202382}"/>
              </a:ext>
            </a:extLst>
          </p:cNvPr>
          <p:cNvCxnSpPr>
            <a:cxnSpLocks/>
          </p:cNvCxnSpPr>
          <p:nvPr/>
        </p:nvCxnSpPr>
        <p:spPr>
          <a:xfrm flipV="1">
            <a:off x="5968448" y="2756319"/>
            <a:ext cx="0" cy="205580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מחבר ישר 50">
            <a:extLst>
              <a:ext uri="{FF2B5EF4-FFF2-40B4-BE49-F238E27FC236}">
                <a16:creationId xmlns:a16="http://schemas.microsoft.com/office/drawing/2014/main" id="{4D12DCD7-4AA2-C33E-D28A-68807F7C59DA}"/>
              </a:ext>
            </a:extLst>
          </p:cNvPr>
          <p:cNvCxnSpPr>
            <a:cxnSpLocks/>
          </p:cNvCxnSpPr>
          <p:nvPr/>
        </p:nvCxnSpPr>
        <p:spPr>
          <a:xfrm flipV="1">
            <a:off x="6401285" y="2756319"/>
            <a:ext cx="0" cy="205580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קבוצה 121">
            <a:extLst>
              <a:ext uri="{FF2B5EF4-FFF2-40B4-BE49-F238E27FC236}">
                <a16:creationId xmlns:a16="http://schemas.microsoft.com/office/drawing/2014/main" id="{6734A723-05C5-F2F8-EB8E-B2F1A482785F}"/>
              </a:ext>
            </a:extLst>
          </p:cNvPr>
          <p:cNvGrpSpPr/>
          <p:nvPr/>
        </p:nvGrpSpPr>
        <p:grpSpPr>
          <a:xfrm>
            <a:off x="4033570" y="3123826"/>
            <a:ext cx="2781938" cy="303563"/>
            <a:chOff x="4033570" y="3509602"/>
            <a:chExt cx="2781938" cy="303563"/>
          </a:xfrm>
        </p:grpSpPr>
        <p:sp>
          <p:nvSpPr>
            <p:cNvPr id="52" name="Line 62">
              <a:extLst>
                <a:ext uri="{FF2B5EF4-FFF2-40B4-BE49-F238E27FC236}">
                  <a16:creationId xmlns:a16="http://schemas.microsoft.com/office/drawing/2014/main" id="{AB22733F-23AE-F82C-21AC-DF9FC39377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3570" y="3810941"/>
              <a:ext cx="1095571" cy="2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3" name="Line 66">
              <a:extLst>
                <a:ext uri="{FF2B5EF4-FFF2-40B4-BE49-F238E27FC236}">
                  <a16:creationId xmlns:a16="http://schemas.microsoft.com/office/drawing/2014/main" id="{FF8023A5-139E-E369-3969-B6027F408A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00058" y="3509602"/>
              <a:ext cx="161545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4" name="Line 65">
              <a:extLst>
                <a:ext uri="{FF2B5EF4-FFF2-40B4-BE49-F238E27FC236}">
                  <a16:creationId xmlns:a16="http://schemas.microsoft.com/office/drawing/2014/main" id="{30B43528-E654-582C-7945-DD3B603E1E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012450" y="3624333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27" name="קבוצה 126">
            <a:extLst>
              <a:ext uri="{FF2B5EF4-FFF2-40B4-BE49-F238E27FC236}">
                <a16:creationId xmlns:a16="http://schemas.microsoft.com/office/drawing/2014/main" id="{1B5B1A66-4B65-DF9C-3275-E43514032C71}"/>
              </a:ext>
            </a:extLst>
          </p:cNvPr>
          <p:cNvGrpSpPr/>
          <p:nvPr/>
        </p:nvGrpSpPr>
        <p:grpSpPr>
          <a:xfrm>
            <a:off x="4033570" y="3145475"/>
            <a:ext cx="2781938" cy="303563"/>
            <a:chOff x="4033570" y="3893199"/>
            <a:chExt cx="2781938" cy="303563"/>
          </a:xfrm>
        </p:grpSpPr>
        <p:sp>
          <p:nvSpPr>
            <p:cNvPr id="55" name="Line 62">
              <a:extLst>
                <a:ext uri="{FF2B5EF4-FFF2-40B4-BE49-F238E27FC236}">
                  <a16:creationId xmlns:a16="http://schemas.microsoft.com/office/drawing/2014/main" id="{720781D1-F0F0-BC9B-26F8-2059E8FCBA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3570" y="4190443"/>
              <a:ext cx="1497350" cy="63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6" name="Line 66">
              <a:extLst>
                <a:ext uri="{FF2B5EF4-FFF2-40B4-BE49-F238E27FC236}">
                  <a16:creationId xmlns:a16="http://schemas.microsoft.com/office/drawing/2014/main" id="{EDB70785-730C-34C8-1D55-C651CBC201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01836" y="3893199"/>
              <a:ext cx="12136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7" name="Line 65">
              <a:extLst>
                <a:ext uri="{FF2B5EF4-FFF2-40B4-BE49-F238E27FC236}">
                  <a16:creationId xmlns:a16="http://schemas.microsoft.com/office/drawing/2014/main" id="{78924A51-B229-4B7D-3D1E-3CDEE29A15A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414228" y="4007930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62" name="Google Shape;291;p19">
            <a:extLst>
              <a:ext uri="{FF2B5EF4-FFF2-40B4-BE49-F238E27FC236}">
                <a16:creationId xmlns:a16="http://schemas.microsoft.com/office/drawing/2014/main" id="{2E71E4F4-8E93-285F-13C0-44A1BA38A4CE}"/>
              </a:ext>
            </a:extLst>
          </p:cNvPr>
          <p:cNvSpPr txBox="1"/>
          <p:nvPr/>
        </p:nvSpPr>
        <p:spPr>
          <a:xfrm>
            <a:off x="5801124" y="1021872"/>
            <a:ext cx="539672" cy="720147"/>
          </a:xfrm>
          <a:prstGeom prst="rect">
            <a:avLst/>
          </a:prstGeom>
          <a:solidFill>
            <a:srgbClr val="00B0F0"/>
          </a:solidFill>
          <a:ln w="25400" cap="flat" cmpd="sng">
            <a:solidFill>
              <a:srgbClr val="6E969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294;p19">
            <a:extLst>
              <a:ext uri="{FF2B5EF4-FFF2-40B4-BE49-F238E27FC236}">
                <a16:creationId xmlns:a16="http://schemas.microsoft.com/office/drawing/2014/main" id="{A5362103-4884-1AD9-AB97-A432EDBCF7F8}"/>
              </a:ext>
            </a:extLst>
          </p:cNvPr>
          <p:cNvSpPr/>
          <p:nvPr/>
        </p:nvSpPr>
        <p:spPr>
          <a:xfrm>
            <a:off x="6016517" y="1742019"/>
            <a:ext cx="54443" cy="72015"/>
          </a:xfrm>
          <a:prstGeom prst="ellipse">
            <a:avLst/>
          </a:prstGeom>
          <a:solidFill>
            <a:srgbClr val="00B0F0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295;p19">
            <a:extLst>
              <a:ext uri="{FF2B5EF4-FFF2-40B4-BE49-F238E27FC236}">
                <a16:creationId xmlns:a16="http://schemas.microsoft.com/office/drawing/2014/main" id="{1CFBA30C-1BF8-A302-2D69-20BFDA493DDD}"/>
              </a:ext>
            </a:extLst>
          </p:cNvPr>
          <p:cNvSpPr txBox="1"/>
          <p:nvPr/>
        </p:nvSpPr>
        <p:spPr>
          <a:xfrm>
            <a:off x="5787343" y="1027389"/>
            <a:ext cx="295394" cy="2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dirty="0"/>
          </a:p>
        </p:txBody>
      </p:sp>
      <p:sp>
        <p:nvSpPr>
          <p:cNvPr id="76" name="Google Shape;296;p19">
            <a:extLst>
              <a:ext uri="{FF2B5EF4-FFF2-40B4-BE49-F238E27FC236}">
                <a16:creationId xmlns:a16="http://schemas.microsoft.com/office/drawing/2014/main" id="{80641C19-B871-CB3D-55F6-87B926197C55}"/>
              </a:ext>
            </a:extLst>
          </p:cNvPr>
          <p:cNvSpPr txBox="1"/>
          <p:nvPr/>
        </p:nvSpPr>
        <p:spPr>
          <a:xfrm>
            <a:off x="6055029" y="1021872"/>
            <a:ext cx="305016" cy="2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dirty="0"/>
          </a:p>
        </p:txBody>
      </p:sp>
      <p:cxnSp>
        <p:nvCxnSpPr>
          <p:cNvPr id="77" name="Google Shape;297;p19">
            <a:extLst>
              <a:ext uri="{FF2B5EF4-FFF2-40B4-BE49-F238E27FC236}">
                <a16:creationId xmlns:a16="http://schemas.microsoft.com/office/drawing/2014/main" id="{79BA7BA9-801F-0F2D-C7BD-30580248430C}"/>
              </a:ext>
            </a:extLst>
          </p:cNvPr>
          <p:cNvCxnSpPr/>
          <p:nvPr/>
        </p:nvCxnSpPr>
        <p:spPr>
          <a:xfrm rot="10800000">
            <a:off x="5584541" y="1165900"/>
            <a:ext cx="215393" cy="0"/>
          </a:xfrm>
          <a:prstGeom prst="straightConnector1">
            <a:avLst/>
          </a:prstGeom>
          <a:solidFill>
            <a:srgbClr val="00B0F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9" name="Google Shape;298;p19">
            <a:extLst>
              <a:ext uri="{FF2B5EF4-FFF2-40B4-BE49-F238E27FC236}">
                <a16:creationId xmlns:a16="http://schemas.microsoft.com/office/drawing/2014/main" id="{3CBE4FE0-4236-9E0C-61C1-96A4FB8BF4AF}"/>
              </a:ext>
            </a:extLst>
          </p:cNvPr>
          <p:cNvCxnSpPr/>
          <p:nvPr/>
        </p:nvCxnSpPr>
        <p:spPr>
          <a:xfrm rot="10800000">
            <a:off x="6345460" y="1165900"/>
            <a:ext cx="215393" cy="0"/>
          </a:xfrm>
          <a:prstGeom prst="straightConnector1">
            <a:avLst/>
          </a:prstGeom>
          <a:solidFill>
            <a:srgbClr val="00B0F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9" name="Google Shape;307;p19">
            <a:extLst>
              <a:ext uri="{FF2B5EF4-FFF2-40B4-BE49-F238E27FC236}">
                <a16:creationId xmlns:a16="http://schemas.microsoft.com/office/drawing/2014/main" id="{688D3E3B-E0CD-FF53-1A35-DB5FD9E7BF26}"/>
              </a:ext>
            </a:extLst>
          </p:cNvPr>
          <p:cNvCxnSpPr/>
          <p:nvPr/>
        </p:nvCxnSpPr>
        <p:spPr>
          <a:xfrm rot="10800000" flipH="1">
            <a:off x="5279741" y="1614198"/>
            <a:ext cx="522300" cy="292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0" name="Google Shape;309;p19">
            <a:extLst>
              <a:ext uri="{FF2B5EF4-FFF2-40B4-BE49-F238E27FC236}">
                <a16:creationId xmlns:a16="http://schemas.microsoft.com/office/drawing/2014/main" id="{47A7A440-B1E2-E77D-CE11-1684BE1B3FB6}"/>
              </a:ext>
            </a:extLst>
          </p:cNvPr>
          <p:cNvCxnSpPr/>
          <p:nvPr/>
        </p:nvCxnSpPr>
        <p:spPr>
          <a:xfrm>
            <a:off x="6044916" y="1821972"/>
            <a:ext cx="0" cy="381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1" name="Google Shape;291;p19">
            <a:extLst>
              <a:ext uri="{FF2B5EF4-FFF2-40B4-BE49-F238E27FC236}">
                <a16:creationId xmlns:a16="http://schemas.microsoft.com/office/drawing/2014/main" id="{053BFF13-B04D-F578-2FB3-6E6B2DAA9A57}"/>
              </a:ext>
            </a:extLst>
          </p:cNvPr>
          <p:cNvSpPr txBox="1"/>
          <p:nvPr/>
        </p:nvSpPr>
        <p:spPr>
          <a:xfrm>
            <a:off x="7648399" y="1021876"/>
            <a:ext cx="539672" cy="720147"/>
          </a:xfrm>
          <a:prstGeom prst="rect">
            <a:avLst/>
          </a:prstGeom>
          <a:solidFill>
            <a:srgbClr val="00B0F0"/>
          </a:solidFill>
          <a:ln w="25400" cap="flat" cmpd="sng">
            <a:solidFill>
              <a:srgbClr val="6E969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294;p19">
            <a:extLst>
              <a:ext uri="{FF2B5EF4-FFF2-40B4-BE49-F238E27FC236}">
                <a16:creationId xmlns:a16="http://schemas.microsoft.com/office/drawing/2014/main" id="{8A6E0146-BB9C-7B28-7F95-F7456BE55E25}"/>
              </a:ext>
            </a:extLst>
          </p:cNvPr>
          <p:cNvSpPr/>
          <p:nvPr/>
        </p:nvSpPr>
        <p:spPr>
          <a:xfrm>
            <a:off x="7863792" y="1742023"/>
            <a:ext cx="54443" cy="72015"/>
          </a:xfrm>
          <a:prstGeom prst="ellipse">
            <a:avLst/>
          </a:prstGeom>
          <a:solidFill>
            <a:srgbClr val="00B0F0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295;p19">
            <a:extLst>
              <a:ext uri="{FF2B5EF4-FFF2-40B4-BE49-F238E27FC236}">
                <a16:creationId xmlns:a16="http://schemas.microsoft.com/office/drawing/2014/main" id="{E62270DD-B0B7-3083-74F8-A76E44FD3982}"/>
              </a:ext>
            </a:extLst>
          </p:cNvPr>
          <p:cNvSpPr txBox="1"/>
          <p:nvPr/>
        </p:nvSpPr>
        <p:spPr>
          <a:xfrm>
            <a:off x="7634618" y="1027393"/>
            <a:ext cx="295394" cy="2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dirty="0"/>
          </a:p>
        </p:txBody>
      </p:sp>
      <p:sp>
        <p:nvSpPr>
          <p:cNvPr id="104" name="Google Shape;296;p19">
            <a:extLst>
              <a:ext uri="{FF2B5EF4-FFF2-40B4-BE49-F238E27FC236}">
                <a16:creationId xmlns:a16="http://schemas.microsoft.com/office/drawing/2014/main" id="{845FAC43-C45D-32DD-3A2C-0227F02401D3}"/>
              </a:ext>
            </a:extLst>
          </p:cNvPr>
          <p:cNvSpPr txBox="1"/>
          <p:nvPr/>
        </p:nvSpPr>
        <p:spPr>
          <a:xfrm>
            <a:off x="7902304" y="1021876"/>
            <a:ext cx="305016" cy="2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dirty="0"/>
          </a:p>
        </p:txBody>
      </p:sp>
      <p:cxnSp>
        <p:nvCxnSpPr>
          <p:cNvPr id="105" name="Google Shape;297;p19">
            <a:extLst>
              <a:ext uri="{FF2B5EF4-FFF2-40B4-BE49-F238E27FC236}">
                <a16:creationId xmlns:a16="http://schemas.microsoft.com/office/drawing/2014/main" id="{A9EC242E-D3B6-A7E0-F13E-BA8C5C2218D9}"/>
              </a:ext>
            </a:extLst>
          </p:cNvPr>
          <p:cNvCxnSpPr/>
          <p:nvPr/>
        </p:nvCxnSpPr>
        <p:spPr>
          <a:xfrm rot="10800000">
            <a:off x="7431816" y="1165904"/>
            <a:ext cx="215393" cy="0"/>
          </a:xfrm>
          <a:prstGeom prst="straightConnector1">
            <a:avLst/>
          </a:prstGeom>
          <a:solidFill>
            <a:srgbClr val="00B0F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6" name="Google Shape;298;p19">
            <a:extLst>
              <a:ext uri="{FF2B5EF4-FFF2-40B4-BE49-F238E27FC236}">
                <a16:creationId xmlns:a16="http://schemas.microsoft.com/office/drawing/2014/main" id="{3B6C752B-E5F4-45C1-49BC-5987B8A0F7B3}"/>
              </a:ext>
            </a:extLst>
          </p:cNvPr>
          <p:cNvCxnSpPr/>
          <p:nvPr/>
        </p:nvCxnSpPr>
        <p:spPr>
          <a:xfrm rot="10800000">
            <a:off x="8192735" y="1165904"/>
            <a:ext cx="215393" cy="0"/>
          </a:xfrm>
          <a:prstGeom prst="straightConnector1">
            <a:avLst/>
          </a:prstGeom>
          <a:solidFill>
            <a:srgbClr val="00B0F0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7" name="Google Shape;301;p19">
            <a:extLst>
              <a:ext uri="{FF2B5EF4-FFF2-40B4-BE49-F238E27FC236}">
                <a16:creationId xmlns:a16="http://schemas.microsoft.com/office/drawing/2014/main" id="{AC36B793-839A-78DD-C43F-83429E6E0E20}"/>
              </a:ext>
            </a:extLst>
          </p:cNvPr>
          <p:cNvSpPr txBox="1"/>
          <p:nvPr/>
        </p:nvSpPr>
        <p:spPr>
          <a:xfrm>
            <a:off x="8325578" y="1020288"/>
            <a:ext cx="433387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endParaRPr/>
          </a:p>
        </p:txBody>
      </p:sp>
      <p:sp>
        <p:nvSpPr>
          <p:cNvPr id="108" name="Google Shape;304;p19">
            <a:extLst>
              <a:ext uri="{FF2B5EF4-FFF2-40B4-BE49-F238E27FC236}">
                <a16:creationId xmlns:a16="http://schemas.microsoft.com/office/drawing/2014/main" id="{FF88AC98-380D-72A2-A54C-0DF9D157C6E2}"/>
              </a:ext>
            </a:extLst>
          </p:cNvPr>
          <p:cNvSpPr txBox="1"/>
          <p:nvPr/>
        </p:nvSpPr>
        <p:spPr>
          <a:xfrm>
            <a:off x="7322928" y="860645"/>
            <a:ext cx="3048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dirty="0"/>
          </a:p>
        </p:txBody>
      </p:sp>
      <p:cxnSp>
        <p:nvCxnSpPr>
          <p:cNvPr id="109" name="Google Shape;307;p19">
            <a:extLst>
              <a:ext uri="{FF2B5EF4-FFF2-40B4-BE49-F238E27FC236}">
                <a16:creationId xmlns:a16="http://schemas.microsoft.com/office/drawing/2014/main" id="{2CE5AEA4-02F7-7883-641B-D6FAA1DDCA7F}"/>
              </a:ext>
            </a:extLst>
          </p:cNvPr>
          <p:cNvCxnSpPr/>
          <p:nvPr/>
        </p:nvCxnSpPr>
        <p:spPr>
          <a:xfrm rot="10800000" flipH="1">
            <a:off x="7127016" y="1616295"/>
            <a:ext cx="522300" cy="292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0" name="Google Shape;309;p19">
            <a:extLst>
              <a:ext uri="{FF2B5EF4-FFF2-40B4-BE49-F238E27FC236}">
                <a16:creationId xmlns:a16="http://schemas.microsoft.com/office/drawing/2014/main" id="{2205428C-C814-8A4D-3CA9-5DC0F9C747BF}"/>
              </a:ext>
            </a:extLst>
          </p:cNvPr>
          <p:cNvCxnSpPr/>
          <p:nvPr/>
        </p:nvCxnSpPr>
        <p:spPr>
          <a:xfrm>
            <a:off x="7892191" y="1821976"/>
            <a:ext cx="0" cy="381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3" name="Google Shape;304;p19">
            <a:extLst>
              <a:ext uri="{FF2B5EF4-FFF2-40B4-BE49-F238E27FC236}">
                <a16:creationId xmlns:a16="http://schemas.microsoft.com/office/drawing/2014/main" id="{4104BC01-9545-1A96-F890-9E54180FEDEF}"/>
              </a:ext>
            </a:extLst>
          </p:cNvPr>
          <p:cNvSpPr txBox="1"/>
          <p:nvPr/>
        </p:nvSpPr>
        <p:spPr>
          <a:xfrm>
            <a:off x="8201852" y="857924"/>
            <a:ext cx="3048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dirty="0"/>
          </a:p>
        </p:txBody>
      </p:sp>
      <p:grpSp>
        <p:nvGrpSpPr>
          <p:cNvPr id="118" name="קבוצה 117">
            <a:extLst>
              <a:ext uri="{FF2B5EF4-FFF2-40B4-BE49-F238E27FC236}">
                <a16:creationId xmlns:a16="http://schemas.microsoft.com/office/drawing/2014/main" id="{23279972-92B9-901E-F497-B1ABF5CED7F4}"/>
              </a:ext>
            </a:extLst>
          </p:cNvPr>
          <p:cNvGrpSpPr/>
          <p:nvPr/>
        </p:nvGrpSpPr>
        <p:grpSpPr>
          <a:xfrm flipV="1">
            <a:off x="4038923" y="3128165"/>
            <a:ext cx="2781344" cy="306451"/>
            <a:chOff x="4034164" y="3123407"/>
            <a:chExt cx="2781344" cy="306451"/>
          </a:xfrm>
        </p:grpSpPr>
        <p:sp>
          <p:nvSpPr>
            <p:cNvPr id="119" name="Line 62">
              <a:extLst>
                <a:ext uri="{FF2B5EF4-FFF2-40B4-BE49-F238E27FC236}">
                  <a16:creationId xmlns:a16="http://schemas.microsoft.com/office/drawing/2014/main" id="{83AF8AF5-DC98-1206-928F-489DE65E6E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4164" y="3428999"/>
              <a:ext cx="647017" cy="8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20" name="Line 66">
              <a:extLst>
                <a:ext uri="{FF2B5EF4-FFF2-40B4-BE49-F238E27FC236}">
                  <a16:creationId xmlns:a16="http://schemas.microsoft.com/office/drawing/2014/main" id="{873B9A1E-A0B6-4A0E-D093-7AEF2F5D3B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097" y="3123407"/>
              <a:ext cx="2063411" cy="28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21" name="Line 65">
              <a:extLst>
                <a:ext uri="{FF2B5EF4-FFF2-40B4-BE49-F238E27FC236}">
                  <a16:creationId xmlns:a16="http://schemas.microsoft.com/office/drawing/2014/main" id="{8613B946-8DF5-6479-1134-4B763885C7A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564490" y="3241027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23" name="קבוצה 122">
            <a:extLst>
              <a:ext uri="{FF2B5EF4-FFF2-40B4-BE49-F238E27FC236}">
                <a16:creationId xmlns:a16="http://schemas.microsoft.com/office/drawing/2014/main" id="{7C3D25BE-25F6-0B97-7176-ADF3851C1AC6}"/>
              </a:ext>
            </a:extLst>
          </p:cNvPr>
          <p:cNvGrpSpPr/>
          <p:nvPr/>
        </p:nvGrpSpPr>
        <p:grpSpPr>
          <a:xfrm flipV="1">
            <a:off x="4045443" y="3133151"/>
            <a:ext cx="2781938" cy="303563"/>
            <a:chOff x="4033570" y="3509602"/>
            <a:chExt cx="2781938" cy="303563"/>
          </a:xfrm>
        </p:grpSpPr>
        <p:sp>
          <p:nvSpPr>
            <p:cNvPr id="124" name="Line 62">
              <a:extLst>
                <a:ext uri="{FF2B5EF4-FFF2-40B4-BE49-F238E27FC236}">
                  <a16:creationId xmlns:a16="http://schemas.microsoft.com/office/drawing/2014/main" id="{9BC3B2D9-3FA5-512F-BB50-04DABB4DB9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3570" y="3810941"/>
              <a:ext cx="1095571" cy="2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25" name="Line 66">
              <a:extLst>
                <a:ext uri="{FF2B5EF4-FFF2-40B4-BE49-F238E27FC236}">
                  <a16:creationId xmlns:a16="http://schemas.microsoft.com/office/drawing/2014/main" id="{CB127246-22A9-A93E-64E2-A3A6685337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00058" y="3509602"/>
              <a:ext cx="161545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26" name="Line 65">
              <a:extLst>
                <a:ext uri="{FF2B5EF4-FFF2-40B4-BE49-F238E27FC236}">
                  <a16:creationId xmlns:a16="http://schemas.microsoft.com/office/drawing/2014/main" id="{5834168E-2C1C-C9E1-7476-7E4F38DAFF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012450" y="3624333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28" name="קבוצה 127">
            <a:extLst>
              <a:ext uri="{FF2B5EF4-FFF2-40B4-BE49-F238E27FC236}">
                <a16:creationId xmlns:a16="http://schemas.microsoft.com/office/drawing/2014/main" id="{3CEF017B-F341-0E25-808B-CA2FB6D23FF5}"/>
              </a:ext>
            </a:extLst>
          </p:cNvPr>
          <p:cNvGrpSpPr/>
          <p:nvPr/>
        </p:nvGrpSpPr>
        <p:grpSpPr>
          <a:xfrm flipV="1">
            <a:off x="4033570" y="3137197"/>
            <a:ext cx="2781938" cy="303563"/>
            <a:chOff x="4033570" y="3893199"/>
            <a:chExt cx="2781938" cy="303563"/>
          </a:xfrm>
        </p:grpSpPr>
        <p:sp>
          <p:nvSpPr>
            <p:cNvPr id="129" name="Line 62">
              <a:extLst>
                <a:ext uri="{FF2B5EF4-FFF2-40B4-BE49-F238E27FC236}">
                  <a16:creationId xmlns:a16="http://schemas.microsoft.com/office/drawing/2014/main" id="{A078D518-C844-9A2A-D09D-590122436A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3570" y="4190443"/>
              <a:ext cx="1497350" cy="63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30" name="Line 66">
              <a:extLst>
                <a:ext uri="{FF2B5EF4-FFF2-40B4-BE49-F238E27FC236}">
                  <a16:creationId xmlns:a16="http://schemas.microsoft.com/office/drawing/2014/main" id="{E229ABE5-6844-1B59-DA6D-B57C891EFE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01836" y="3893199"/>
              <a:ext cx="12136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31" name="Line 65">
              <a:extLst>
                <a:ext uri="{FF2B5EF4-FFF2-40B4-BE49-F238E27FC236}">
                  <a16:creationId xmlns:a16="http://schemas.microsoft.com/office/drawing/2014/main" id="{D9DB948E-5C77-FFB5-4FBF-EECF668201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414228" y="4007930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135" name="Line 65">
            <a:extLst>
              <a:ext uri="{FF2B5EF4-FFF2-40B4-BE49-F238E27FC236}">
                <a16:creationId xmlns:a16="http://schemas.microsoft.com/office/drawing/2014/main" id="{FD6BCC05-EF40-206C-E318-61B21B2CFDA1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5866237" y="3260206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39" name="Line 65">
            <a:extLst>
              <a:ext uri="{FF2B5EF4-FFF2-40B4-BE49-F238E27FC236}">
                <a16:creationId xmlns:a16="http://schemas.microsoft.com/office/drawing/2014/main" id="{C7D7D23D-89DB-A474-D4E7-7399455FC65F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5866237" y="3253201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40" name="Line 65">
            <a:extLst>
              <a:ext uri="{FF2B5EF4-FFF2-40B4-BE49-F238E27FC236}">
                <a16:creationId xmlns:a16="http://schemas.microsoft.com/office/drawing/2014/main" id="{207B6904-9A5E-141F-0C78-57B958E3909A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6300735" y="3253519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41" name="Line 65">
            <a:extLst>
              <a:ext uri="{FF2B5EF4-FFF2-40B4-BE49-F238E27FC236}">
                <a16:creationId xmlns:a16="http://schemas.microsoft.com/office/drawing/2014/main" id="{C705DF87-C7E2-CFEB-4B32-6B4AAFA9412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6300735" y="3246514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42" name="Line 65">
            <a:extLst>
              <a:ext uri="{FF2B5EF4-FFF2-40B4-BE49-F238E27FC236}">
                <a16:creationId xmlns:a16="http://schemas.microsoft.com/office/drawing/2014/main" id="{4C737446-69CC-CC1F-415C-6B5BDC2BA33C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4143056" y="3241885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43" name="Line 65">
            <a:extLst>
              <a:ext uri="{FF2B5EF4-FFF2-40B4-BE49-F238E27FC236}">
                <a16:creationId xmlns:a16="http://schemas.microsoft.com/office/drawing/2014/main" id="{86EA6037-8334-4BEE-84D0-C1D0E9917E13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4143056" y="3234880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44" name="Google Shape;300;p19">
            <a:extLst>
              <a:ext uri="{FF2B5EF4-FFF2-40B4-BE49-F238E27FC236}">
                <a16:creationId xmlns:a16="http://schemas.microsoft.com/office/drawing/2014/main" id="{424C7E61-BE51-E7BF-0729-412969371E53}"/>
              </a:ext>
            </a:extLst>
          </p:cNvPr>
          <p:cNvSpPr txBox="1"/>
          <p:nvPr/>
        </p:nvSpPr>
        <p:spPr>
          <a:xfrm>
            <a:off x="4288134" y="3145918"/>
            <a:ext cx="404809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in0</a:t>
            </a:r>
            <a:endParaRPr sz="1000" dirty="0"/>
          </a:p>
        </p:txBody>
      </p:sp>
      <p:grpSp>
        <p:nvGrpSpPr>
          <p:cNvPr id="145" name="קבוצה 144">
            <a:extLst>
              <a:ext uri="{FF2B5EF4-FFF2-40B4-BE49-F238E27FC236}">
                <a16:creationId xmlns:a16="http://schemas.microsoft.com/office/drawing/2014/main" id="{691731C8-BB09-B95C-BC3E-24CBEDDF7B6A}"/>
              </a:ext>
            </a:extLst>
          </p:cNvPr>
          <p:cNvGrpSpPr/>
          <p:nvPr/>
        </p:nvGrpSpPr>
        <p:grpSpPr>
          <a:xfrm>
            <a:off x="4034160" y="3661578"/>
            <a:ext cx="2781344" cy="306451"/>
            <a:chOff x="4034164" y="3123407"/>
            <a:chExt cx="2781344" cy="306451"/>
          </a:xfrm>
        </p:grpSpPr>
        <p:sp>
          <p:nvSpPr>
            <p:cNvPr id="146" name="Line 62">
              <a:extLst>
                <a:ext uri="{FF2B5EF4-FFF2-40B4-BE49-F238E27FC236}">
                  <a16:creationId xmlns:a16="http://schemas.microsoft.com/office/drawing/2014/main" id="{733FA00C-6A8B-EB15-7ACB-A9190D2E01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4164" y="3428999"/>
              <a:ext cx="647017" cy="8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47" name="Line 66">
              <a:extLst>
                <a:ext uri="{FF2B5EF4-FFF2-40B4-BE49-F238E27FC236}">
                  <a16:creationId xmlns:a16="http://schemas.microsoft.com/office/drawing/2014/main" id="{7EA53E67-1954-BBE2-59CF-2C626A2A16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097" y="3123407"/>
              <a:ext cx="2063411" cy="28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48" name="Line 65">
              <a:extLst>
                <a:ext uri="{FF2B5EF4-FFF2-40B4-BE49-F238E27FC236}">
                  <a16:creationId xmlns:a16="http://schemas.microsoft.com/office/drawing/2014/main" id="{6AA9830D-C764-4D44-012B-D0DC683EFF2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564490" y="3241027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49" name="קבוצה 148">
            <a:extLst>
              <a:ext uri="{FF2B5EF4-FFF2-40B4-BE49-F238E27FC236}">
                <a16:creationId xmlns:a16="http://schemas.microsoft.com/office/drawing/2014/main" id="{EDC01BAE-C100-50A1-A08E-DE25528F2667}"/>
              </a:ext>
            </a:extLst>
          </p:cNvPr>
          <p:cNvGrpSpPr/>
          <p:nvPr/>
        </p:nvGrpSpPr>
        <p:grpSpPr>
          <a:xfrm>
            <a:off x="4033566" y="3661997"/>
            <a:ext cx="2781938" cy="303563"/>
            <a:chOff x="4033570" y="3509602"/>
            <a:chExt cx="2781938" cy="303563"/>
          </a:xfrm>
        </p:grpSpPr>
        <p:sp>
          <p:nvSpPr>
            <p:cNvPr id="150" name="Line 62">
              <a:extLst>
                <a:ext uri="{FF2B5EF4-FFF2-40B4-BE49-F238E27FC236}">
                  <a16:creationId xmlns:a16="http://schemas.microsoft.com/office/drawing/2014/main" id="{7A43EFE5-7F32-8B56-D651-34A3557112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3570" y="3810941"/>
              <a:ext cx="1095571" cy="2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1" name="Line 66">
              <a:extLst>
                <a:ext uri="{FF2B5EF4-FFF2-40B4-BE49-F238E27FC236}">
                  <a16:creationId xmlns:a16="http://schemas.microsoft.com/office/drawing/2014/main" id="{D43F7878-CFFA-5AE6-591E-7F60883CF4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00058" y="3509602"/>
              <a:ext cx="161545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2" name="Line 65">
              <a:extLst>
                <a:ext uri="{FF2B5EF4-FFF2-40B4-BE49-F238E27FC236}">
                  <a16:creationId xmlns:a16="http://schemas.microsoft.com/office/drawing/2014/main" id="{F66FED1C-8BC1-E0DB-5B02-01B697350A3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012450" y="3624333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53" name="קבוצה 152">
            <a:extLst>
              <a:ext uri="{FF2B5EF4-FFF2-40B4-BE49-F238E27FC236}">
                <a16:creationId xmlns:a16="http://schemas.microsoft.com/office/drawing/2014/main" id="{1E8724EB-5B61-1F21-90CD-ABC44B4FE674}"/>
              </a:ext>
            </a:extLst>
          </p:cNvPr>
          <p:cNvGrpSpPr/>
          <p:nvPr/>
        </p:nvGrpSpPr>
        <p:grpSpPr>
          <a:xfrm>
            <a:off x="4033566" y="3683646"/>
            <a:ext cx="2781938" cy="303563"/>
            <a:chOff x="4033570" y="3893199"/>
            <a:chExt cx="2781938" cy="303563"/>
          </a:xfrm>
        </p:grpSpPr>
        <p:sp>
          <p:nvSpPr>
            <p:cNvPr id="154" name="Line 62">
              <a:extLst>
                <a:ext uri="{FF2B5EF4-FFF2-40B4-BE49-F238E27FC236}">
                  <a16:creationId xmlns:a16="http://schemas.microsoft.com/office/drawing/2014/main" id="{7CF828E7-5D78-40AA-6A6A-049DCCFB45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3570" y="4190443"/>
              <a:ext cx="1497350" cy="63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5" name="Line 66">
              <a:extLst>
                <a:ext uri="{FF2B5EF4-FFF2-40B4-BE49-F238E27FC236}">
                  <a16:creationId xmlns:a16="http://schemas.microsoft.com/office/drawing/2014/main" id="{7E3F2B28-260C-18A2-49F4-483F2E0CFF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01836" y="3893199"/>
              <a:ext cx="12136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6" name="Line 65">
              <a:extLst>
                <a:ext uri="{FF2B5EF4-FFF2-40B4-BE49-F238E27FC236}">
                  <a16:creationId xmlns:a16="http://schemas.microsoft.com/office/drawing/2014/main" id="{4438CD40-C22B-B9F9-3158-0373D1A9F6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414228" y="4007930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57" name="קבוצה 156">
            <a:extLst>
              <a:ext uri="{FF2B5EF4-FFF2-40B4-BE49-F238E27FC236}">
                <a16:creationId xmlns:a16="http://schemas.microsoft.com/office/drawing/2014/main" id="{835B45D9-2FCA-9E61-5A8C-67899764FF04}"/>
              </a:ext>
            </a:extLst>
          </p:cNvPr>
          <p:cNvGrpSpPr/>
          <p:nvPr/>
        </p:nvGrpSpPr>
        <p:grpSpPr>
          <a:xfrm flipV="1">
            <a:off x="4038919" y="3666336"/>
            <a:ext cx="2781344" cy="306451"/>
            <a:chOff x="4034164" y="3123407"/>
            <a:chExt cx="2781344" cy="306451"/>
          </a:xfrm>
        </p:grpSpPr>
        <p:sp>
          <p:nvSpPr>
            <p:cNvPr id="158" name="Line 62">
              <a:extLst>
                <a:ext uri="{FF2B5EF4-FFF2-40B4-BE49-F238E27FC236}">
                  <a16:creationId xmlns:a16="http://schemas.microsoft.com/office/drawing/2014/main" id="{A4198DF0-4B77-DF89-2D62-0CDDD56A96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4164" y="3428999"/>
              <a:ext cx="647017" cy="8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9" name="Line 66">
              <a:extLst>
                <a:ext uri="{FF2B5EF4-FFF2-40B4-BE49-F238E27FC236}">
                  <a16:creationId xmlns:a16="http://schemas.microsoft.com/office/drawing/2014/main" id="{4B1A8087-9FF6-2A3F-BA60-CEE3DCB3B5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097" y="3123407"/>
              <a:ext cx="2063411" cy="28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0" name="Line 65">
              <a:extLst>
                <a:ext uri="{FF2B5EF4-FFF2-40B4-BE49-F238E27FC236}">
                  <a16:creationId xmlns:a16="http://schemas.microsoft.com/office/drawing/2014/main" id="{9A0243AA-82EF-F877-891C-337DBDF2F21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564490" y="3241027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61" name="קבוצה 160">
            <a:extLst>
              <a:ext uri="{FF2B5EF4-FFF2-40B4-BE49-F238E27FC236}">
                <a16:creationId xmlns:a16="http://schemas.microsoft.com/office/drawing/2014/main" id="{2D2D1E33-66DD-D65D-18A5-24F9A774360D}"/>
              </a:ext>
            </a:extLst>
          </p:cNvPr>
          <p:cNvGrpSpPr/>
          <p:nvPr/>
        </p:nvGrpSpPr>
        <p:grpSpPr>
          <a:xfrm flipV="1">
            <a:off x="4045439" y="3671322"/>
            <a:ext cx="2781938" cy="303563"/>
            <a:chOff x="4033570" y="3509602"/>
            <a:chExt cx="2781938" cy="303563"/>
          </a:xfrm>
        </p:grpSpPr>
        <p:sp>
          <p:nvSpPr>
            <p:cNvPr id="162" name="Line 62">
              <a:extLst>
                <a:ext uri="{FF2B5EF4-FFF2-40B4-BE49-F238E27FC236}">
                  <a16:creationId xmlns:a16="http://schemas.microsoft.com/office/drawing/2014/main" id="{395DD7A4-105D-1355-74C8-5C2814C8B0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3570" y="3810941"/>
              <a:ext cx="1095571" cy="2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3" name="Line 66">
              <a:extLst>
                <a:ext uri="{FF2B5EF4-FFF2-40B4-BE49-F238E27FC236}">
                  <a16:creationId xmlns:a16="http://schemas.microsoft.com/office/drawing/2014/main" id="{B6E43D27-C41C-1BFF-BD48-116B2F1108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00058" y="3509602"/>
              <a:ext cx="161545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4" name="Line 65">
              <a:extLst>
                <a:ext uri="{FF2B5EF4-FFF2-40B4-BE49-F238E27FC236}">
                  <a16:creationId xmlns:a16="http://schemas.microsoft.com/office/drawing/2014/main" id="{01D6CA64-E92C-B28D-502A-F8EC8B83CED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012450" y="3624333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65" name="קבוצה 164">
            <a:extLst>
              <a:ext uri="{FF2B5EF4-FFF2-40B4-BE49-F238E27FC236}">
                <a16:creationId xmlns:a16="http://schemas.microsoft.com/office/drawing/2014/main" id="{01A91876-D70A-8C55-9A3F-767B7A809F85}"/>
              </a:ext>
            </a:extLst>
          </p:cNvPr>
          <p:cNvGrpSpPr/>
          <p:nvPr/>
        </p:nvGrpSpPr>
        <p:grpSpPr>
          <a:xfrm flipV="1">
            <a:off x="4033566" y="3675368"/>
            <a:ext cx="2781938" cy="303563"/>
            <a:chOff x="4033570" y="3893199"/>
            <a:chExt cx="2781938" cy="303563"/>
          </a:xfrm>
        </p:grpSpPr>
        <p:sp>
          <p:nvSpPr>
            <p:cNvPr id="166" name="Line 62">
              <a:extLst>
                <a:ext uri="{FF2B5EF4-FFF2-40B4-BE49-F238E27FC236}">
                  <a16:creationId xmlns:a16="http://schemas.microsoft.com/office/drawing/2014/main" id="{F0A3D106-CA03-1552-ED1D-F7C5836EFF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3570" y="4190443"/>
              <a:ext cx="1497350" cy="63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7" name="Line 66">
              <a:extLst>
                <a:ext uri="{FF2B5EF4-FFF2-40B4-BE49-F238E27FC236}">
                  <a16:creationId xmlns:a16="http://schemas.microsoft.com/office/drawing/2014/main" id="{6326E5A1-E645-0FF5-C3F2-D9058B7493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01836" y="3893199"/>
              <a:ext cx="12136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8" name="Line 65">
              <a:extLst>
                <a:ext uri="{FF2B5EF4-FFF2-40B4-BE49-F238E27FC236}">
                  <a16:creationId xmlns:a16="http://schemas.microsoft.com/office/drawing/2014/main" id="{2E9A6309-C0B0-174F-F20E-DAF756D772D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414228" y="4007930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169" name="Line 65">
            <a:extLst>
              <a:ext uri="{FF2B5EF4-FFF2-40B4-BE49-F238E27FC236}">
                <a16:creationId xmlns:a16="http://schemas.microsoft.com/office/drawing/2014/main" id="{EC7FFB3E-4B2F-7E50-ACE4-4844A882C9B1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5866233" y="3798377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70" name="Line 65">
            <a:extLst>
              <a:ext uri="{FF2B5EF4-FFF2-40B4-BE49-F238E27FC236}">
                <a16:creationId xmlns:a16="http://schemas.microsoft.com/office/drawing/2014/main" id="{A7146604-D859-03A2-6DDC-0B6A00D9BA0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5866233" y="3791372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71" name="Line 65">
            <a:extLst>
              <a:ext uri="{FF2B5EF4-FFF2-40B4-BE49-F238E27FC236}">
                <a16:creationId xmlns:a16="http://schemas.microsoft.com/office/drawing/2014/main" id="{E3C021D2-D26E-6BCC-B2CD-993571F62FED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6300731" y="3791690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72" name="Line 65">
            <a:extLst>
              <a:ext uri="{FF2B5EF4-FFF2-40B4-BE49-F238E27FC236}">
                <a16:creationId xmlns:a16="http://schemas.microsoft.com/office/drawing/2014/main" id="{6E00A507-68C2-4B13-BE94-679CA69654C3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6300731" y="3784685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73" name="Line 65">
            <a:extLst>
              <a:ext uri="{FF2B5EF4-FFF2-40B4-BE49-F238E27FC236}">
                <a16:creationId xmlns:a16="http://schemas.microsoft.com/office/drawing/2014/main" id="{15B03E8C-771F-A5E4-1F5D-AEBD6F0C9F10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4143052" y="3780056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74" name="Line 65">
            <a:extLst>
              <a:ext uri="{FF2B5EF4-FFF2-40B4-BE49-F238E27FC236}">
                <a16:creationId xmlns:a16="http://schemas.microsoft.com/office/drawing/2014/main" id="{CA10D628-9996-97E7-A2F9-9B899C766073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4143052" y="3773051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75" name="Google Shape;300;p19">
            <a:extLst>
              <a:ext uri="{FF2B5EF4-FFF2-40B4-BE49-F238E27FC236}">
                <a16:creationId xmlns:a16="http://schemas.microsoft.com/office/drawing/2014/main" id="{5218AABF-ED87-CDAA-2D69-72BDC360A95F}"/>
              </a:ext>
            </a:extLst>
          </p:cNvPr>
          <p:cNvSpPr txBox="1"/>
          <p:nvPr/>
        </p:nvSpPr>
        <p:spPr>
          <a:xfrm>
            <a:off x="4288130" y="3684089"/>
            <a:ext cx="404809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 dirty="0"/>
          </a:p>
        </p:txBody>
      </p:sp>
      <p:sp>
        <p:nvSpPr>
          <p:cNvPr id="176" name="Google Shape;300;p19">
            <a:extLst>
              <a:ext uri="{FF2B5EF4-FFF2-40B4-BE49-F238E27FC236}">
                <a16:creationId xmlns:a16="http://schemas.microsoft.com/office/drawing/2014/main" id="{CC5FE86B-4D1D-669E-C160-938E63976128}"/>
              </a:ext>
            </a:extLst>
          </p:cNvPr>
          <p:cNvSpPr txBox="1"/>
          <p:nvPr/>
        </p:nvSpPr>
        <p:spPr>
          <a:xfrm>
            <a:off x="4667404" y="3692481"/>
            <a:ext cx="404809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in0</a:t>
            </a:r>
            <a:endParaRPr sz="1000" dirty="0"/>
          </a:p>
        </p:txBody>
      </p:sp>
      <p:grpSp>
        <p:nvGrpSpPr>
          <p:cNvPr id="177" name="קבוצה 176">
            <a:extLst>
              <a:ext uri="{FF2B5EF4-FFF2-40B4-BE49-F238E27FC236}">
                <a16:creationId xmlns:a16="http://schemas.microsoft.com/office/drawing/2014/main" id="{AEBB02CE-1D0D-32DC-A5BF-5F1EC3DCE8A5}"/>
              </a:ext>
            </a:extLst>
          </p:cNvPr>
          <p:cNvGrpSpPr/>
          <p:nvPr/>
        </p:nvGrpSpPr>
        <p:grpSpPr>
          <a:xfrm>
            <a:off x="4034165" y="4096978"/>
            <a:ext cx="2781344" cy="306451"/>
            <a:chOff x="4034164" y="3123407"/>
            <a:chExt cx="2781344" cy="306451"/>
          </a:xfrm>
        </p:grpSpPr>
        <p:sp>
          <p:nvSpPr>
            <p:cNvPr id="178" name="Line 62">
              <a:extLst>
                <a:ext uri="{FF2B5EF4-FFF2-40B4-BE49-F238E27FC236}">
                  <a16:creationId xmlns:a16="http://schemas.microsoft.com/office/drawing/2014/main" id="{1B5819B0-5A8C-0841-D0FF-F6F4F17508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4164" y="3428999"/>
              <a:ext cx="647017" cy="8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79" name="Line 66">
              <a:extLst>
                <a:ext uri="{FF2B5EF4-FFF2-40B4-BE49-F238E27FC236}">
                  <a16:creationId xmlns:a16="http://schemas.microsoft.com/office/drawing/2014/main" id="{91BFE630-EC29-5DE6-A5C3-AA7DD2F171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097" y="3123407"/>
              <a:ext cx="2063411" cy="28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0" name="Line 65">
              <a:extLst>
                <a:ext uri="{FF2B5EF4-FFF2-40B4-BE49-F238E27FC236}">
                  <a16:creationId xmlns:a16="http://schemas.microsoft.com/office/drawing/2014/main" id="{28834B77-54D8-2CB5-B98C-E532CFA63C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564490" y="3241027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81" name="קבוצה 180">
            <a:extLst>
              <a:ext uri="{FF2B5EF4-FFF2-40B4-BE49-F238E27FC236}">
                <a16:creationId xmlns:a16="http://schemas.microsoft.com/office/drawing/2014/main" id="{73DFE8B8-1EA8-CBA9-23FB-78F549400C9D}"/>
              </a:ext>
            </a:extLst>
          </p:cNvPr>
          <p:cNvGrpSpPr/>
          <p:nvPr/>
        </p:nvGrpSpPr>
        <p:grpSpPr>
          <a:xfrm>
            <a:off x="4033571" y="4097397"/>
            <a:ext cx="2781938" cy="303563"/>
            <a:chOff x="4033570" y="3509602"/>
            <a:chExt cx="2781938" cy="303563"/>
          </a:xfrm>
        </p:grpSpPr>
        <p:sp>
          <p:nvSpPr>
            <p:cNvPr id="182" name="Line 62">
              <a:extLst>
                <a:ext uri="{FF2B5EF4-FFF2-40B4-BE49-F238E27FC236}">
                  <a16:creationId xmlns:a16="http://schemas.microsoft.com/office/drawing/2014/main" id="{22DB092E-E44E-A0E2-B0BA-2AF6A49C0E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3570" y="3810941"/>
              <a:ext cx="1095571" cy="2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3" name="Line 66">
              <a:extLst>
                <a:ext uri="{FF2B5EF4-FFF2-40B4-BE49-F238E27FC236}">
                  <a16:creationId xmlns:a16="http://schemas.microsoft.com/office/drawing/2014/main" id="{2335737C-5D01-4107-18FD-398246875F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00058" y="3509602"/>
              <a:ext cx="161545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4" name="Line 65">
              <a:extLst>
                <a:ext uri="{FF2B5EF4-FFF2-40B4-BE49-F238E27FC236}">
                  <a16:creationId xmlns:a16="http://schemas.microsoft.com/office/drawing/2014/main" id="{0F875A5C-0FF9-D8A4-BFCA-B1E3A768485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012450" y="3624333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85" name="קבוצה 184">
            <a:extLst>
              <a:ext uri="{FF2B5EF4-FFF2-40B4-BE49-F238E27FC236}">
                <a16:creationId xmlns:a16="http://schemas.microsoft.com/office/drawing/2014/main" id="{4355FDA3-2E31-48A8-A523-0F032D0DCA15}"/>
              </a:ext>
            </a:extLst>
          </p:cNvPr>
          <p:cNvGrpSpPr/>
          <p:nvPr/>
        </p:nvGrpSpPr>
        <p:grpSpPr>
          <a:xfrm>
            <a:off x="4033571" y="4119046"/>
            <a:ext cx="2781938" cy="303563"/>
            <a:chOff x="4033570" y="3893199"/>
            <a:chExt cx="2781938" cy="303563"/>
          </a:xfrm>
        </p:grpSpPr>
        <p:sp>
          <p:nvSpPr>
            <p:cNvPr id="186" name="Line 62">
              <a:extLst>
                <a:ext uri="{FF2B5EF4-FFF2-40B4-BE49-F238E27FC236}">
                  <a16:creationId xmlns:a16="http://schemas.microsoft.com/office/drawing/2014/main" id="{7E0897CA-2736-B4AA-D9EF-472259BD3F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3570" y="4190443"/>
              <a:ext cx="1497350" cy="63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7" name="Line 66">
              <a:extLst>
                <a:ext uri="{FF2B5EF4-FFF2-40B4-BE49-F238E27FC236}">
                  <a16:creationId xmlns:a16="http://schemas.microsoft.com/office/drawing/2014/main" id="{EB2DA9DC-E13F-51F3-7DDC-29762EB254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01836" y="3893199"/>
              <a:ext cx="12136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8" name="Line 65">
              <a:extLst>
                <a:ext uri="{FF2B5EF4-FFF2-40B4-BE49-F238E27FC236}">
                  <a16:creationId xmlns:a16="http://schemas.microsoft.com/office/drawing/2014/main" id="{55AF1C7C-5174-1944-1A57-7B84AD24D1E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414228" y="4007930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89" name="קבוצה 188">
            <a:extLst>
              <a:ext uri="{FF2B5EF4-FFF2-40B4-BE49-F238E27FC236}">
                <a16:creationId xmlns:a16="http://schemas.microsoft.com/office/drawing/2014/main" id="{9944B1C8-DE15-1984-AD0F-8C252B26C6A2}"/>
              </a:ext>
            </a:extLst>
          </p:cNvPr>
          <p:cNvGrpSpPr/>
          <p:nvPr/>
        </p:nvGrpSpPr>
        <p:grpSpPr>
          <a:xfrm flipV="1">
            <a:off x="4038924" y="4101736"/>
            <a:ext cx="2781344" cy="306451"/>
            <a:chOff x="4034164" y="3123407"/>
            <a:chExt cx="2781344" cy="306451"/>
          </a:xfrm>
        </p:grpSpPr>
        <p:sp>
          <p:nvSpPr>
            <p:cNvPr id="190" name="Line 62">
              <a:extLst>
                <a:ext uri="{FF2B5EF4-FFF2-40B4-BE49-F238E27FC236}">
                  <a16:creationId xmlns:a16="http://schemas.microsoft.com/office/drawing/2014/main" id="{63C209F2-F1A7-A708-E54C-ABF56A6878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4164" y="3428999"/>
              <a:ext cx="647017" cy="8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91" name="Line 66">
              <a:extLst>
                <a:ext uri="{FF2B5EF4-FFF2-40B4-BE49-F238E27FC236}">
                  <a16:creationId xmlns:a16="http://schemas.microsoft.com/office/drawing/2014/main" id="{8ED10436-547B-4562-69DA-615BB35937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097" y="3123407"/>
              <a:ext cx="2063411" cy="28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92" name="Line 65">
              <a:extLst>
                <a:ext uri="{FF2B5EF4-FFF2-40B4-BE49-F238E27FC236}">
                  <a16:creationId xmlns:a16="http://schemas.microsoft.com/office/drawing/2014/main" id="{2D4803C3-0E7F-3386-A624-4D943862C3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564490" y="3241027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93" name="קבוצה 192">
            <a:extLst>
              <a:ext uri="{FF2B5EF4-FFF2-40B4-BE49-F238E27FC236}">
                <a16:creationId xmlns:a16="http://schemas.microsoft.com/office/drawing/2014/main" id="{5E01EF57-5761-C131-5B47-B44F10038AB6}"/>
              </a:ext>
            </a:extLst>
          </p:cNvPr>
          <p:cNvGrpSpPr/>
          <p:nvPr/>
        </p:nvGrpSpPr>
        <p:grpSpPr>
          <a:xfrm flipV="1">
            <a:off x="4045444" y="4106722"/>
            <a:ext cx="2781938" cy="303563"/>
            <a:chOff x="4033570" y="3509602"/>
            <a:chExt cx="2781938" cy="303563"/>
          </a:xfrm>
        </p:grpSpPr>
        <p:sp>
          <p:nvSpPr>
            <p:cNvPr id="194" name="Line 62">
              <a:extLst>
                <a:ext uri="{FF2B5EF4-FFF2-40B4-BE49-F238E27FC236}">
                  <a16:creationId xmlns:a16="http://schemas.microsoft.com/office/drawing/2014/main" id="{BA6527F0-86F2-9060-CDB7-8FA7748EF1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3570" y="3810941"/>
              <a:ext cx="1095571" cy="2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95" name="Line 66">
              <a:extLst>
                <a:ext uri="{FF2B5EF4-FFF2-40B4-BE49-F238E27FC236}">
                  <a16:creationId xmlns:a16="http://schemas.microsoft.com/office/drawing/2014/main" id="{7CB7C781-7356-B213-F0FB-3A4E772E45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00058" y="3509602"/>
              <a:ext cx="161545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96" name="Line 65">
              <a:extLst>
                <a:ext uri="{FF2B5EF4-FFF2-40B4-BE49-F238E27FC236}">
                  <a16:creationId xmlns:a16="http://schemas.microsoft.com/office/drawing/2014/main" id="{922FB01F-93B5-90CF-518B-9389037BFB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012450" y="3624333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97" name="קבוצה 196">
            <a:extLst>
              <a:ext uri="{FF2B5EF4-FFF2-40B4-BE49-F238E27FC236}">
                <a16:creationId xmlns:a16="http://schemas.microsoft.com/office/drawing/2014/main" id="{6E7623FE-FEF7-0572-D780-A826AAB1DF99}"/>
              </a:ext>
            </a:extLst>
          </p:cNvPr>
          <p:cNvGrpSpPr/>
          <p:nvPr/>
        </p:nvGrpSpPr>
        <p:grpSpPr>
          <a:xfrm flipV="1">
            <a:off x="4033571" y="4110768"/>
            <a:ext cx="2781938" cy="303563"/>
            <a:chOff x="4033570" y="3893199"/>
            <a:chExt cx="2781938" cy="303563"/>
          </a:xfrm>
        </p:grpSpPr>
        <p:sp>
          <p:nvSpPr>
            <p:cNvPr id="198" name="Line 62">
              <a:extLst>
                <a:ext uri="{FF2B5EF4-FFF2-40B4-BE49-F238E27FC236}">
                  <a16:creationId xmlns:a16="http://schemas.microsoft.com/office/drawing/2014/main" id="{85AA0CBD-5653-23DD-C7A4-6C375C9E8A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3570" y="4190443"/>
              <a:ext cx="1497350" cy="63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99" name="Line 66">
              <a:extLst>
                <a:ext uri="{FF2B5EF4-FFF2-40B4-BE49-F238E27FC236}">
                  <a16:creationId xmlns:a16="http://schemas.microsoft.com/office/drawing/2014/main" id="{AD51BBC2-4113-50D4-C2C8-E7992B0CFC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01836" y="3893199"/>
              <a:ext cx="12136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00" name="Line 65">
              <a:extLst>
                <a:ext uri="{FF2B5EF4-FFF2-40B4-BE49-F238E27FC236}">
                  <a16:creationId xmlns:a16="http://schemas.microsoft.com/office/drawing/2014/main" id="{9C99CF63-25F2-07B3-C67C-BE9C044B0F3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5414228" y="4007930"/>
              <a:ext cx="301402" cy="72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201" name="Line 65">
            <a:extLst>
              <a:ext uri="{FF2B5EF4-FFF2-40B4-BE49-F238E27FC236}">
                <a16:creationId xmlns:a16="http://schemas.microsoft.com/office/drawing/2014/main" id="{6A66B355-7D0F-BAAE-2965-039FAB9DA067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5866238" y="4233777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02" name="Line 65">
            <a:extLst>
              <a:ext uri="{FF2B5EF4-FFF2-40B4-BE49-F238E27FC236}">
                <a16:creationId xmlns:a16="http://schemas.microsoft.com/office/drawing/2014/main" id="{BE596E34-5792-D9C2-E25D-DF9873F2BB78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5866238" y="4226772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03" name="Line 65">
            <a:extLst>
              <a:ext uri="{FF2B5EF4-FFF2-40B4-BE49-F238E27FC236}">
                <a16:creationId xmlns:a16="http://schemas.microsoft.com/office/drawing/2014/main" id="{ADAC047E-82D9-B17C-9C62-215BACA9E7D1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6300736" y="4227090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04" name="Line 65">
            <a:extLst>
              <a:ext uri="{FF2B5EF4-FFF2-40B4-BE49-F238E27FC236}">
                <a16:creationId xmlns:a16="http://schemas.microsoft.com/office/drawing/2014/main" id="{C454929A-D84E-C002-4918-7A01B8C3EECF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6300736" y="4220085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05" name="Line 65">
            <a:extLst>
              <a:ext uri="{FF2B5EF4-FFF2-40B4-BE49-F238E27FC236}">
                <a16:creationId xmlns:a16="http://schemas.microsoft.com/office/drawing/2014/main" id="{5DA6B226-4453-3C3E-C8F2-06FF735C6EB8}"/>
              </a:ext>
            </a:extLst>
          </p:cNvPr>
          <p:cNvSpPr>
            <a:spLocks noChangeShapeType="1"/>
          </p:cNvSpPr>
          <p:nvPr/>
        </p:nvSpPr>
        <p:spPr bwMode="auto">
          <a:xfrm rot="16200000" flipH="1" flipV="1">
            <a:off x="4143057" y="4215456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06" name="Line 65">
            <a:extLst>
              <a:ext uri="{FF2B5EF4-FFF2-40B4-BE49-F238E27FC236}">
                <a16:creationId xmlns:a16="http://schemas.microsoft.com/office/drawing/2014/main" id="{CEA6451D-87F5-DC60-7638-0FD2DB59D230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4143057" y="4208451"/>
            <a:ext cx="301402" cy="7282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07" name="Google Shape;300;p19">
            <a:extLst>
              <a:ext uri="{FF2B5EF4-FFF2-40B4-BE49-F238E27FC236}">
                <a16:creationId xmlns:a16="http://schemas.microsoft.com/office/drawing/2014/main" id="{67CD12FD-7C8F-39B5-EE8E-34DF21955B06}"/>
              </a:ext>
            </a:extLst>
          </p:cNvPr>
          <p:cNvSpPr txBox="1"/>
          <p:nvPr/>
        </p:nvSpPr>
        <p:spPr>
          <a:xfrm>
            <a:off x="4741749" y="4111097"/>
            <a:ext cx="404809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 dirty="0"/>
          </a:p>
        </p:txBody>
      </p:sp>
      <p:sp>
        <p:nvSpPr>
          <p:cNvPr id="208" name="Google Shape;300;p19">
            <a:extLst>
              <a:ext uri="{FF2B5EF4-FFF2-40B4-BE49-F238E27FC236}">
                <a16:creationId xmlns:a16="http://schemas.microsoft.com/office/drawing/2014/main" id="{4DC991EE-BF0F-1899-D387-6C3EEFDD8878}"/>
              </a:ext>
            </a:extLst>
          </p:cNvPr>
          <p:cNvSpPr txBox="1"/>
          <p:nvPr/>
        </p:nvSpPr>
        <p:spPr>
          <a:xfrm>
            <a:off x="5121023" y="4119489"/>
            <a:ext cx="404809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in0</a:t>
            </a:r>
            <a:endParaRPr sz="1000" dirty="0"/>
          </a:p>
        </p:txBody>
      </p:sp>
      <p:sp>
        <p:nvSpPr>
          <p:cNvPr id="209" name="Google Shape;300;p19">
            <a:extLst>
              <a:ext uri="{FF2B5EF4-FFF2-40B4-BE49-F238E27FC236}">
                <a16:creationId xmlns:a16="http://schemas.microsoft.com/office/drawing/2014/main" id="{4DBB8F48-C228-14CF-6137-9A15E89F3DDB}"/>
              </a:ext>
            </a:extLst>
          </p:cNvPr>
          <p:cNvSpPr txBox="1"/>
          <p:nvPr/>
        </p:nvSpPr>
        <p:spPr>
          <a:xfrm>
            <a:off x="4308222" y="4119489"/>
            <a:ext cx="404809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in2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154910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EB9E1-389D-5BB3-5426-F92D779B9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2560AD67-E47A-9A64-3DAD-0BAE2D6CA77C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dirty="0">
                <a:solidFill>
                  <a:srgbClr val="0070C0"/>
                </a:solidFill>
              </a:rPr>
              <a:t>Shift Register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781B1E5D-0E66-9C64-0F92-ED7239B5208B}"/>
              </a:ext>
            </a:extLst>
          </p:cNvPr>
          <p:cNvSpPr>
            <a:spLocks noGrp="1"/>
          </p:cNvSpPr>
          <p:nvPr/>
        </p:nvSpPr>
        <p:spPr>
          <a:xfrm>
            <a:off x="663432" y="1052428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Verilog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5" name="מלבן 74">
            <a:extLst>
              <a:ext uri="{FF2B5EF4-FFF2-40B4-BE49-F238E27FC236}">
                <a16:creationId xmlns:a16="http://schemas.microsoft.com/office/drawing/2014/main" id="{D65BE415-DA5A-3322-7922-DB416142AF11}"/>
              </a:ext>
            </a:extLst>
          </p:cNvPr>
          <p:cNvSpPr>
            <a:spLocks noGrp="1"/>
          </p:cNvSpPr>
          <p:nvPr/>
        </p:nvSpPr>
        <p:spPr>
          <a:xfrm>
            <a:off x="9501273" y="1052428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VHDL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6" name="תיבת טקסט 75">
            <a:extLst>
              <a:ext uri="{FF2B5EF4-FFF2-40B4-BE49-F238E27FC236}">
                <a16:creationId xmlns:a16="http://schemas.microsoft.com/office/drawing/2014/main" id="{C06938F7-E3D9-D52E-5718-73FEA10B28B4}"/>
              </a:ext>
            </a:extLst>
          </p:cNvPr>
          <p:cNvSpPr txBox="1"/>
          <p:nvPr/>
        </p:nvSpPr>
        <p:spPr>
          <a:xfrm>
            <a:off x="355324" y="1982158"/>
            <a:ext cx="4730782" cy="175432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wire             </a:t>
            </a:r>
            <a:r>
              <a:rPr lang="en-US" sz="1200" dirty="0" err="1"/>
              <a:t>clk</a:t>
            </a:r>
            <a:r>
              <a:rPr lang="en-US" sz="1200" dirty="0"/>
              <a:t>,       </a:t>
            </a:r>
          </a:p>
          <a:p>
            <a:r>
              <a:rPr lang="en-US" sz="1200" dirty="0"/>
              <a:t>wire             </a:t>
            </a:r>
            <a:r>
              <a:rPr lang="en-US" sz="1200" dirty="0" err="1"/>
              <a:t>rst_n</a:t>
            </a:r>
            <a:r>
              <a:rPr lang="en-US" sz="1200" dirty="0"/>
              <a:t>,     </a:t>
            </a:r>
          </a:p>
          <a:p>
            <a:r>
              <a:rPr lang="en-US" sz="1200" dirty="0"/>
              <a:t>wire             </a:t>
            </a:r>
            <a:r>
              <a:rPr lang="en-US" sz="1200" dirty="0" err="1"/>
              <a:t>shift_en</a:t>
            </a:r>
            <a:r>
              <a:rPr lang="en-US" sz="1200" dirty="0"/>
              <a:t>,  </a:t>
            </a:r>
          </a:p>
          <a:p>
            <a:r>
              <a:rPr lang="en-US" sz="1200" dirty="0"/>
              <a:t>wire             </a:t>
            </a:r>
            <a:r>
              <a:rPr lang="en-US" sz="1200" dirty="0" err="1"/>
              <a:t>serial_in</a:t>
            </a:r>
            <a:r>
              <a:rPr lang="en-US" sz="1200" dirty="0"/>
              <a:t>, </a:t>
            </a:r>
          </a:p>
          <a:p>
            <a:r>
              <a:rPr lang="en-US" sz="1200" dirty="0"/>
              <a:t>reg  [WIDTH-1:0] </a:t>
            </a:r>
            <a:r>
              <a:rPr lang="en-US" sz="1200" dirty="0" err="1"/>
              <a:t>data_out</a:t>
            </a:r>
            <a:r>
              <a:rPr lang="en-US" sz="1200" dirty="0"/>
              <a:t>   </a:t>
            </a:r>
          </a:p>
          <a:p>
            <a:endParaRPr lang="en-US" sz="1200" dirty="0"/>
          </a:p>
          <a:p>
            <a:r>
              <a:rPr lang="en-US" sz="1200" dirty="0"/>
              <a:t>always @(posedge </a:t>
            </a:r>
            <a:r>
              <a:rPr lang="en-US" sz="1200" dirty="0" err="1"/>
              <a:t>clk</a:t>
            </a:r>
            <a:r>
              <a:rPr lang="en-US" sz="1200" dirty="0"/>
              <a:t> or </a:t>
            </a:r>
            <a:r>
              <a:rPr lang="en-US" sz="1200" dirty="0" err="1"/>
              <a:t>negedge</a:t>
            </a:r>
            <a:r>
              <a:rPr lang="en-US" sz="1200" dirty="0"/>
              <a:t> </a:t>
            </a:r>
            <a:r>
              <a:rPr lang="en-US" sz="1200" dirty="0" err="1"/>
              <a:t>rst_n</a:t>
            </a:r>
            <a:r>
              <a:rPr lang="en-US" sz="1200" dirty="0"/>
              <a:t>) </a:t>
            </a:r>
          </a:p>
          <a:p>
            <a:r>
              <a:rPr lang="en-US" sz="1200" dirty="0"/>
              <a:t>    if (!</a:t>
            </a:r>
            <a:r>
              <a:rPr lang="en-US" sz="1200" dirty="0" err="1"/>
              <a:t>rst_n</a:t>
            </a:r>
            <a:r>
              <a:rPr lang="en-US" sz="1200" dirty="0"/>
              <a:t>) </a:t>
            </a:r>
            <a:r>
              <a:rPr lang="en-US" sz="1200" dirty="0" err="1"/>
              <a:t>data_out</a:t>
            </a:r>
            <a:r>
              <a:rPr lang="en-US" sz="1200" dirty="0"/>
              <a:t> &lt;= {WIDTH{1'b0}}; </a:t>
            </a:r>
          </a:p>
          <a:p>
            <a:r>
              <a:rPr lang="en-US" sz="1200" dirty="0"/>
              <a:t>     else if (</a:t>
            </a:r>
            <a:r>
              <a:rPr lang="en-US" sz="1200" dirty="0" err="1"/>
              <a:t>shift_en</a:t>
            </a:r>
            <a:r>
              <a:rPr lang="en-US" sz="1200" dirty="0"/>
              <a:t>) </a:t>
            </a:r>
            <a:r>
              <a:rPr lang="en-US" sz="1200" dirty="0" err="1"/>
              <a:t>data_out</a:t>
            </a:r>
            <a:r>
              <a:rPr lang="en-US" sz="1200" dirty="0"/>
              <a:t> &lt;= {</a:t>
            </a:r>
            <a:r>
              <a:rPr lang="en-US" sz="1200" dirty="0" err="1"/>
              <a:t>data_out</a:t>
            </a:r>
            <a:r>
              <a:rPr lang="en-US" sz="1200" dirty="0"/>
              <a:t>[WIDTH-2:0], </a:t>
            </a:r>
            <a:r>
              <a:rPr lang="en-US" sz="1200" dirty="0" err="1"/>
              <a:t>serial_in</a:t>
            </a:r>
            <a:r>
              <a:rPr lang="en-US" sz="1200" dirty="0"/>
              <a:t>};</a:t>
            </a:r>
            <a:endParaRPr lang="he-IL" sz="1200" dirty="0"/>
          </a:p>
        </p:txBody>
      </p:sp>
      <p:sp>
        <p:nvSpPr>
          <p:cNvPr id="77" name="תיבת טקסט 76">
            <a:extLst>
              <a:ext uri="{FF2B5EF4-FFF2-40B4-BE49-F238E27FC236}">
                <a16:creationId xmlns:a16="http://schemas.microsoft.com/office/drawing/2014/main" id="{7DD5BFCB-F07A-1474-7AB8-A4194D499E18}"/>
              </a:ext>
            </a:extLst>
          </p:cNvPr>
          <p:cNvSpPr txBox="1"/>
          <p:nvPr/>
        </p:nvSpPr>
        <p:spPr>
          <a:xfrm>
            <a:off x="7259374" y="1935991"/>
            <a:ext cx="4172937" cy="36009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signal </a:t>
            </a:r>
            <a:r>
              <a:rPr lang="en-US" sz="1200" dirty="0" err="1"/>
              <a:t>clk</a:t>
            </a:r>
            <a:r>
              <a:rPr lang="en-US" sz="1200" dirty="0"/>
              <a:t>       :  </a:t>
            </a:r>
            <a:r>
              <a:rPr lang="en-US" sz="1200" dirty="0" err="1"/>
              <a:t>std_logic</a:t>
            </a:r>
            <a:r>
              <a:rPr lang="en-US" sz="1200" dirty="0"/>
              <a:t>;                            </a:t>
            </a:r>
          </a:p>
          <a:p>
            <a:r>
              <a:rPr lang="en-US" sz="1200" dirty="0"/>
              <a:t>signal </a:t>
            </a:r>
            <a:r>
              <a:rPr lang="en-US" sz="1200" dirty="0" err="1"/>
              <a:t>rst_n</a:t>
            </a:r>
            <a:r>
              <a:rPr lang="en-US" sz="1200" dirty="0"/>
              <a:t>     :  </a:t>
            </a:r>
            <a:r>
              <a:rPr lang="en-US" sz="1200" dirty="0" err="1"/>
              <a:t>std_logic</a:t>
            </a:r>
            <a:r>
              <a:rPr lang="en-US" sz="1200" dirty="0"/>
              <a:t>;                            </a:t>
            </a:r>
          </a:p>
          <a:p>
            <a:r>
              <a:rPr lang="en-US" sz="1200" dirty="0"/>
              <a:t>signal </a:t>
            </a:r>
            <a:r>
              <a:rPr lang="en-US" sz="1200" dirty="0" err="1"/>
              <a:t>shift_en</a:t>
            </a:r>
            <a:r>
              <a:rPr lang="en-US" sz="1200" dirty="0"/>
              <a:t>  :  </a:t>
            </a:r>
            <a:r>
              <a:rPr lang="en-US" sz="1200" dirty="0" err="1"/>
              <a:t>std_logic</a:t>
            </a:r>
            <a:r>
              <a:rPr lang="en-US" sz="1200" dirty="0"/>
              <a:t>;                            </a:t>
            </a:r>
          </a:p>
          <a:p>
            <a:r>
              <a:rPr lang="en-US" sz="1200" dirty="0"/>
              <a:t>signal </a:t>
            </a:r>
            <a:r>
              <a:rPr lang="en-US" sz="1200" dirty="0" err="1"/>
              <a:t>serial_in</a:t>
            </a:r>
            <a:r>
              <a:rPr lang="en-US" sz="1200" dirty="0"/>
              <a:t> :  </a:t>
            </a:r>
            <a:r>
              <a:rPr lang="en-US" sz="1200" dirty="0" err="1"/>
              <a:t>std_logic</a:t>
            </a:r>
            <a:r>
              <a:rPr lang="en-US" sz="1200" dirty="0"/>
              <a:t>;                            </a:t>
            </a:r>
          </a:p>
          <a:p>
            <a:r>
              <a:rPr lang="en-US" sz="1200" dirty="0"/>
              <a:t>signal </a:t>
            </a:r>
            <a:r>
              <a:rPr lang="en-US" sz="1200" dirty="0" err="1"/>
              <a:t>data_out</a:t>
            </a:r>
            <a:r>
              <a:rPr lang="en-US" sz="1200" dirty="0"/>
              <a:t>  :  </a:t>
            </a:r>
            <a:r>
              <a:rPr lang="en-US" sz="1200" dirty="0" err="1"/>
              <a:t>std_logic_vector</a:t>
            </a:r>
            <a:r>
              <a:rPr lang="en-US" sz="1200" dirty="0"/>
              <a:t>(WIDTH-1 </a:t>
            </a:r>
            <a:r>
              <a:rPr lang="en-US" sz="1200" dirty="0" err="1"/>
              <a:t>downto</a:t>
            </a:r>
            <a:r>
              <a:rPr lang="en-US" sz="1200" dirty="0"/>
              <a:t> 0);    </a:t>
            </a:r>
          </a:p>
          <a:p>
            <a:r>
              <a:rPr lang="en-US" sz="1200" dirty="0"/>
              <a:t>signal </a:t>
            </a:r>
            <a:r>
              <a:rPr lang="en-US" sz="1200" dirty="0" err="1"/>
              <a:t>r_shift</a:t>
            </a:r>
            <a:r>
              <a:rPr lang="en-US" sz="1200" dirty="0"/>
              <a:t> : </a:t>
            </a:r>
            <a:r>
              <a:rPr lang="en-US" sz="1200" dirty="0" err="1"/>
              <a:t>std_logic_vector</a:t>
            </a:r>
            <a:r>
              <a:rPr lang="en-US" sz="1200" dirty="0"/>
              <a:t>(WIDTH-1 </a:t>
            </a:r>
            <a:r>
              <a:rPr lang="en-US" sz="1200" dirty="0" err="1"/>
              <a:t>downto</a:t>
            </a:r>
            <a:r>
              <a:rPr lang="en-US" sz="1200" dirty="0"/>
              <a:t> 0);</a:t>
            </a:r>
          </a:p>
          <a:p>
            <a:endParaRPr lang="en-US" sz="1200" dirty="0"/>
          </a:p>
          <a:p>
            <a:r>
              <a:rPr lang="en-US" sz="1200" dirty="0" err="1"/>
              <a:t>shift_process</a:t>
            </a:r>
            <a:r>
              <a:rPr lang="en-US" sz="1200" dirty="0"/>
              <a:t> : process(</a:t>
            </a:r>
            <a:r>
              <a:rPr lang="en-US" sz="1200" dirty="0" err="1"/>
              <a:t>clk</a:t>
            </a:r>
            <a:r>
              <a:rPr lang="en-US" sz="1200" dirty="0"/>
              <a:t>, </a:t>
            </a:r>
            <a:r>
              <a:rPr lang="en-US" sz="1200" dirty="0" err="1"/>
              <a:t>rst_n</a:t>
            </a:r>
            <a:r>
              <a:rPr lang="en-US" sz="1200" dirty="0"/>
              <a:t>)</a:t>
            </a:r>
          </a:p>
          <a:p>
            <a:r>
              <a:rPr lang="en-US" sz="1200" dirty="0"/>
              <a:t>begin</a:t>
            </a:r>
          </a:p>
          <a:p>
            <a:r>
              <a:rPr lang="en-US" sz="1200" dirty="0"/>
              <a:t>    if </a:t>
            </a:r>
            <a:r>
              <a:rPr lang="en-US" sz="1200" dirty="0" err="1"/>
              <a:t>rst_n</a:t>
            </a:r>
            <a:r>
              <a:rPr lang="en-US" sz="1200" dirty="0"/>
              <a:t> = '0' then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r_shift</a:t>
            </a:r>
            <a:r>
              <a:rPr lang="en-US" sz="1200" dirty="0"/>
              <a:t> &lt;= (others =&gt; '0'); -- Clear all register stages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elsif</a:t>
            </a:r>
            <a:r>
              <a:rPr lang="en-US" sz="1200" dirty="0"/>
              <a:t> </a:t>
            </a:r>
            <a:r>
              <a:rPr lang="en-US" sz="1200" dirty="0" err="1"/>
              <a:t>rising_edge</a:t>
            </a:r>
            <a:r>
              <a:rPr lang="en-US" sz="1200" dirty="0"/>
              <a:t>(</a:t>
            </a:r>
            <a:r>
              <a:rPr lang="en-US" sz="1200" dirty="0" err="1"/>
              <a:t>clk</a:t>
            </a:r>
            <a:r>
              <a:rPr lang="en-US" sz="1200" dirty="0"/>
              <a:t>) then</a:t>
            </a:r>
          </a:p>
          <a:p>
            <a:r>
              <a:rPr lang="en-US" sz="1200" dirty="0"/>
              <a:t>        if </a:t>
            </a:r>
            <a:r>
              <a:rPr lang="en-US" sz="1200" dirty="0" err="1"/>
              <a:t>shift_en</a:t>
            </a:r>
            <a:r>
              <a:rPr lang="en-US" sz="1200" dirty="0"/>
              <a:t> = '1' then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r_shift</a:t>
            </a:r>
            <a:r>
              <a:rPr lang="en-US" sz="1200" dirty="0"/>
              <a:t> &lt;= </a:t>
            </a:r>
            <a:r>
              <a:rPr lang="en-US" sz="1200" dirty="0" err="1"/>
              <a:t>r_shift</a:t>
            </a:r>
            <a:r>
              <a:rPr lang="en-US" sz="1200" dirty="0"/>
              <a:t>(WIDTH-2 </a:t>
            </a:r>
            <a:r>
              <a:rPr lang="en-US" sz="1200" dirty="0" err="1"/>
              <a:t>downto</a:t>
            </a:r>
            <a:r>
              <a:rPr lang="en-US" sz="1200" dirty="0"/>
              <a:t> 0) &amp; </a:t>
            </a:r>
            <a:r>
              <a:rPr lang="en-US" sz="1200" dirty="0" err="1"/>
              <a:t>serial_in</a:t>
            </a:r>
            <a:r>
              <a:rPr lang="en-US" sz="1200" dirty="0"/>
              <a:t> ;</a:t>
            </a:r>
          </a:p>
          <a:p>
            <a:r>
              <a:rPr lang="en-US" sz="1200" dirty="0"/>
              <a:t>        end if;</a:t>
            </a:r>
          </a:p>
          <a:p>
            <a:r>
              <a:rPr lang="en-US" sz="1200" dirty="0"/>
              <a:t>    end if;</a:t>
            </a:r>
          </a:p>
          <a:p>
            <a:r>
              <a:rPr lang="en-US" sz="1200" dirty="0"/>
              <a:t>end process </a:t>
            </a:r>
            <a:r>
              <a:rPr lang="en-US" sz="1200" dirty="0" err="1"/>
              <a:t>shift_process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 err="1"/>
              <a:t>data_out</a:t>
            </a:r>
            <a:r>
              <a:rPr lang="en-US" sz="1200" dirty="0"/>
              <a:t> &lt;= </a:t>
            </a:r>
            <a:r>
              <a:rPr lang="en-US" sz="1200" dirty="0" err="1"/>
              <a:t>r_shift</a:t>
            </a:r>
            <a:r>
              <a:rPr lang="en-US" sz="1200" dirty="0"/>
              <a:t>;</a:t>
            </a:r>
          </a:p>
        </p:txBody>
      </p:sp>
      <p:sp>
        <p:nvSpPr>
          <p:cNvPr id="21" name="Text Box 51">
            <a:extLst>
              <a:ext uri="{FF2B5EF4-FFF2-40B4-BE49-F238E27FC236}">
                <a16:creationId xmlns:a16="http://schemas.microsoft.com/office/drawing/2014/main" id="{E53A3496-23F6-8196-10AD-CBF5692F0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238" y="558411"/>
            <a:ext cx="140615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he-IL" sz="1200" dirty="0"/>
              <a:t>Reg [7:0] counter </a:t>
            </a:r>
          </a:p>
        </p:txBody>
      </p:sp>
      <p:sp>
        <p:nvSpPr>
          <p:cNvPr id="50" name="Line 53">
            <a:extLst>
              <a:ext uri="{FF2B5EF4-FFF2-40B4-BE49-F238E27FC236}">
                <a16:creationId xmlns:a16="http://schemas.microsoft.com/office/drawing/2014/main" id="{11896E7F-0FDD-25D5-E4C4-1700DA3DFD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00413" y="1686877"/>
            <a:ext cx="21530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1" name="Line 54">
            <a:extLst>
              <a:ext uri="{FF2B5EF4-FFF2-40B4-BE49-F238E27FC236}">
                <a16:creationId xmlns:a16="http://schemas.microsoft.com/office/drawing/2014/main" id="{AD2B2B67-ABBF-7482-A5E1-9EDF2510ED7C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693058" y="1579523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2" name="Line 55">
            <a:extLst>
              <a:ext uri="{FF2B5EF4-FFF2-40B4-BE49-F238E27FC236}">
                <a16:creationId xmlns:a16="http://schemas.microsoft.com/office/drawing/2014/main" id="{DAAED161-17A4-F4C2-C07E-5A33769B2F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3918" y="1470977"/>
            <a:ext cx="21530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3" name="Line 56">
            <a:extLst>
              <a:ext uri="{FF2B5EF4-FFF2-40B4-BE49-F238E27FC236}">
                <a16:creationId xmlns:a16="http://schemas.microsoft.com/office/drawing/2014/main" id="{86021B2F-2055-D336-34F3-9CC8766584E5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476563" y="1579523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grpSp>
        <p:nvGrpSpPr>
          <p:cNvPr id="54" name="Group 57">
            <a:extLst>
              <a:ext uri="{FF2B5EF4-FFF2-40B4-BE49-F238E27FC236}">
                <a16:creationId xmlns:a16="http://schemas.microsoft.com/office/drawing/2014/main" id="{169EBD11-6F80-A574-3568-E6A7477D72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015718" y="1470977"/>
            <a:ext cx="431800" cy="215900"/>
            <a:chOff x="2109" y="3294"/>
            <a:chExt cx="363" cy="181"/>
          </a:xfrm>
        </p:grpSpPr>
        <p:sp>
          <p:nvSpPr>
            <p:cNvPr id="55" name="Line 58">
              <a:extLst>
                <a:ext uri="{FF2B5EF4-FFF2-40B4-BE49-F238E27FC236}">
                  <a16:creationId xmlns:a16="http://schemas.microsoft.com/office/drawing/2014/main" id="{B8BE88BC-A661-3FC1-D164-31EE61234B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47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6" name="Line 59">
              <a:extLst>
                <a:ext uri="{FF2B5EF4-FFF2-40B4-BE49-F238E27FC236}">
                  <a16:creationId xmlns:a16="http://schemas.microsoft.com/office/drawing/2014/main" id="{31605C4C-5E63-A887-5EE2-19293689E9D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99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7" name="Line 60">
              <a:extLst>
                <a:ext uri="{FF2B5EF4-FFF2-40B4-BE49-F238E27FC236}">
                  <a16:creationId xmlns:a16="http://schemas.microsoft.com/office/drawing/2014/main" id="{17D550C0-9396-B264-7E37-5831606E2C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29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8" name="Line 61">
              <a:extLst>
                <a:ext uri="{FF2B5EF4-FFF2-40B4-BE49-F238E27FC236}">
                  <a16:creationId xmlns:a16="http://schemas.microsoft.com/office/drawing/2014/main" id="{AB33DA31-02D8-D181-EBA7-CE580EFE489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1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59" name="Line 62">
            <a:extLst>
              <a:ext uri="{FF2B5EF4-FFF2-40B4-BE49-F238E27FC236}">
                <a16:creationId xmlns:a16="http://schemas.microsoft.com/office/drawing/2014/main" id="{FB9C8ACF-E98F-CF82-A3F0-7B1C988AB3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1131" y="1381861"/>
            <a:ext cx="914523" cy="519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0" name="Line 63">
            <a:extLst>
              <a:ext uri="{FF2B5EF4-FFF2-40B4-BE49-F238E27FC236}">
                <a16:creationId xmlns:a16="http://schemas.microsoft.com/office/drawing/2014/main" id="{B3237354-1D83-4F7F-9335-E166A91C551F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473182" y="1279104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1" name="Line 64">
            <a:extLst>
              <a:ext uri="{FF2B5EF4-FFF2-40B4-BE49-F238E27FC236}">
                <a16:creationId xmlns:a16="http://schemas.microsoft.com/office/drawing/2014/main" id="{3AB9F2EF-8E35-0EC7-2FAA-127C08D7F4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5232" y="1171154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2" name="Line 65">
            <a:extLst>
              <a:ext uri="{FF2B5EF4-FFF2-40B4-BE49-F238E27FC236}">
                <a16:creationId xmlns:a16="http://schemas.microsoft.com/office/drawing/2014/main" id="{68AC2875-0694-CE2D-1572-5520FA0D0778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3387721" y="1279104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3" name="Line 66">
            <a:extLst>
              <a:ext uri="{FF2B5EF4-FFF2-40B4-BE49-F238E27FC236}">
                <a16:creationId xmlns:a16="http://schemas.microsoft.com/office/drawing/2014/main" id="{4D516A7C-6EE7-5B7E-7527-210AD0BEBB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5670" y="1165961"/>
            <a:ext cx="1654657" cy="519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85" name="תיבת טקסט 84">
            <a:extLst>
              <a:ext uri="{FF2B5EF4-FFF2-40B4-BE49-F238E27FC236}">
                <a16:creationId xmlns:a16="http://schemas.microsoft.com/office/drawing/2014/main" id="{4FE18D53-A459-5E50-B605-B42401A3DC31}"/>
              </a:ext>
            </a:extLst>
          </p:cNvPr>
          <p:cNvSpPr txBox="1"/>
          <p:nvPr/>
        </p:nvSpPr>
        <p:spPr>
          <a:xfrm>
            <a:off x="5111171" y="1052428"/>
            <a:ext cx="441146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200" dirty="0" err="1"/>
              <a:t>rstn</a:t>
            </a:r>
            <a:endParaRPr lang="en-US" sz="1200" dirty="0"/>
          </a:p>
          <a:p>
            <a:pPr algn="ctr"/>
            <a:r>
              <a:rPr lang="en-US" sz="1200" dirty="0" err="1"/>
              <a:t>clk</a:t>
            </a:r>
            <a:endParaRPr lang="he-IL" sz="1200" dirty="0"/>
          </a:p>
        </p:txBody>
      </p:sp>
      <p:sp>
        <p:nvSpPr>
          <p:cNvPr id="101" name="Rectangle 50">
            <a:extLst>
              <a:ext uri="{FF2B5EF4-FFF2-40B4-BE49-F238E27FC236}">
                <a16:creationId xmlns:a16="http://schemas.microsoft.com/office/drawing/2014/main" id="{499E9CBE-F04D-BED3-8549-C3BAF2001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943" y="838200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2" name="Rectangle 50">
            <a:extLst>
              <a:ext uri="{FF2B5EF4-FFF2-40B4-BE49-F238E27FC236}">
                <a16:creationId xmlns:a16="http://schemas.microsoft.com/office/drawing/2014/main" id="{9FBF79AF-9C4B-DA1F-C69F-9950BE4CB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421" y="837980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3" name="Rectangle 50">
            <a:extLst>
              <a:ext uri="{FF2B5EF4-FFF2-40B4-BE49-F238E27FC236}">
                <a16:creationId xmlns:a16="http://schemas.microsoft.com/office/drawing/2014/main" id="{CDF9A7A0-51B0-F2A6-C111-1E8CDF32A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4" y="839069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4" name="Rectangle 50">
            <a:extLst>
              <a:ext uri="{FF2B5EF4-FFF2-40B4-BE49-F238E27FC236}">
                <a16:creationId xmlns:a16="http://schemas.microsoft.com/office/drawing/2014/main" id="{DDF988DD-645B-996E-EFB9-93E0F8397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662" y="838849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5" name="Rectangle 50">
            <a:extLst>
              <a:ext uri="{FF2B5EF4-FFF2-40B4-BE49-F238E27FC236}">
                <a16:creationId xmlns:a16="http://schemas.microsoft.com/office/drawing/2014/main" id="{4144A56C-D86E-1014-30DD-52EA8EAAB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743" y="838222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6" name="Rectangle 50">
            <a:extLst>
              <a:ext uri="{FF2B5EF4-FFF2-40B4-BE49-F238E27FC236}">
                <a16:creationId xmlns:a16="http://schemas.microsoft.com/office/drawing/2014/main" id="{704B766E-B6C2-3D58-2915-E80C362BC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3221" y="838002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7" name="Rectangle 50">
            <a:extLst>
              <a:ext uri="{FF2B5EF4-FFF2-40B4-BE49-F238E27FC236}">
                <a16:creationId xmlns:a16="http://schemas.microsoft.com/office/drawing/2014/main" id="{1FB7E197-1A58-36E4-D9B3-7B928E794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1984" y="839091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8" name="Rectangle 50">
            <a:extLst>
              <a:ext uri="{FF2B5EF4-FFF2-40B4-BE49-F238E27FC236}">
                <a16:creationId xmlns:a16="http://schemas.microsoft.com/office/drawing/2014/main" id="{F18FE954-0778-20B0-7733-CE6570D15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462" y="838871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grpSp>
        <p:nvGrpSpPr>
          <p:cNvPr id="154" name="Group 57">
            <a:extLst>
              <a:ext uri="{FF2B5EF4-FFF2-40B4-BE49-F238E27FC236}">
                <a16:creationId xmlns:a16="http://schemas.microsoft.com/office/drawing/2014/main" id="{A5CEB3DC-4500-CE6B-0B1C-4C57E745AC5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445732" y="1475960"/>
            <a:ext cx="431800" cy="215900"/>
            <a:chOff x="2109" y="3294"/>
            <a:chExt cx="363" cy="181"/>
          </a:xfrm>
        </p:grpSpPr>
        <p:sp>
          <p:nvSpPr>
            <p:cNvPr id="155" name="Line 58">
              <a:extLst>
                <a:ext uri="{FF2B5EF4-FFF2-40B4-BE49-F238E27FC236}">
                  <a16:creationId xmlns:a16="http://schemas.microsoft.com/office/drawing/2014/main" id="{3750C5B2-E124-6411-880B-D3ADAD421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47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6" name="Line 59">
              <a:extLst>
                <a:ext uri="{FF2B5EF4-FFF2-40B4-BE49-F238E27FC236}">
                  <a16:creationId xmlns:a16="http://schemas.microsoft.com/office/drawing/2014/main" id="{D5E21922-3A19-FA8A-11B6-D1EB7D85BFC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99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7" name="Line 60">
              <a:extLst>
                <a:ext uri="{FF2B5EF4-FFF2-40B4-BE49-F238E27FC236}">
                  <a16:creationId xmlns:a16="http://schemas.microsoft.com/office/drawing/2014/main" id="{F074BFFC-DCA5-5A36-BAD2-8F0156C3A7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29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8" name="Line 61">
              <a:extLst>
                <a:ext uri="{FF2B5EF4-FFF2-40B4-BE49-F238E27FC236}">
                  <a16:creationId xmlns:a16="http://schemas.microsoft.com/office/drawing/2014/main" id="{5D78056E-32FF-20FC-0A66-966B16A157B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1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59" name="Group 57">
            <a:extLst>
              <a:ext uri="{FF2B5EF4-FFF2-40B4-BE49-F238E27FC236}">
                <a16:creationId xmlns:a16="http://schemas.microsoft.com/office/drawing/2014/main" id="{63A3CCC5-A5C2-57CD-21B7-053A1640911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869506" y="1476170"/>
            <a:ext cx="431800" cy="215900"/>
            <a:chOff x="2109" y="3294"/>
            <a:chExt cx="363" cy="181"/>
          </a:xfrm>
        </p:grpSpPr>
        <p:sp>
          <p:nvSpPr>
            <p:cNvPr id="160" name="Line 58">
              <a:extLst>
                <a:ext uri="{FF2B5EF4-FFF2-40B4-BE49-F238E27FC236}">
                  <a16:creationId xmlns:a16="http://schemas.microsoft.com/office/drawing/2014/main" id="{51AF6DF4-B47D-B1E7-0674-72198D9AC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47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1" name="Line 59">
              <a:extLst>
                <a:ext uri="{FF2B5EF4-FFF2-40B4-BE49-F238E27FC236}">
                  <a16:creationId xmlns:a16="http://schemas.microsoft.com/office/drawing/2014/main" id="{0C06B822-02C1-FEAF-DDF7-2828FD2E0C5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99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2" name="Line 60">
              <a:extLst>
                <a:ext uri="{FF2B5EF4-FFF2-40B4-BE49-F238E27FC236}">
                  <a16:creationId xmlns:a16="http://schemas.microsoft.com/office/drawing/2014/main" id="{F4282BF9-76C0-F2E6-90A2-8930E71996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29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3" name="Line 61">
              <a:extLst>
                <a:ext uri="{FF2B5EF4-FFF2-40B4-BE49-F238E27FC236}">
                  <a16:creationId xmlns:a16="http://schemas.microsoft.com/office/drawing/2014/main" id="{73B12211-D3ED-E7BC-3F3E-69BE5DA21C6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1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85" name="Group 57">
            <a:extLst>
              <a:ext uri="{FF2B5EF4-FFF2-40B4-BE49-F238E27FC236}">
                <a16:creationId xmlns:a16="http://schemas.microsoft.com/office/drawing/2014/main" id="{B7F34321-98FF-9BB3-0D62-BBE7290B655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289708" y="1480098"/>
            <a:ext cx="431800" cy="215900"/>
            <a:chOff x="2109" y="3294"/>
            <a:chExt cx="363" cy="181"/>
          </a:xfrm>
        </p:grpSpPr>
        <p:sp>
          <p:nvSpPr>
            <p:cNvPr id="186" name="Line 58">
              <a:extLst>
                <a:ext uri="{FF2B5EF4-FFF2-40B4-BE49-F238E27FC236}">
                  <a16:creationId xmlns:a16="http://schemas.microsoft.com/office/drawing/2014/main" id="{0ED6AA6E-14AB-585D-4424-AF838011A3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47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7" name="Line 59">
              <a:extLst>
                <a:ext uri="{FF2B5EF4-FFF2-40B4-BE49-F238E27FC236}">
                  <a16:creationId xmlns:a16="http://schemas.microsoft.com/office/drawing/2014/main" id="{1FF51A26-008D-9F0F-8EBA-A325A43505F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99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8" name="Line 60">
              <a:extLst>
                <a:ext uri="{FF2B5EF4-FFF2-40B4-BE49-F238E27FC236}">
                  <a16:creationId xmlns:a16="http://schemas.microsoft.com/office/drawing/2014/main" id="{61EBDE38-B335-392F-A2EE-A4CA9C5FF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29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9" name="Line 61">
              <a:extLst>
                <a:ext uri="{FF2B5EF4-FFF2-40B4-BE49-F238E27FC236}">
                  <a16:creationId xmlns:a16="http://schemas.microsoft.com/office/drawing/2014/main" id="{E108686C-D959-8F6B-E95B-2DEB72945F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1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90" name="Group 57">
            <a:extLst>
              <a:ext uri="{FF2B5EF4-FFF2-40B4-BE49-F238E27FC236}">
                <a16:creationId xmlns:a16="http://schemas.microsoft.com/office/drawing/2014/main" id="{52531FFA-150F-2390-B8B0-025EC7DF167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718531" y="1480098"/>
            <a:ext cx="431800" cy="215900"/>
            <a:chOff x="2109" y="3294"/>
            <a:chExt cx="363" cy="181"/>
          </a:xfrm>
        </p:grpSpPr>
        <p:sp>
          <p:nvSpPr>
            <p:cNvPr id="191" name="Line 58">
              <a:extLst>
                <a:ext uri="{FF2B5EF4-FFF2-40B4-BE49-F238E27FC236}">
                  <a16:creationId xmlns:a16="http://schemas.microsoft.com/office/drawing/2014/main" id="{9B8D1F0E-171D-E241-883C-48F8C4482B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47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92" name="Line 59">
              <a:extLst>
                <a:ext uri="{FF2B5EF4-FFF2-40B4-BE49-F238E27FC236}">
                  <a16:creationId xmlns:a16="http://schemas.microsoft.com/office/drawing/2014/main" id="{0BE867BB-21B8-D64C-EDA0-BB06F76A773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99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93" name="Line 60">
              <a:extLst>
                <a:ext uri="{FF2B5EF4-FFF2-40B4-BE49-F238E27FC236}">
                  <a16:creationId xmlns:a16="http://schemas.microsoft.com/office/drawing/2014/main" id="{C0947076-8881-3A2A-9289-E6B36C422D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29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94" name="Line 61">
              <a:extLst>
                <a:ext uri="{FF2B5EF4-FFF2-40B4-BE49-F238E27FC236}">
                  <a16:creationId xmlns:a16="http://schemas.microsoft.com/office/drawing/2014/main" id="{A4DABEA0-A6D6-9B0D-889A-AD215F7977E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1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195" name="Line 53">
            <a:extLst>
              <a:ext uri="{FF2B5EF4-FFF2-40B4-BE49-F238E27FC236}">
                <a16:creationId xmlns:a16="http://schemas.microsoft.com/office/drawing/2014/main" id="{1B29771F-DAAF-C528-B8E7-6F3D3943C2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7024" y="1686877"/>
            <a:ext cx="21530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graphicFrame>
        <p:nvGraphicFramePr>
          <p:cNvPr id="6" name="טבלה 5">
            <a:extLst>
              <a:ext uri="{FF2B5EF4-FFF2-40B4-BE49-F238E27FC236}">
                <a16:creationId xmlns:a16="http://schemas.microsoft.com/office/drawing/2014/main" id="{D3971F47-AA37-FF57-3F5B-BAEC61A88630}"/>
              </a:ext>
            </a:extLst>
          </p:cNvPr>
          <p:cNvGraphicFramePr>
            <a:graphicFrameLocks noGrp="1"/>
          </p:cNvGraphicFramePr>
          <p:nvPr/>
        </p:nvGraphicFramePr>
        <p:xfrm>
          <a:off x="5579345" y="1686877"/>
          <a:ext cx="1117600" cy="723900"/>
        </p:xfrm>
        <a:graphic>
          <a:graphicData uri="http://schemas.openxmlformats.org/drawingml/2006/table">
            <a:tbl>
              <a:tblPr rtl="1"/>
              <a:tblGrid>
                <a:gridCol w="279400">
                  <a:extLst>
                    <a:ext uri="{9D8B030D-6E8A-4147-A177-3AD203B41FA5}">
                      <a16:colId xmlns:a16="http://schemas.microsoft.com/office/drawing/2014/main" val="323227028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97758503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100906077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93923705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19974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02766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10819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7197"/>
                  </a:ext>
                </a:extLst>
              </a:tr>
            </a:tbl>
          </a:graphicData>
        </a:graphic>
      </p:graphicFrame>
      <p:sp>
        <p:nvSpPr>
          <p:cNvPr id="3" name="Google Shape;300;p19">
            <a:extLst>
              <a:ext uri="{FF2B5EF4-FFF2-40B4-BE49-F238E27FC236}">
                <a16:creationId xmlns:a16="http://schemas.microsoft.com/office/drawing/2014/main" id="{C8678629-EA46-FD92-2621-044183FD9E3F}"/>
              </a:ext>
            </a:extLst>
          </p:cNvPr>
          <p:cNvSpPr txBox="1"/>
          <p:nvPr/>
        </p:nvSpPr>
        <p:spPr>
          <a:xfrm>
            <a:off x="4298830" y="4111097"/>
            <a:ext cx="404809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1178880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9DE71-A548-7D80-54AD-30E09E37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0AD8E6E3-04B8-072F-F67E-7D7943D56C79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dirty="0">
                <a:solidFill>
                  <a:srgbClr val="0070C0"/>
                </a:solidFill>
              </a:rPr>
              <a:t>counter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10D7A3AA-172F-ABF6-1F22-FCD93B424929}"/>
              </a:ext>
            </a:extLst>
          </p:cNvPr>
          <p:cNvSpPr>
            <a:spLocks noGrp="1"/>
          </p:cNvSpPr>
          <p:nvPr/>
        </p:nvSpPr>
        <p:spPr>
          <a:xfrm>
            <a:off x="663432" y="1052428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Verilog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5" name="מלבן 74">
            <a:extLst>
              <a:ext uri="{FF2B5EF4-FFF2-40B4-BE49-F238E27FC236}">
                <a16:creationId xmlns:a16="http://schemas.microsoft.com/office/drawing/2014/main" id="{2FB67EF7-9958-17D0-78D8-6010BB83195A}"/>
              </a:ext>
            </a:extLst>
          </p:cNvPr>
          <p:cNvSpPr>
            <a:spLocks noGrp="1"/>
          </p:cNvSpPr>
          <p:nvPr/>
        </p:nvSpPr>
        <p:spPr>
          <a:xfrm>
            <a:off x="9501273" y="1052428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VHDL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6" name="תיבת טקסט 75">
            <a:extLst>
              <a:ext uri="{FF2B5EF4-FFF2-40B4-BE49-F238E27FC236}">
                <a16:creationId xmlns:a16="http://schemas.microsoft.com/office/drawing/2014/main" id="{4BEAF8CF-BE53-1BBD-C47A-CB1F367A9000}"/>
              </a:ext>
            </a:extLst>
          </p:cNvPr>
          <p:cNvSpPr txBox="1"/>
          <p:nvPr/>
        </p:nvSpPr>
        <p:spPr>
          <a:xfrm>
            <a:off x="355324" y="1982158"/>
            <a:ext cx="3140603" cy="156966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wire             </a:t>
            </a:r>
            <a:r>
              <a:rPr lang="en-US" sz="1200" dirty="0" err="1"/>
              <a:t>clk</a:t>
            </a:r>
            <a:r>
              <a:rPr lang="en-US" sz="1200" dirty="0"/>
              <a:t>,      </a:t>
            </a:r>
          </a:p>
          <a:p>
            <a:r>
              <a:rPr lang="en-US" sz="1200" dirty="0"/>
              <a:t>wire             </a:t>
            </a:r>
            <a:r>
              <a:rPr lang="en-US" sz="1200" dirty="0" err="1"/>
              <a:t>rstn</a:t>
            </a:r>
            <a:r>
              <a:rPr lang="en-US" sz="1200" dirty="0"/>
              <a:t>,    </a:t>
            </a:r>
          </a:p>
          <a:p>
            <a:r>
              <a:rPr lang="en-US" sz="1200" dirty="0"/>
              <a:t>wire             </a:t>
            </a:r>
            <a:r>
              <a:rPr lang="en-US" sz="1200" dirty="0" err="1"/>
              <a:t>count_en</a:t>
            </a:r>
            <a:r>
              <a:rPr lang="en-US" sz="1200" dirty="0"/>
              <a:t>, </a:t>
            </a:r>
          </a:p>
          <a:p>
            <a:r>
              <a:rPr lang="en-US" sz="1200" dirty="0"/>
              <a:t>reg  [WIDTH-1:0] count,    </a:t>
            </a:r>
          </a:p>
          <a:p>
            <a:endParaRPr lang="en-US" sz="1200" dirty="0"/>
          </a:p>
          <a:p>
            <a:r>
              <a:rPr lang="en-US" sz="1200" dirty="0"/>
              <a:t>always @(posedge </a:t>
            </a:r>
            <a:r>
              <a:rPr lang="en-US" sz="1200" dirty="0" err="1"/>
              <a:t>clk</a:t>
            </a:r>
            <a:r>
              <a:rPr lang="en-US" sz="1200" dirty="0"/>
              <a:t> or </a:t>
            </a:r>
            <a:r>
              <a:rPr lang="en-US" sz="1200" dirty="0" err="1"/>
              <a:t>negedge</a:t>
            </a:r>
            <a:r>
              <a:rPr lang="en-US" sz="1200" dirty="0"/>
              <a:t> </a:t>
            </a:r>
            <a:r>
              <a:rPr lang="en-US" sz="1200" dirty="0" err="1"/>
              <a:t>rstn</a:t>
            </a:r>
            <a:r>
              <a:rPr lang="en-US" sz="1200" dirty="0"/>
              <a:t>) </a:t>
            </a:r>
          </a:p>
          <a:p>
            <a:r>
              <a:rPr lang="en-US" sz="1200" dirty="0"/>
              <a:t>    if (!</a:t>
            </a:r>
            <a:r>
              <a:rPr lang="en-US" sz="1200" dirty="0" err="1"/>
              <a:t>rstn</a:t>
            </a:r>
            <a:r>
              <a:rPr lang="en-US" sz="1200" dirty="0"/>
              <a:t>) count &lt;= {WIDTH{1'b0}};</a:t>
            </a:r>
          </a:p>
          <a:p>
            <a:r>
              <a:rPr lang="en-US" sz="1200" dirty="0"/>
              <a:t>     else if (</a:t>
            </a:r>
            <a:r>
              <a:rPr lang="en-US" sz="1200" dirty="0" err="1"/>
              <a:t>count_en</a:t>
            </a:r>
            <a:r>
              <a:rPr lang="en-US" sz="1200" dirty="0"/>
              <a:t>) count &lt;= count + 1'b1;</a:t>
            </a:r>
            <a:endParaRPr lang="he-IL" sz="1200" dirty="0"/>
          </a:p>
        </p:txBody>
      </p:sp>
      <p:sp>
        <p:nvSpPr>
          <p:cNvPr id="77" name="תיבת טקסט 76">
            <a:extLst>
              <a:ext uri="{FF2B5EF4-FFF2-40B4-BE49-F238E27FC236}">
                <a16:creationId xmlns:a16="http://schemas.microsoft.com/office/drawing/2014/main" id="{6976D7FC-1EA1-A78B-6B4E-67DFA4A2FF6C}"/>
              </a:ext>
            </a:extLst>
          </p:cNvPr>
          <p:cNvSpPr txBox="1"/>
          <p:nvPr/>
        </p:nvSpPr>
        <p:spPr>
          <a:xfrm>
            <a:off x="7271516" y="2085251"/>
            <a:ext cx="4361643" cy="378565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signal </a:t>
            </a:r>
            <a:r>
              <a:rPr lang="en-US" sz="1200" dirty="0" err="1"/>
              <a:t>clk</a:t>
            </a:r>
            <a:r>
              <a:rPr lang="en-US" sz="1200" dirty="0"/>
              <a:t>          :   </a:t>
            </a:r>
            <a:r>
              <a:rPr lang="en-US" sz="1200" dirty="0" err="1"/>
              <a:t>std_logic</a:t>
            </a:r>
            <a:r>
              <a:rPr lang="en-US" sz="1200" dirty="0"/>
              <a:t>;                             </a:t>
            </a:r>
          </a:p>
          <a:p>
            <a:r>
              <a:rPr lang="en-US" sz="1200" dirty="0"/>
              <a:t>signal </a:t>
            </a:r>
            <a:r>
              <a:rPr lang="en-US" sz="1200" dirty="0" err="1"/>
              <a:t>rst_n</a:t>
            </a:r>
            <a:r>
              <a:rPr lang="en-US" sz="1200" dirty="0"/>
              <a:t>       :   </a:t>
            </a:r>
            <a:r>
              <a:rPr lang="en-US" sz="1200" dirty="0" err="1"/>
              <a:t>std_logic</a:t>
            </a:r>
            <a:r>
              <a:rPr lang="en-US" sz="1200" dirty="0"/>
              <a:t>;                             </a:t>
            </a:r>
          </a:p>
          <a:p>
            <a:r>
              <a:rPr lang="en-US" sz="1200" dirty="0"/>
              <a:t>signal </a:t>
            </a:r>
            <a:r>
              <a:rPr lang="en-US" sz="1200" dirty="0" err="1"/>
              <a:t>count_en</a:t>
            </a:r>
            <a:r>
              <a:rPr lang="en-US" sz="1200" dirty="0"/>
              <a:t> :  </a:t>
            </a:r>
            <a:r>
              <a:rPr lang="en-US" sz="1200" dirty="0" err="1"/>
              <a:t>std_logic</a:t>
            </a:r>
            <a:r>
              <a:rPr lang="en-US" sz="1200" dirty="0"/>
              <a:t>;                             </a:t>
            </a:r>
          </a:p>
          <a:p>
            <a:r>
              <a:rPr lang="en-US" sz="1200" dirty="0"/>
              <a:t>signal count       : out </a:t>
            </a:r>
            <a:r>
              <a:rPr lang="en-US" sz="1200" dirty="0" err="1"/>
              <a:t>std_logic_vector</a:t>
            </a:r>
            <a:r>
              <a:rPr lang="en-US" sz="1200" dirty="0"/>
              <a:t>(WIDTH-1 </a:t>
            </a:r>
            <a:r>
              <a:rPr lang="en-US" sz="1200" dirty="0" err="1"/>
              <a:t>downto</a:t>
            </a:r>
            <a:r>
              <a:rPr lang="en-US" sz="1200" dirty="0"/>
              <a:t> 0);   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signal </a:t>
            </a:r>
            <a:r>
              <a:rPr lang="en-US" sz="1200" dirty="0" err="1"/>
              <a:t>r_count</a:t>
            </a:r>
            <a:r>
              <a:rPr lang="en-US" sz="1200" dirty="0"/>
              <a:t> : unsigned(WIDTH-1 </a:t>
            </a:r>
            <a:r>
              <a:rPr lang="en-US" sz="1200" dirty="0" err="1"/>
              <a:t>downto</a:t>
            </a:r>
            <a:r>
              <a:rPr lang="en-US" sz="1200" dirty="0"/>
              <a:t> 0);</a:t>
            </a:r>
          </a:p>
          <a:p>
            <a:endParaRPr lang="en-US" sz="1200" dirty="0"/>
          </a:p>
          <a:p>
            <a:r>
              <a:rPr lang="en-US" sz="1200" dirty="0" err="1"/>
              <a:t>count_process</a:t>
            </a:r>
            <a:r>
              <a:rPr lang="en-US" sz="1200" dirty="0"/>
              <a:t> : process(</a:t>
            </a:r>
            <a:r>
              <a:rPr lang="en-US" sz="1200" dirty="0" err="1"/>
              <a:t>clk</a:t>
            </a:r>
            <a:r>
              <a:rPr lang="en-US" sz="1200" dirty="0"/>
              <a:t>, </a:t>
            </a:r>
            <a:r>
              <a:rPr lang="en-US" sz="1200" dirty="0" err="1"/>
              <a:t>rst_n</a:t>
            </a:r>
            <a:r>
              <a:rPr lang="en-US" sz="1200" dirty="0"/>
              <a:t>)</a:t>
            </a:r>
          </a:p>
          <a:p>
            <a:r>
              <a:rPr lang="en-US" sz="1200" dirty="0"/>
              <a:t>begin</a:t>
            </a:r>
          </a:p>
          <a:p>
            <a:r>
              <a:rPr lang="en-US" sz="1200" dirty="0"/>
              <a:t>    if </a:t>
            </a:r>
            <a:r>
              <a:rPr lang="en-US" sz="1200" dirty="0" err="1"/>
              <a:t>rst_n</a:t>
            </a:r>
            <a:r>
              <a:rPr lang="en-US" sz="1200" dirty="0"/>
              <a:t> = '0' then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r_count</a:t>
            </a:r>
            <a:r>
              <a:rPr lang="en-US" sz="1200" dirty="0"/>
              <a:t> &lt;= (others =&gt; '0');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elsif</a:t>
            </a:r>
            <a:r>
              <a:rPr lang="en-US" sz="1200" dirty="0"/>
              <a:t> </a:t>
            </a:r>
            <a:r>
              <a:rPr lang="en-US" sz="1200" dirty="0" err="1"/>
              <a:t>rising_edge</a:t>
            </a:r>
            <a:r>
              <a:rPr lang="en-US" sz="1200" dirty="0"/>
              <a:t>(</a:t>
            </a:r>
            <a:r>
              <a:rPr lang="en-US" sz="1200" dirty="0" err="1"/>
              <a:t>clk</a:t>
            </a:r>
            <a:r>
              <a:rPr lang="en-US" sz="1200" dirty="0"/>
              <a:t>) then</a:t>
            </a:r>
          </a:p>
          <a:p>
            <a:r>
              <a:rPr lang="en-US" sz="1200" dirty="0"/>
              <a:t>        if </a:t>
            </a:r>
            <a:r>
              <a:rPr lang="en-US" sz="1200" dirty="0" err="1"/>
              <a:t>count_en</a:t>
            </a:r>
            <a:r>
              <a:rPr lang="en-US" sz="1200" dirty="0"/>
              <a:t> = '1' then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r_count</a:t>
            </a:r>
            <a:r>
              <a:rPr lang="en-US" sz="1200" dirty="0"/>
              <a:t> &lt;= </a:t>
            </a:r>
            <a:r>
              <a:rPr lang="en-US" sz="1200" dirty="0" err="1"/>
              <a:t>r_count</a:t>
            </a:r>
            <a:r>
              <a:rPr lang="en-US" sz="1200" dirty="0"/>
              <a:t> + 1; </a:t>
            </a:r>
          </a:p>
          <a:p>
            <a:r>
              <a:rPr lang="en-US" sz="1200" dirty="0"/>
              <a:t>        end if;</a:t>
            </a:r>
          </a:p>
          <a:p>
            <a:r>
              <a:rPr lang="en-US" sz="1200" dirty="0"/>
              <a:t>    end if;</a:t>
            </a:r>
          </a:p>
          <a:p>
            <a:r>
              <a:rPr lang="en-US" sz="1200" dirty="0"/>
              <a:t>end process </a:t>
            </a:r>
            <a:r>
              <a:rPr lang="en-US" sz="1200" dirty="0" err="1"/>
              <a:t>count_process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count &lt;= </a:t>
            </a:r>
            <a:r>
              <a:rPr lang="en-US" sz="1200" dirty="0" err="1"/>
              <a:t>std_logic_vector</a:t>
            </a:r>
            <a:r>
              <a:rPr lang="en-US" sz="1200" dirty="0"/>
              <a:t>(</a:t>
            </a:r>
            <a:r>
              <a:rPr lang="en-US" sz="1200" dirty="0" err="1"/>
              <a:t>r_count</a:t>
            </a:r>
            <a:r>
              <a:rPr lang="en-US" sz="1200" dirty="0"/>
              <a:t>);</a:t>
            </a:r>
          </a:p>
          <a:p>
            <a:endParaRPr lang="en-US" sz="1200" dirty="0"/>
          </a:p>
        </p:txBody>
      </p:sp>
      <p:sp>
        <p:nvSpPr>
          <p:cNvPr id="21" name="Text Box 51">
            <a:extLst>
              <a:ext uri="{FF2B5EF4-FFF2-40B4-BE49-F238E27FC236}">
                <a16:creationId xmlns:a16="http://schemas.microsoft.com/office/drawing/2014/main" id="{B000C314-995A-24E1-AA70-B48FC4885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238" y="558411"/>
            <a:ext cx="140615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he-IL" sz="1200" dirty="0"/>
              <a:t>Reg [7:0] counter </a:t>
            </a:r>
          </a:p>
        </p:txBody>
      </p:sp>
      <p:sp>
        <p:nvSpPr>
          <p:cNvPr id="50" name="Line 53">
            <a:extLst>
              <a:ext uri="{FF2B5EF4-FFF2-40B4-BE49-F238E27FC236}">
                <a16:creationId xmlns:a16="http://schemas.microsoft.com/office/drawing/2014/main" id="{37910590-E299-933E-9CB8-795282A2CA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00413" y="1686877"/>
            <a:ext cx="21530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1" name="Line 54">
            <a:extLst>
              <a:ext uri="{FF2B5EF4-FFF2-40B4-BE49-F238E27FC236}">
                <a16:creationId xmlns:a16="http://schemas.microsoft.com/office/drawing/2014/main" id="{85E36480-1C0E-BA6F-95A5-C27CAE630F3B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693058" y="1579523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2" name="Line 55">
            <a:extLst>
              <a:ext uri="{FF2B5EF4-FFF2-40B4-BE49-F238E27FC236}">
                <a16:creationId xmlns:a16="http://schemas.microsoft.com/office/drawing/2014/main" id="{70ABFD43-C1F1-335D-46DC-5DBDEBCA70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3918" y="1470977"/>
            <a:ext cx="21530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3" name="Line 56">
            <a:extLst>
              <a:ext uri="{FF2B5EF4-FFF2-40B4-BE49-F238E27FC236}">
                <a16:creationId xmlns:a16="http://schemas.microsoft.com/office/drawing/2014/main" id="{795E9A7C-B746-36E6-793E-157FE684F766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476563" y="1579523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grpSp>
        <p:nvGrpSpPr>
          <p:cNvPr id="54" name="Group 57">
            <a:extLst>
              <a:ext uri="{FF2B5EF4-FFF2-40B4-BE49-F238E27FC236}">
                <a16:creationId xmlns:a16="http://schemas.microsoft.com/office/drawing/2014/main" id="{5C9F04D4-2D96-B44C-C142-34784079C37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015718" y="1470977"/>
            <a:ext cx="431800" cy="215900"/>
            <a:chOff x="2109" y="3294"/>
            <a:chExt cx="363" cy="181"/>
          </a:xfrm>
        </p:grpSpPr>
        <p:sp>
          <p:nvSpPr>
            <p:cNvPr id="55" name="Line 58">
              <a:extLst>
                <a:ext uri="{FF2B5EF4-FFF2-40B4-BE49-F238E27FC236}">
                  <a16:creationId xmlns:a16="http://schemas.microsoft.com/office/drawing/2014/main" id="{BBE2600E-F1A5-5E7B-0836-607D27CFC4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47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6" name="Line 59">
              <a:extLst>
                <a:ext uri="{FF2B5EF4-FFF2-40B4-BE49-F238E27FC236}">
                  <a16:creationId xmlns:a16="http://schemas.microsoft.com/office/drawing/2014/main" id="{549C8F83-2619-EDCC-C65B-AFC48EB590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99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7" name="Line 60">
              <a:extLst>
                <a:ext uri="{FF2B5EF4-FFF2-40B4-BE49-F238E27FC236}">
                  <a16:creationId xmlns:a16="http://schemas.microsoft.com/office/drawing/2014/main" id="{14761127-BE23-1BB5-9937-2427A4489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29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8" name="Line 61">
              <a:extLst>
                <a:ext uri="{FF2B5EF4-FFF2-40B4-BE49-F238E27FC236}">
                  <a16:creationId xmlns:a16="http://schemas.microsoft.com/office/drawing/2014/main" id="{F66DD460-6339-7D4D-0817-258C46A9842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1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59" name="Line 62">
            <a:extLst>
              <a:ext uri="{FF2B5EF4-FFF2-40B4-BE49-F238E27FC236}">
                <a16:creationId xmlns:a16="http://schemas.microsoft.com/office/drawing/2014/main" id="{05384DBB-CA01-BFB3-301F-2A648DC42A7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78521" y="1371341"/>
            <a:ext cx="919513" cy="337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0" name="Line 63">
            <a:extLst>
              <a:ext uri="{FF2B5EF4-FFF2-40B4-BE49-F238E27FC236}">
                <a16:creationId xmlns:a16="http://schemas.microsoft.com/office/drawing/2014/main" id="{CB2712F0-5A0C-99F9-D59E-33D8B5593A8C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473182" y="1279104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1" name="Line 64">
            <a:extLst>
              <a:ext uri="{FF2B5EF4-FFF2-40B4-BE49-F238E27FC236}">
                <a16:creationId xmlns:a16="http://schemas.microsoft.com/office/drawing/2014/main" id="{79968030-9E59-F844-FC4A-1F65D6FAF4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47919" y="1171154"/>
            <a:ext cx="233213" cy="116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2" name="Line 65">
            <a:extLst>
              <a:ext uri="{FF2B5EF4-FFF2-40B4-BE49-F238E27FC236}">
                <a16:creationId xmlns:a16="http://schemas.microsoft.com/office/drawing/2014/main" id="{71E2A9EC-3DAA-AE58-FEC8-3BED236FE1EE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3387721" y="1279104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3" name="Line 66">
            <a:extLst>
              <a:ext uri="{FF2B5EF4-FFF2-40B4-BE49-F238E27FC236}">
                <a16:creationId xmlns:a16="http://schemas.microsoft.com/office/drawing/2014/main" id="{84F27806-5F51-6E8B-F735-8940F2FEE5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5669" y="1165961"/>
            <a:ext cx="1676395" cy="519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85" name="תיבת טקסט 84">
            <a:extLst>
              <a:ext uri="{FF2B5EF4-FFF2-40B4-BE49-F238E27FC236}">
                <a16:creationId xmlns:a16="http://schemas.microsoft.com/office/drawing/2014/main" id="{C44667E0-5915-DC18-C748-8E9E0A1987C2}"/>
              </a:ext>
            </a:extLst>
          </p:cNvPr>
          <p:cNvSpPr txBox="1"/>
          <p:nvPr/>
        </p:nvSpPr>
        <p:spPr>
          <a:xfrm>
            <a:off x="5111171" y="1052428"/>
            <a:ext cx="441146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200" dirty="0" err="1"/>
              <a:t>rstn</a:t>
            </a:r>
            <a:endParaRPr lang="en-US" sz="1200" dirty="0"/>
          </a:p>
          <a:p>
            <a:pPr algn="ctr"/>
            <a:r>
              <a:rPr lang="en-US" sz="1200" dirty="0" err="1"/>
              <a:t>clk</a:t>
            </a:r>
            <a:endParaRPr lang="he-IL" sz="1200" dirty="0"/>
          </a:p>
        </p:txBody>
      </p:sp>
      <p:sp>
        <p:nvSpPr>
          <p:cNvPr id="101" name="Rectangle 50">
            <a:extLst>
              <a:ext uri="{FF2B5EF4-FFF2-40B4-BE49-F238E27FC236}">
                <a16:creationId xmlns:a16="http://schemas.microsoft.com/office/drawing/2014/main" id="{26B31BE2-2B05-A3F4-31E9-2091C210F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943" y="838200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2" name="Rectangle 50">
            <a:extLst>
              <a:ext uri="{FF2B5EF4-FFF2-40B4-BE49-F238E27FC236}">
                <a16:creationId xmlns:a16="http://schemas.microsoft.com/office/drawing/2014/main" id="{8C1F4706-0FEE-DCDC-D429-D5BD21BD3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421" y="837980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3" name="Rectangle 50">
            <a:extLst>
              <a:ext uri="{FF2B5EF4-FFF2-40B4-BE49-F238E27FC236}">
                <a16:creationId xmlns:a16="http://schemas.microsoft.com/office/drawing/2014/main" id="{5BDCC62E-15D5-3E0F-8C91-A82B2DD41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4" y="839069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4" name="Rectangle 50">
            <a:extLst>
              <a:ext uri="{FF2B5EF4-FFF2-40B4-BE49-F238E27FC236}">
                <a16:creationId xmlns:a16="http://schemas.microsoft.com/office/drawing/2014/main" id="{A65B042D-5928-F403-4BE1-901497C41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662" y="838849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5" name="Rectangle 50">
            <a:extLst>
              <a:ext uri="{FF2B5EF4-FFF2-40B4-BE49-F238E27FC236}">
                <a16:creationId xmlns:a16="http://schemas.microsoft.com/office/drawing/2014/main" id="{44D63907-144C-0F57-5430-066D22F82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743" y="838222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6" name="Rectangle 50">
            <a:extLst>
              <a:ext uri="{FF2B5EF4-FFF2-40B4-BE49-F238E27FC236}">
                <a16:creationId xmlns:a16="http://schemas.microsoft.com/office/drawing/2014/main" id="{7438E9C6-1BD5-64B5-50EB-6FBAEF3FB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3221" y="838002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7" name="Rectangle 50">
            <a:extLst>
              <a:ext uri="{FF2B5EF4-FFF2-40B4-BE49-F238E27FC236}">
                <a16:creationId xmlns:a16="http://schemas.microsoft.com/office/drawing/2014/main" id="{E777C483-8F3C-81D4-5871-8D4E972FD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1984" y="839091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8" name="Rectangle 50">
            <a:extLst>
              <a:ext uri="{FF2B5EF4-FFF2-40B4-BE49-F238E27FC236}">
                <a16:creationId xmlns:a16="http://schemas.microsoft.com/office/drawing/2014/main" id="{76C93DCF-74D6-7DF8-AA68-AC0A64F43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462" y="838871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grpSp>
        <p:nvGrpSpPr>
          <p:cNvPr id="154" name="Group 57">
            <a:extLst>
              <a:ext uri="{FF2B5EF4-FFF2-40B4-BE49-F238E27FC236}">
                <a16:creationId xmlns:a16="http://schemas.microsoft.com/office/drawing/2014/main" id="{FE42E615-803F-E860-F94F-3E47362761E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445732" y="1475960"/>
            <a:ext cx="431800" cy="215900"/>
            <a:chOff x="2109" y="3294"/>
            <a:chExt cx="363" cy="181"/>
          </a:xfrm>
        </p:grpSpPr>
        <p:sp>
          <p:nvSpPr>
            <p:cNvPr id="155" name="Line 58">
              <a:extLst>
                <a:ext uri="{FF2B5EF4-FFF2-40B4-BE49-F238E27FC236}">
                  <a16:creationId xmlns:a16="http://schemas.microsoft.com/office/drawing/2014/main" id="{8FA84A64-CEB3-41BA-8FD1-B72D694FB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47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6" name="Line 59">
              <a:extLst>
                <a:ext uri="{FF2B5EF4-FFF2-40B4-BE49-F238E27FC236}">
                  <a16:creationId xmlns:a16="http://schemas.microsoft.com/office/drawing/2014/main" id="{D6F9F027-BD66-4289-2522-C4107847B3A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99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7" name="Line 60">
              <a:extLst>
                <a:ext uri="{FF2B5EF4-FFF2-40B4-BE49-F238E27FC236}">
                  <a16:creationId xmlns:a16="http://schemas.microsoft.com/office/drawing/2014/main" id="{61529CE5-2B3C-F374-492F-BD1D2DF33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29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8" name="Line 61">
              <a:extLst>
                <a:ext uri="{FF2B5EF4-FFF2-40B4-BE49-F238E27FC236}">
                  <a16:creationId xmlns:a16="http://schemas.microsoft.com/office/drawing/2014/main" id="{90130443-E07D-91DE-A8B2-366C044079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1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59" name="Group 57">
            <a:extLst>
              <a:ext uri="{FF2B5EF4-FFF2-40B4-BE49-F238E27FC236}">
                <a16:creationId xmlns:a16="http://schemas.microsoft.com/office/drawing/2014/main" id="{C54EE894-DE87-E50C-384E-0D4AAC7D27F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869506" y="1476170"/>
            <a:ext cx="431800" cy="215900"/>
            <a:chOff x="2109" y="3294"/>
            <a:chExt cx="363" cy="181"/>
          </a:xfrm>
        </p:grpSpPr>
        <p:sp>
          <p:nvSpPr>
            <p:cNvPr id="160" name="Line 58">
              <a:extLst>
                <a:ext uri="{FF2B5EF4-FFF2-40B4-BE49-F238E27FC236}">
                  <a16:creationId xmlns:a16="http://schemas.microsoft.com/office/drawing/2014/main" id="{D46AEA02-7EF4-2B4F-7C8E-F5650C4F5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47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1" name="Line 59">
              <a:extLst>
                <a:ext uri="{FF2B5EF4-FFF2-40B4-BE49-F238E27FC236}">
                  <a16:creationId xmlns:a16="http://schemas.microsoft.com/office/drawing/2014/main" id="{42E50AF5-2D7B-A03E-AADF-35F3D7EEDE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99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2" name="Line 60">
              <a:extLst>
                <a:ext uri="{FF2B5EF4-FFF2-40B4-BE49-F238E27FC236}">
                  <a16:creationId xmlns:a16="http://schemas.microsoft.com/office/drawing/2014/main" id="{B70F0D78-04B5-885B-A274-A57C8637F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29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3" name="Line 61">
              <a:extLst>
                <a:ext uri="{FF2B5EF4-FFF2-40B4-BE49-F238E27FC236}">
                  <a16:creationId xmlns:a16="http://schemas.microsoft.com/office/drawing/2014/main" id="{B9FE9FBC-F1AB-E1E8-F600-88455A57EA9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1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85" name="Group 57">
            <a:extLst>
              <a:ext uri="{FF2B5EF4-FFF2-40B4-BE49-F238E27FC236}">
                <a16:creationId xmlns:a16="http://schemas.microsoft.com/office/drawing/2014/main" id="{36CC76D4-0207-D211-F3B8-CE58A8FEE68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289708" y="1480098"/>
            <a:ext cx="431800" cy="215900"/>
            <a:chOff x="2109" y="3294"/>
            <a:chExt cx="363" cy="181"/>
          </a:xfrm>
        </p:grpSpPr>
        <p:sp>
          <p:nvSpPr>
            <p:cNvPr id="186" name="Line 58">
              <a:extLst>
                <a:ext uri="{FF2B5EF4-FFF2-40B4-BE49-F238E27FC236}">
                  <a16:creationId xmlns:a16="http://schemas.microsoft.com/office/drawing/2014/main" id="{1ACD80F9-3384-E06D-74A1-E0CACA5F3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47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7" name="Line 59">
              <a:extLst>
                <a:ext uri="{FF2B5EF4-FFF2-40B4-BE49-F238E27FC236}">
                  <a16:creationId xmlns:a16="http://schemas.microsoft.com/office/drawing/2014/main" id="{FA410932-70EE-C942-4746-7955FF43DDA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99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8" name="Line 60">
              <a:extLst>
                <a:ext uri="{FF2B5EF4-FFF2-40B4-BE49-F238E27FC236}">
                  <a16:creationId xmlns:a16="http://schemas.microsoft.com/office/drawing/2014/main" id="{5BADD663-0D7F-CEE0-A74D-CCB611E6B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29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9" name="Line 61">
              <a:extLst>
                <a:ext uri="{FF2B5EF4-FFF2-40B4-BE49-F238E27FC236}">
                  <a16:creationId xmlns:a16="http://schemas.microsoft.com/office/drawing/2014/main" id="{6B91E8E3-83CC-3903-3398-52FD0A383C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1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90" name="Group 57">
            <a:extLst>
              <a:ext uri="{FF2B5EF4-FFF2-40B4-BE49-F238E27FC236}">
                <a16:creationId xmlns:a16="http://schemas.microsoft.com/office/drawing/2014/main" id="{C2ACD932-47CD-EF65-AB09-F2F2A6C449C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718531" y="1480098"/>
            <a:ext cx="431800" cy="215900"/>
            <a:chOff x="2109" y="3294"/>
            <a:chExt cx="363" cy="181"/>
          </a:xfrm>
        </p:grpSpPr>
        <p:sp>
          <p:nvSpPr>
            <p:cNvPr id="191" name="Line 58">
              <a:extLst>
                <a:ext uri="{FF2B5EF4-FFF2-40B4-BE49-F238E27FC236}">
                  <a16:creationId xmlns:a16="http://schemas.microsoft.com/office/drawing/2014/main" id="{6F5AE1B2-EC82-2BFC-11BA-4BB90DDE7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47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92" name="Line 59">
              <a:extLst>
                <a:ext uri="{FF2B5EF4-FFF2-40B4-BE49-F238E27FC236}">
                  <a16:creationId xmlns:a16="http://schemas.microsoft.com/office/drawing/2014/main" id="{3C70B06B-A8CB-4BB0-CFFD-8FBAA2634A4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99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93" name="Line 60">
              <a:extLst>
                <a:ext uri="{FF2B5EF4-FFF2-40B4-BE49-F238E27FC236}">
                  <a16:creationId xmlns:a16="http://schemas.microsoft.com/office/drawing/2014/main" id="{ED183D0C-FC03-0CAF-F01C-C83AFEB745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29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94" name="Line 61">
              <a:extLst>
                <a:ext uri="{FF2B5EF4-FFF2-40B4-BE49-F238E27FC236}">
                  <a16:creationId xmlns:a16="http://schemas.microsoft.com/office/drawing/2014/main" id="{2D763724-5B34-C95F-449D-2F154385CC5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1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195" name="Line 53">
            <a:extLst>
              <a:ext uri="{FF2B5EF4-FFF2-40B4-BE49-F238E27FC236}">
                <a16:creationId xmlns:a16="http://schemas.microsoft.com/office/drawing/2014/main" id="{B35647D7-B322-1EE3-3D07-B583ECEDC6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7024" y="1686877"/>
            <a:ext cx="21530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graphicFrame>
        <p:nvGraphicFramePr>
          <p:cNvPr id="9" name="טבלה 8">
            <a:extLst>
              <a:ext uri="{FF2B5EF4-FFF2-40B4-BE49-F238E27FC236}">
                <a16:creationId xmlns:a16="http://schemas.microsoft.com/office/drawing/2014/main" id="{CBF73DDB-C878-AE22-6E7D-C5F707D8A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785402"/>
              </p:ext>
            </p:extLst>
          </p:nvPr>
        </p:nvGraphicFramePr>
        <p:xfrm>
          <a:off x="4714117" y="2038937"/>
          <a:ext cx="1676400" cy="2895600"/>
        </p:xfrm>
        <a:graphic>
          <a:graphicData uri="http://schemas.openxmlformats.org/drawingml/2006/table">
            <a:tbl>
              <a:tblPr rtl="1"/>
              <a:tblGrid>
                <a:gridCol w="279400">
                  <a:extLst>
                    <a:ext uri="{9D8B030D-6E8A-4147-A177-3AD203B41FA5}">
                      <a16:colId xmlns:a16="http://schemas.microsoft.com/office/drawing/2014/main" val="3224061846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266066747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36935144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150864717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16605759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7900781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47389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28572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25929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473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8945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70263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22009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60379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7919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0043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69970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48795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3974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44506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86604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102849"/>
                  </a:ext>
                </a:extLst>
              </a:tr>
            </a:tbl>
          </a:graphicData>
        </a:graphic>
      </p:graphicFrame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C5F58BC2-6749-17C3-73D6-431706F20B07}"/>
              </a:ext>
            </a:extLst>
          </p:cNvPr>
          <p:cNvSpPr txBox="1"/>
          <p:nvPr/>
        </p:nvSpPr>
        <p:spPr>
          <a:xfrm>
            <a:off x="7271516" y="1477690"/>
            <a:ext cx="2311851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1">
            <a:spAutoFit/>
          </a:bodyPr>
          <a:lstStyle/>
          <a:p>
            <a:r>
              <a:rPr lang="en-US" sz="1200" dirty="0"/>
              <a:t>use </a:t>
            </a:r>
            <a:r>
              <a:rPr lang="en-US" sz="1200" dirty="0" err="1"/>
              <a:t>ieee.numeric_std.all</a:t>
            </a:r>
            <a:r>
              <a:rPr lang="en-US" sz="1200" dirty="0"/>
              <a:t>;</a:t>
            </a:r>
          </a:p>
          <a:p>
            <a:r>
              <a:rPr lang="en-US" sz="1200" dirty="0"/>
              <a:t>use </a:t>
            </a:r>
            <a:r>
              <a:rPr lang="en-US" sz="1200" dirty="0" err="1"/>
              <a:t>ieee.std_logic_unsigned.all</a:t>
            </a:r>
            <a:endParaRPr lang="he-IL" sz="1200" dirty="0"/>
          </a:p>
        </p:txBody>
      </p:sp>
    </p:spTree>
    <p:extLst>
      <p:ext uri="{BB962C8B-B14F-4D97-AF65-F5344CB8AC3E}">
        <p14:creationId xmlns:p14="http://schemas.microsoft.com/office/powerpoint/2010/main" val="2266677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B3B2C-F372-20DE-880A-85855CD5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4B801F29-14B3-0D6A-0BF2-C9F406381E85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dirty="0">
                <a:solidFill>
                  <a:srgbClr val="0070C0"/>
                </a:solidFill>
              </a:rPr>
              <a:t>Registers 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5E0B7B74-3616-0005-B3D4-4326F650417F}"/>
              </a:ext>
            </a:extLst>
          </p:cNvPr>
          <p:cNvSpPr>
            <a:spLocks noGrp="1"/>
          </p:cNvSpPr>
          <p:nvPr/>
        </p:nvSpPr>
        <p:spPr>
          <a:xfrm>
            <a:off x="663432" y="1052428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Verilog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5" name="מלבן 74">
            <a:extLst>
              <a:ext uri="{FF2B5EF4-FFF2-40B4-BE49-F238E27FC236}">
                <a16:creationId xmlns:a16="http://schemas.microsoft.com/office/drawing/2014/main" id="{02F90C7A-FBF1-9F9B-CCD5-5052E4B447E6}"/>
              </a:ext>
            </a:extLst>
          </p:cNvPr>
          <p:cNvSpPr>
            <a:spLocks noGrp="1"/>
          </p:cNvSpPr>
          <p:nvPr/>
        </p:nvSpPr>
        <p:spPr>
          <a:xfrm>
            <a:off x="9501273" y="1052428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VHDL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6" name="תיבת טקסט 75">
            <a:extLst>
              <a:ext uri="{FF2B5EF4-FFF2-40B4-BE49-F238E27FC236}">
                <a16:creationId xmlns:a16="http://schemas.microsoft.com/office/drawing/2014/main" id="{860A9F71-75F5-AB51-E233-D3210FE1253C}"/>
              </a:ext>
            </a:extLst>
          </p:cNvPr>
          <p:cNvSpPr txBox="1"/>
          <p:nvPr/>
        </p:nvSpPr>
        <p:spPr>
          <a:xfrm>
            <a:off x="355324" y="1982158"/>
            <a:ext cx="3305713" cy="34163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wire       </a:t>
            </a:r>
            <a:r>
              <a:rPr lang="en-US" sz="1200" dirty="0" err="1"/>
              <a:t>clk</a:t>
            </a:r>
            <a:r>
              <a:rPr lang="en-US" sz="1200" dirty="0"/>
              <a:t>,     </a:t>
            </a:r>
          </a:p>
          <a:p>
            <a:r>
              <a:rPr lang="en-US" sz="1200" dirty="0"/>
              <a:t>wire       </a:t>
            </a:r>
            <a:r>
              <a:rPr lang="en-US" sz="1200" dirty="0" err="1"/>
              <a:t>rstn</a:t>
            </a:r>
            <a:r>
              <a:rPr lang="en-US" sz="1200" dirty="0"/>
              <a:t>,   </a:t>
            </a:r>
          </a:p>
          <a:p>
            <a:r>
              <a:rPr lang="en-US" sz="1200" dirty="0"/>
              <a:t>wire       </a:t>
            </a:r>
            <a:r>
              <a:rPr lang="en-US" sz="1200" dirty="0" err="1"/>
              <a:t>en</a:t>
            </a:r>
            <a:r>
              <a:rPr lang="en-US" sz="1200" dirty="0"/>
              <a:t>,      </a:t>
            </a:r>
          </a:p>
          <a:p>
            <a:r>
              <a:rPr lang="en-US" sz="1200" dirty="0"/>
              <a:t>wire [WIDTH -1:0] </a:t>
            </a:r>
            <a:r>
              <a:rPr lang="en-US" sz="1200" dirty="0" err="1"/>
              <a:t>data_in</a:t>
            </a:r>
            <a:r>
              <a:rPr lang="en-US" sz="1200" dirty="0"/>
              <a:t>, </a:t>
            </a:r>
          </a:p>
          <a:p>
            <a:r>
              <a:rPr lang="en-US" sz="1200" dirty="0"/>
              <a:t>reg  [WIDTH -1:0] </a:t>
            </a:r>
            <a:r>
              <a:rPr lang="en-US" sz="1200" dirty="0" err="1"/>
              <a:t>data_out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always @(posedge </a:t>
            </a:r>
            <a:r>
              <a:rPr lang="en-US" sz="1200" dirty="0" err="1"/>
              <a:t>clk</a:t>
            </a:r>
            <a:r>
              <a:rPr lang="en-US" sz="1200" dirty="0"/>
              <a:t> or </a:t>
            </a:r>
            <a:r>
              <a:rPr lang="en-US" sz="1200" dirty="0" err="1"/>
              <a:t>negedge</a:t>
            </a:r>
            <a:r>
              <a:rPr lang="en-US" sz="1200" dirty="0"/>
              <a:t> </a:t>
            </a:r>
            <a:r>
              <a:rPr lang="en-US" sz="1200" dirty="0" err="1"/>
              <a:t>rstn</a:t>
            </a:r>
            <a:r>
              <a:rPr lang="en-US" sz="1200" dirty="0"/>
              <a:t>) begin</a:t>
            </a:r>
          </a:p>
          <a:p>
            <a:r>
              <a:rPr lang="en-US" sz="1200" dirty="0"/>
              <a:t>    if (!</a:t>
            </a:r>
            <a:r>
              <a:rPr lang="en-US" sz="1200" dirty="0" err="1"/>
              <a:t>rstn</a:t>
            </a:r>
            <a:r>
              <a:rPr lang="en-US" sz="1200" dirty="0"/>
              <a:t>) begin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data_out</a:t>
            </a:r>
            <a:r>
              <a:rPr lang="en-US" sz="1200" dirty="0"/>
              <a:t> &lt;= {WIDTH{1’b0}}</a:t>
            </a:r>
          </a:p>
          <a:p>
            <a:r>
              <a:rPr lang="en-US" sz="1200" dirty="0"/>
              <a:t>    end else if (</a:t>
            </a:r>
            <a:r>
              <a:rPr lang="en-US" sz="1200" dirty="0" err="1"/>
              <a:t>en</a:t>
            </a:r>
            <a:r>
              <a:rPr lang="en-US" sz="1200" dirty="0"/>
              <a:t>) begin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data_out</a:t>
            </a:r>
            <a:r>
              <a:rPr lang="en-US" sz="1200" dirty="0"/>
              <a:t> &lt;= </a:t>
            </a:r>
            <a:r>
              <a:rPr lang="en-US" sz="1200" dirty="0" err="1"/>
              <a:t>data_in</a:t>
            </a:r>
            <a:r>
              <a:rPr lang="en-US" sz="1200" dirty="0"/>
              <a:t>;       </a:t>
            </a:r>
          </a:p>
          <a:p>
            <a:r>
              <a:rPr lang="en-US" sz="1200" dirty="0"/>
              <a:t>    end</a:t>
            </a:r>
          </a:p>
          <a:p>
            <a:r>
              <a:rPr lang="en-US" sz="1200" dirty="0"/>
              <a:t>end</a:t>
            </a:r>
          </a:p>
          <a:p>
            <a:endParaRPr lang="en-US" sz="1200" dirty="0"/>
          </a:p>
          <a:p>
            <a:r>
              <a:rPr lang="en-US" sz="1200" dirty="0"/>
              <a:t>always @(posedge </a:t>
            </a:r>
            <a:r>
              <a:rPr lang="en-US" sz="1200" dirty="0" err="1"/>
              <a:t>clk</a:t>
            </a:r>
            <a:r>
              <a:rPr lang="en-US" sz="1200" dirty="0"/>
              <a:t> or </a:t>
            </a:r>
            <a:r>
              <a:rPr lang="en-US" sz="1200" dirty="0" err="1"/>
              <a:t>negedge</a:t>
            </a:r>
            <a:r>
              <a:rPr lang="en-US" sz="1200" dirty="0"/>
              <a:t> </a:t>
            </a:r>
            <a:r>
              <a:rPr lang="en-US" sz="1200" dirty="0" err="1"/>
              <a:t>rstn</a:t>
            </a:r>
            <a:r>
              <a:rPr lang="en-US" sz="1200" dirty="0"/>
              <a:t>)</a:t>
            </a:r>
          </a:p>
          <a:p>
            <a:r>
              <a:rPr lang="en-US" sz="1200" dirty="0"/>
              <a:t>    if (!</a:t>
            </a:r>
            <a:r>
              <a:rPr lang="en-US" sz="1200" dirty="0" err="1"/>
              <a:t>rstn</a:t>
            </a:r>
            <a:r>
              <a:rPr lang="en-US" sz="1200" dirty="0"/>
              <a:t>)  </a:t>
            </a:r>
            <a:r>
              <a:rPr lang="en-US" sz="1200" dirty="0" err="1"/>
              <a:t>data_out</a:t>
            </a:r>
            <a:r>
              <a:rPr lang="en-US" sz="1200" dirty="0"/>
              <a:t> &lt;= {WIDTH{1’b0}}; </a:t>
            </a:r>
          </a:p>
          <a:p>
            <a:r>
              <a:rPr lang="en-US" sz="1200" dirty="0"/>
              <a:t>     else if (</a:t>
            </a:r>
            <a:r>
              <a:rPr lang="en-US" sz="1200" dirty="0" err="1"/>
              <a:t>en</a:t>
            </a:r>
            <a:r>
              <a:rPr lang="en-US" sz="1200" dirty="0"/>
              <a:t>) </a:t>
            </a:r>
            <a:r>
              <a:rPr lang="en-US" sz="1200" dirty="0" err="1"/>
              <a:t>data_out</a:t>
            </a:r>
            <a:r>
              <a:rPr lang="en-US" sz="1200" dirty="0"/>
              <a:t> &lt;= </a:t>
            </a:r>
            <a:r>
              <a:rPr lang="en-US" sz="1200" dirty="0" err="1"/>
              <a:t>data_in</a:t>
            </a:r>
            <a:r>
              <a:rPr lang="en-US" sz="1200" dirty="0"/>
              <a:t>; </a:t>
            </a:r>
          </a:p>
          <a:p>
            <a:endParaRPr lang="he-IL" sz="1200" dirty="0"/>
          </a:p>
        </p:txBody>
      </p:sp>
      <p:sp>
        <p:nvSpPr>
          <p:cNvPr id="77" name="תיבת טקסט 76">
            <a:extLst>
              <a:ext uri="{FF2B5EF4-FFF2-40B4-BE49-F238E27FC236}">
                <a16:creationId xmlns:a16="http://schemas.microsoft.com/office/drawing/2014/main" id="{AE11868F-CFCE-82B4-46C4-267292139870}"/>
              </a:ext>
            </a:extLst>
          </p:cNvPr>
          <p:cNvSpPr txBox="1"/>
          <p:nvPr/>
        </p:nvSpPr>
        <p:spPr>
          <a:xfrm>
            <a:off x="7853906" y="2002131"/>
            <a:ext cx="4043094" cy="32316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signal  </a:t>
            </a:r>
            <a:r>
              <a:rPr lang="en-US" sz="1200" dirty="0" err="1"/>
              <a:t>clk</a:t>
            </a:r>
            <a:r>
              <a:rPr lang="en-US" sz="1200" dirty="0"/>
              <a:t>      : </a:t>
            </a:r>
            <a:r>
              <a:rPr lang="en-US" sz="1200" dirty="0" err="1"/>
              <a:t>std_logic</a:t>
            </a:r>
            <a:r>
              <a:rPr lang="en-US" sz="1200" dirty="0"/>
              <a:t>;                     </a:t>
            </a:r>
          </a:p>
          <a:p>
            <a:r>
              <a:rPr lang="en-US" sz="1200" dirty="0"/>
              <a:t>signal  </a:t>
            </a:r>
            <a:r>
              <a:rPr lang="en-US" sz="1200" dirty="0" err="1"/>
              <a:t>rst_n</a:t>
            </a:r>
            <a:r>
              <a:rPr lang="en-US" sz="1200" dirty="0"/>
              <a:t>    : </a:t>
            </a:r>
            <a:r>
              <a:rPr lang="en-US" sz="1200" dirty="0" err="1"/>
              <a:t>std_logic</a:t>
            </a:r>
            <a:r>
              <a:rPr lang="en-US" sz="1200" dirty="0"/>
              <a:t>;                     </a:t>
            </a:r>
          </a:p>
          <a:p>
            <a:r>
              <a:rPr lang="en-US" sz="1200" dirty="0"/>
              <a:t>signal  </a:t>
            </a:r>
            <a:r>
              <a:rPr lang="en-US" sz="1200" dirty="0" err="1"/>
              <a:t>en</a:t>
            </a:r>
            <a:r>
              <a:rPr lang="en-US" sz="1200" dirty="0"/>
              <a:t>       : </a:t>
            </a:r>
            <a:r>
              <a:rPr lang="en-US" sz="1200" dirty="0" err="1"/>
              <a:t>std_logic</a:t>
            </a:r>
            <a:r>
              <a:rPr lang="en-US" sz="1200" dirty="0"/>
              <a:t>;                     </a:t>
            </a:r>
          </a:p>
          <a:p>
            <a:r>
              <a:rPr lang="en-US" sz="1200" dirty="0"/>
              <a:t>signal  </a:t>
            </a:r>
            <a:r>
              <a:rPr lang="en-US" sz="1200" dirty="0" err="1"/>
              <a:t>data_in</a:t>
            </a:r>
            <a:r>
              <a:rPr lang="en-US" sz="1200" dirty="0"/>
              <a:t>  : </a:t>
            </a:r>
            <a:r>
              <a:rPr lang="en-US" sz="1200" dirty="0" err="1"/>
              <a:t>std_logic_vector</a:t>
            </a:r>
            <a:r>
              <a:rPr lang="en-US" sz="1200" dirty="0"/>
              <a:t>(WIDTH-1 </a:t>
            </a:r>
            <a:r>
              <a:rPr lang="en-US" sz="1200" dirty="0" err="1"/>
              <a:t>downto</a:t>
            </a:r>
            <a:r>
              <a:rPr lang="en-US" sz="1200" dirty="0"/>
              <a:t> 0);  </a:t>
            </a:r>
          </a:p>
          <a:p>
            <a:r>
              <a:rPr lang="en-US" sz="1200" dirty="0"/>
              <a:t>signal  </a:t>
            </a:r>
            <a:r>
              <a:rPr lang="en-US" sz="1200" dirty="0" err="1"/>
              <a:t>data_out</a:t>
            </a:r>
            <a:r>
              <a:rPr lang="en-US" sz="1200" dirty="0"/>
              <a:t> : </a:t>
            </a:r>
            <a:r>
              <a:rPr lang="en-US" sz="1200" dirty="0" err="1"/>
              <a:t>std_logic_vector</a:t>
            </a:r>
            <a:r>
              <a:rPr lang="en-US" sz="1200" dirty="0"/>
              <a:t>(WIDTH-1 </a:t>
            </a:r>
            <a:r>
              <a:rPr lang="en-US" sz="1200" dirty="0" err="1"/>
              <a:t>downto</a:t>
            </a:r>
            <a:r>
              <a:rPr lang="en-US" sz="1200" dirty="0"/>
              <a:t> 0);  </a:t>
            </a:r>
          </a:p>
          <a:p>
            <a:endParaRPr lang="en-US" sz="1200" dirty="0"/>
          </a:p>
          <a:p>
            <a:r>
              <a:rPr lang="en-US" sz="1200" dirty="0" err="1"/>
              <a:t>reg_process</a:t>
            </a:r>
            <a:r>
              <a:rPr lang="en-US" sz="1200" dirty="0"/>
              <a:t> : process(</a:t>
            </a:r>
            <a:r>
              <a:rPr lang="en-US" sz="1200" dirty="0" err="1"/>
              <a:t>clk</a:t>
            </a:r>
            <a:r>
              <a:rPr lang="en-US" sz="1200" dirty="0"/>
              <a:t>, </a:t>
            </a:r>
            <a:r>
              <a:rPr lang="en-US" sz="1200" dirty="0" err="1"/>
              <a:t>rst_n</a:t>
            </a:r>
            <a:r>
              <a:rPr lang="en-US" sz="1200" dirty="0"/>
              <a:t>)</a:t>
            </a:r>
          </a:p>
          <a:p>
            <a:r>
              <a:rPr lang="en-US" sz="1200" dirty="0"/>
              <a:t>begin</a:t>
            </a:r>
          </a:p>
          <a:p>
            <a:r>
              <a:rPr lang="en-US" sz="1200" dirty="0"/>
              <a:t>    if </a:t>
            </a:r>
            <a:r>
              <a:rPr lang="en-US" sz="1200" dirty="0" err="1"/>
              <a:t>rst_n</a:t>
            </a:r>
            <a:r>
              <a:rPr lang="en-US" sz="1200" dirty="0"/>
              <a:t> = '0' then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data_out</a:t>
            </a:r>
            <a:r>
              <a:rPr lang="en-US" sz="1200" dirty="0"/>
              <a:t> &lt;= (others =&gt; '0');  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elsif</a:t>
            </a:r>
            <a:r>
              <a:rPr lang="en-US" sz="1200" dirty="0"/>
              <a:t> </a:t>
            </a:r>
            <a:r>
              <a:rPr lang="en-US" sz="1200" dirty="0" err="1"/>
              <a:t>rising_edge</a:t>
            </a:r>
            <a:r>
              <a:rPr lang="en-US" sz="1200" dirty="0"/>
              <a:t>(</a:t>
            </a:r>
            <a:r>
              <a:rPr lang="en-US" sz="1200" dirty="0" err="1"/>
              <a:t>clk</a:t>
            </a:r>
            <a:r>
              <a:rPr lang="en-US" sz="1200" dirty="0"/>
              <a:t>) then</a:t>
            </a:r>
          </a:p>
          <a:p>
            <a:r>
              <a:rPr lang="en-US" sz="1200" dirty="0"/>
              <a:t>        if </a:t>
            </a:r>
            <a:r>
              <a:rPr lang="en-US" sz="1200" dirty="0" err="1"/>
              <a:t>en</a:t>
            </a:r>
            <a:r>
              <a:rPr lang="en-US" sz="1200" dirty="0"/>
              <a:t> = '1' then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data_out</a:t>
            </a:r>
            <a:r>
              <a:rPr lang="en-US" sz="1200" dirty="0"/>
              <a:t> &lt;= </a:t>
            </a:r>
            <a:r>
              <a:rPr lang="en-US" sz="1200" dirty="0" err="1"/>
              <a:t>data_in</a:t>
            </a:r>
            <a:r>
              <a:rPr lang="en-US" sz="1200" dirty="0"/>
              <a:t>;      </a:t>
            </a:r>
          </a:p>
          <a:p>
            <a:r>
              <a:rPr lang="en-US" sz="1200" dirty="0"/>
              <a:t>        end if;</a:t>
            </a:r>
          </a:p>
          <a:p>
            <a:r>
              <a:rPr lang="en-US" sz="1200" dirty="0"/>
              <a:t>    end if;</a:t>
            </a:r>
          </a:p>
          <a:p>
            <a:r>
              <a:rPr lang="en-US" sz="1200" dirty="0"/>
              <a:t>end process </a:t>
            </a:r>
            <a:r>
              <a:rPr lang="en-US" sz="1200" dirty="0" err="1"/>
              <a:t>reg_process</a:t>
            </a:r>
            <a:r>
              <a:rPr lang="en-US" sz="1200" dirty="0"/>
              <a:t>;</a:t>
            </a:r>
          </a:p>
          <a:p>
            <a:endParaRPr lang="en-US" sz="1200" dirty="0"/>
          </a:p>
        </p:txBody>
      </p:sp>
      <p:sp>
        <p:nvSpPr>
          <p:cNvPr id="21" name="Text Box 51">
            <a:extLst>
              <a:ext uri="{FF2B5EF4-FFF2-40B4-BE49-F238E27FC236}">
                <a16:creationId xmlns:a16="http://schemas.microsoft.com/office/drawing/2014/main" id="{EA7A3804-0189-94E7-3CB4-7638C4332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238" y="558411"/>
            <a:ext cx="13938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he-IL" sz="1200"/>
              <a:t>Reg [7:0] register </a:t>
            </a:r>
          </a:p>
        </p:txBody>
      </p:sp>
      <p:sp>
        <p:nvSpPr>
          <p:cNvPr id="23" name="Text Box 68">
            <a:extLst>
              <a:ext uri="{FF2B5EF4-FFF2-40B4-BE49-F238E27FC236}">
                <a16:creationId xmlns:a16="http://schemas.microsoft.com/office/drawing/2014/main" id="{86138FB4-6714-5E51-F2F4-E760F4175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5130" y="1727493"/>
            <a:ext cx="7508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 err="1"/>
              <a:t>DataOut</a:t>
            </a:r>
            <a:endParaRPr lang="en-US" altLang="he-IL" sz="1200" dirty="0"/>
          </a:p>
        </p:txBody>
      </p:sp>
      <p:sp>
        <p:nvSpPr>
          <p:cNvPr id="24" name="AutoShape 69">
            <a:extLst>
              <a:ext uri="{FF2B5EF4-FFF2-40B4-BE49-F238E27FC236}">
                <a16:creationId xmlns:a16="http://schemas.microsoft.com/office/drawing/2014/main" id="{0B42E52F-1896-C92F-EE5B-3BAEB16ADAE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833152" y="315868"/>
            <a:ext cx="1871662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5" name="Text Box 70">
            <a:extLst>
              <a:ext uri="{FF2B5EF4-FFF2-40B4-BE49-F238E27FC236}">
                <a16:creationId xmlns:a16="http://schemas.microsoft.com/office/drawing/2014/main" id="{86279942-5E9E-BDD9-D81F-909EBABF7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229" y="9592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Data In</a:t>
            </a:r>
          </a:p>
        </p:txBody>
      </p:sp>
      <p:sp>
        <p:nvSpPr>
          <p:cNvPr id="44" name="AutoShape 69">
            <a:extLst>
              <a:ext uri="{FF2B5EF4-FFF2-40B4-BE49-F238E27FC236}">
                <a16:creationId xmlns:a16="http://schemas.microsoft.com/office/drawing/2014/main" id="{E86E92FC-B8FC-A638-0573-3FF12967E96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854743" y="1485842"/>
            <a:ext cx="1871662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50" name="Line 53">
            <a:extLst>
              <a:ext uri="{FF2B5EF4-FFF2-40B4-BE49-F238E27FC236}">
                <a16:creationId xmlns:a16="http://schemas.microsoft.com/office/drawing/2014/main" id="{BB572804-7779-F5CD-84D6-163B2D0FEB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00413" y="1686877"/>
            <a:ext cx="21530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1" name="Line 54">
            <a:extLst>
              <a:ext uri="{FF2B5EF4-FFF2-40B4-BE49-F238E27FC236}">
                <a16:creationId xmlns:a16="http://schemas.microsoft.com/office/drawing/2014/main" id="{4D03A3ED-1B7E-B9C4-B0FB-638A478D61A2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693058" y="1579523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2" name="Line 55">
            <a:extLst>
              <a:ext uri="{FF2B5EF4-FFF2-40B4-BE49-F238E27FC236}">
                <a16:creationId xmlns:a16="http://schemas.microsoft.com/office/drawing/2014/main" id="{FF460FEE-6BCD-6561-3107-B797EE75C2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3918" y="1470977"/>
            <a:ext cx="21530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53" name="Line 56">
            <a:extLst>
              <a:ext uri="{FF2B5EF4-FFF2-40B4-BE49-F238E27FC236}">
                <a16:creationId xmlns:a16="http://schemas.microsoft.com/office/drawing/2014/main" id="{BBDB2C57-2B19-6EE3-EABA-F2CA31954549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476563" y="1579523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grpSp>
        <p:nvGrpSpPr>
          <p:cNvPr id="54" name="Group 57">
            <a:extLst>
              <a:ext uri="{FF2B5EF4-FFF2-40B4-BE49-F238E27FC236}">
                <a16:creationId xmlns:a16="http://schemas.microsoft.com/office/drawing/2014/main" id="{7FE16A83-FF47-1719-CB46-39908C09A5A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015718" y="1470977"/>
            <a:ext cx="431800" cy="215900"/>
            <a:chOff x="2109" y="3294"/>
            <a:chExt cx="363" cy="181"/>
          </a:xfrm>
        </p:grpSpPr>
        <p:sp>
          <p:nvSpPr>
            <p:cNvPr id="55" name="Line 58">
              <a:extLst>
                <a:ext uri="{FF2B5EF4-FFF2-40B4-BE49-F238E27FC236}">
                  <a16:creationId xmlns:a16="http://schemas.microsoft.com/office/drawing/2014/main" id="{BFE09B4F-83E7-B3B1-DA6B-8DE071CD5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47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6" name="Line 59">
              <a:extLst>
                <a:ext uri="{FF2B5EF4-FFF2-40B4-BE49-F238E27FC236}">
                  <a16:creationId xmlns:a16="http://schemas.microsoft.com/office/drawing/2014/main" id="{7CD96B7C-699A-2D62-25FB-BCC3BC36181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99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7" name="Line 60">
              <a:extLst>
                <a:ext uri="{FF2B5EF4-FFF2-40B4-BE49-F238E27FC236}">
                  <a16:creationId xmlns:a16="http://schemas.microsoft.com/office/drawing/2014/main" id="{16E8F9B4-CC7B-02EA-E84A-B73817AD4E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29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58" name="Line 61">
              <a:extLst>
                <a:ext uri="{FF2B5EF4-FFF2-40B4-BE49-F238E27FC236}">
                  <a16:creationId xmlns:a16="http://schemas.microsoft.com/office/drawing/2014/main" id="{AAC6045F-24C9-97DB-3B0D-ACC7BE13B8F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1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59" name="Line 62">
            <a:extLst>
              <a:ext uri="{FF2B5EF4-FFF2-40B4-BE49-F238E27FC236}">
                <a16:creationId xmlns:a16="http://schemas.microsoft.com/office/drawing/2014/main" id="{CA21CC68-CB84-4CC0-0A15-268BFB56BC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1131" y="1381861"/>
            <a:ext cx="914523" cy="519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0" name="Line 63">
            <a:extLst>
              <a:ext uri="{FF2B5EF4-FFF2-40B4-BE49-F238E27FC236}">
                <a16:creationId xmlns:a16="http://schemas.microsoft.com/office/drawing/2014/main" id="{9E1A8E0E-5F2E-003A-9ACF-7AA65943014D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473182" y="1279104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1" name="Line 64">
            <a:extLst>
              <a:ext uri="{FF2B5EF4-FFF2-40B4-BE49-F238E27FC236}">
                <a16:creationId xmlns:a16="http://schemas.microsoft.com/office/drawing/2014/main" id="{0AE8373F-4E91-BF1C-14EE-90F93A7495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5232" y="1171154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2" name="Line 65">
            <a:extLst>
              <a:ext uri="{FF2B5EF4-FFF2-40B4-BE49-F238E27FC236}">
                <a16:creationId xmlns:a16="http://schemas.microsoft.com/office/drawing/2014/main" id="{363B2802-3F33-B2F2-002A-61563F00D4BB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3387721" y="1279104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3" name="Line 66">
            <a:extLst>
              <a:ext uri="{FF2B5EF4-FFF2-40B4-BE49-F238E27FC236}">
                <a16:creationId xmlns:a16="http://schemas.microsoft.com/office/drawing/2014/main" id="{A5EFAC9B-2D82-36BC-F708-AC005EA8B1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5670" y="1165961"/>
            <a:ext cx="1654657" cy="519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85" name="תיבת טקסט 84">
            <a:extLst>
              <a:ext uri="{FF2B5EF4-FFF2-40B4-BE49-F238E27FC236}">
                <a16:creationId xmlns:a16="http://schemas.microsoft.com/office/drawing/2014/main" id="{322FEBEE-EA20-3157-39D1-30D88DA259E6}"/>
              </a:ext>
            </a:extLst>
          </p:cNvPr>
          <p:cNvSpPr txBox="1"/>
          <p:nvPr/>
        </p:nvSpPr>
        <p:spPr>
          <a:xfrm>
            <a:off x="5092918" y="812229"/>
            <a:ext cx="441146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200" dirty="0" err="1"/>
              <a:t>en</a:t>
            </a:r>
            <a:endParaRPr lang="en-US" sz="1200" dirty="0"/>
          </a:p>
          <a:p>
            <a:pPr algn="ctr"/>
            <a:r>
              <a:rPr lang="en-US" sz="1200" dirty="0" err="1"/>
              <a:t>rstn</a:t>
            </a:r>
            <a:endParaRPr lang="en-US" sz="1200" dirty="0"/>
          </a:p>
          <a:p>
            <a:pPr algn="ctr"/>
            <a:r>
              <a:rPr lang="en-US" sz="1200" dirty="0" err="1"/>
              <a:t>clk</a:t>
            </a:r>
            <a:endParaRPr lang="he-IL" sz="1200" dirty="0"/>
          </a:p>
        </p:txBody>
      </p:sp>
      <p:sp>
        <p:nvSpPr>
          <p:cNvPr id="101" name="Rectangle 50">
            <a:extLst>
              <a:ext uri="{FF2B5EF4-FFF2-40B4-BE49-F238E27FC236}">
                <a16:creationId xmlns:a16="http://schemas.microsoft.com/office/drawing/2014/main" id="{7BA23D21-CEB1-0020-7436-6DA47EF46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943" y="838200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2" name="Rectangle 50">
            <a:extLst>
              <a:ext uri="{FF2B5EF4-FFF2-40B4-BE49-F238E27FC236}">
                <a16:creationId xmlns:a16="http://schemas.microsoft.com/office/drawing/2014/main" id="{F22405FB-4DC1-9170-9322-40F0ED964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421" y="837980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3" name="Rectangle 50">
            <a:extLst>
              <a:ext uri="{FF2B5EF4-FFF2-40B4-BE49-F238E27FC236}">
                <a16:creationId xmlns:a16="http://schemas.microsoft.com/office/drawing/2014/main" id="{E0A5473A-0BFE-1314-147F-B02E740D7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4" y="839069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4" name="Rectangle 50">
            <a:extLst>
              <a:ext uri="{FF2B5EF4-FFF2-40B4-BE49-F238E27FC236}">
                <a16:creationId xmlns:a16="http://schemas.microsoft.com/office/drawing/2014/main" id="{1202442B-A425-3C22-8A4B-AABE93337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662" y="838849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5" name="Rectangle 50">
            <a:extLst>
              <a:ext uri="{FF2B5EF4-FFF2-40B4-BE49-F238E27FC236}">
                <a16:creationId xmlns:a16="http://schemas.microsoft.com/office/drawing/2014/main" id="{81FEF518-BFFA-EAC3-97E0-C27ECA22F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743" y="838222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6" name="Rectangle 50">
            <a:extLst>
              <a:ext uri="{FF2B5EF4-FFF2-40B4-BE49-F238E27FC236}">
                <a16:creationId xmlns:a16="http://schemas.microsoft.com/office/drawing/2014/main" id="{760912FE-DC2E-A410-1735-60C876EAE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3221" y="838002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7" name="Rectangle 50">
            <a:extLst>
              <a:ext uri="{FF2B5EF4-FFF2-40B4-BE49-F238E27FC236}">
                <a16:creationId xmlns:a16="http://schemas.microsoft.com/office/drawing/2014/main" id="{5F03C4E8-00DD-2520-8082-D49915845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1984" y="839091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sp>
        <p:nvSpPr>
          <p:cNvPr id="108" name="Rectangle 50">
            <a:extLst>
              <a:ext uri="{FF2B5EF4-FFF2-40B4-BE49-F238E27FC236}">
                <a16:creationId xmlns:a16="http://schemas.microsoft.com/office/drawing/2014/main" id="{A7A7B18F-C8CB-8221-7AC4-9E1F90FF3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462" y="838871"/>
            <a:ext cx="296153" cy="533360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e-IL"/>
          </a:p>
        </p:txBody>
      </p:sp>
      <p:grpSp>
        <p:nvGrpSpPr>
          <p:cNvPr id="154" name="Group 57">
            <a:extLst>
              <a:ext uri="{FF2B5EF4-FFF2-40B4-BE49-F238E27FC236}">
                <a16:creationId xmlns:a16="http://schemas.microsoft.com/office/drawing/2014/main" id="{2EF099F1-9090-0D91-8E12-BA8F9504723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445732" y="1475960"/>
            <a:ext cx="431800" cy="215900"/>
            <a:chOff x="2109" y="3294"/>
            <a:chExt cx="363" cy="181"/>
          </a:xfrm>
        </p:grpSpPr>
        <p:sp>
          <p:nvSpPr>
            <p:cNvPr id="155" name="Line 58">
              <a:extLst>
                <a:ext uri="{FF2B5EF4-FFF2-40B4-BE49-F238E27FC236}">
                  <a16:creationId xmlns:a16="http://schemas.microsoft.com/office/drawing/2014/main" id="{9BF811FE-5DC8-2684-2316-25B5B1DDB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47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6" name="Line 59">
              <a:extLst>
                <a:ext uri="{FF2B5EF4-FFF2-40B4-BE49-F238E27FC236}">
                  <a16:creationId xmlns:a16="http://schemas.microsoft.com/office/drawing/2014/main" id="{DDAB5461-7633-4E58-6FA4-F412F478A74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99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7" name="Line 60">
              <a:extLst>
                <a:ext uri="{FF2B5EF4-FFF2-40B4-BE49-F238E27FC236}">
                  <a16:creationId xmlns:a16="http://schemas.microsoft.com/office/drawing/2014/main" id="{7DA0C7BD-BEF9-5F3A-1514-0A93E38EA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29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8" name="Line 61">
              <a:extLst>
                <a:ext uri="{FF2B5EF4-FFF2-40B4-BE49-F238E27FC236}">
                  <a16:creationId xmlns:a16="http://schemas.microsoft.com/office/drawing/2014/main" id="{965033C7-A436-BE58-5603-75F6284C614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1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59" name="Group 57">
            <a:extLst>
              <a:ext uri="{FF2B5EF4-FFF2-40B4-BE49-F238E27FC236}">
                <a16:creationId xmlns:a16="http://schemas.microsoft.com/office/drawing/2014/main" id="{6C308983-73C8-1D58-E719-01A5BA69B71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869506" y="1476170"/>
            <a:ext cx="431800" cy="215900"/>
            <a:chOff x="2109" y="3294"/>
            <a:chExt cx="363" cy="181"/>
          </a:xfrm>
        </p:grpSpPr>
        <p:sp>
          <p:nvSpPr>
            <p:cNvPr id="160" name="Line 58">
              <a:extLst>
                <a:ext uri="{FF2B5EF4-FFF2-40B4-BE49-F238E27FC236}">
                  <a16:creationId xmlns:a16="http://schemas.microsoft.com/office/drawing/2014/main" id="{ED72F46F-981C-563A-ACA3-61CBD5C28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47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1" name="Line 59">
              <a:extLst>
                <a:ext uri="{FF2B5EF4-FFF2-40B4-BE49-F238E27FC236}">
                  <a16:creationId xmlns:a16="http://schemas.microsoft.com/office/drawing/2014/main" id="{B606767B-5736-9014-80B4-EEA7176D450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99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2" name="Line 60">
              <a:extLst>
                <a:ext uri="{FF2B5EF4-FFF2-40B4-BE49-F238E27FC236}">
                  <a16:creationId xmlns:a16="http://schemas.microsoft.com/office/drawing/2014/main" id="{719C1AAE-3A1B-E733-1EF4-FE37F14E4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29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3" name="Line 61">
              <a:extLst>
                <a:ext uri="{FF2B5EF4-FFF2-40B4-BE49-F238E27FC236}">
                  <a16:creationId xmlns:a16="http://schemas.microsoft.com/office/drawing/2014/main" id="{7A78596A-F924-E1D5-AC1F-2B5EC5DC185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1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164" name="Line 53">
            <a:extLst>
              <a:ext uri="{FF2B5EF4-FFF2-40B4-BE49-F238E27FC236}">
                <a16:creationId xmlns:a16="http://schemas.microsoft.com/office/drawing/2014/main" id="{9AAD7FBA-BBAD-4928-D721-B29D96E27C6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11174" y="1005928"/>
            <a:ext cx="839141" cy="59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69" name="Line 58">
            <a:extLst>
              <a:ext uri="{FF2B5EF4-FFF2-40B4-BE49-F238E27FC236}">
                <a16:creationId xmlns:a16="http://schemas.microsoft.com/office/drawing/2014/main" id="{38339E59-91D2-4157-0257-E558260B0A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4811" y="798403"/>
            <a:ext cx="21530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71" name="Line 60">
            <a:extLst>
              <a:ext uri="{FF2B5EF4-FFF2-40B4-BE49-F238E27FC236}">
                <a16:creationId xmlns:a16="http://schemas.microsoft.com/office/drawing/2014/main" id="{12CE6EF7-54FF-8C2A-093A-3F18A1BF5E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0697" y="790028"/>
            <a:ext cx="21530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72" name="Line 61">
            <a:extLst>
              <a:ext uri="{FF2B5EF4-FFF2-40B4-BE49-F238E27FC236}">
                <a16:creationId xmlns:a16="http://schemas.microsoft.com/office/drawing/2014/main" id="{05D73FCA-7C43-E699-E45B-868A097DEEB4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3763342" y="898574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78" name="Line 61">
            <a:extLst>
              <a:ext uri="{FF2B5EF4-FFF2-40B4-BE49-F238E27FC236}">
                <a16:creationId xmlns:a16="http://schemas.microsoft.com/office/drawing/2014/main" id="{C3DAF3B2-DAA4-E47B-39E2-88399427F7A7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4193356" y="903557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84" name="Line 62">
            <a:extLst>
              <a:ext uri="{FF2B5EF4-FFF2-40B4-BE49-F238E27FC236}">
                <a16:creationId xmlns:a16="http://schemas.microsoft.com/office/drawing/2014/main" id="{43BC123A-481D-4A2E-7200-EFA5C330AD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2404" y="999874"/>
            <a:ext cx="1483720" cy="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grpSp>
        <p:nvGrpSpPr>
          <p:cNvPr id="185" name="Group 57">
            <a:extLst>
              <a:ext uri="{FF2B5EF4-FFF2-40B4-BE49-F238E27FC236}">
                <a16:creationId xmlns:a16="http://schemas.microsoft.com/office/drawing/2014/main" id="{2356D188-6FC9-981E-4F6A-BCD10DAE55D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289708" y="1480098"/>
            <a:ext cx="431800" cy="215900"/>
            <a:chOff x="2109" y="3294"/>
            <a:chExt cx="363" cy="181"/>
          </a:xfrm>
        </p:grpSpPr>
        <p:sp>
          <p:nvSpPr>
            <p:cNvPr id="186" name="Line 58">
              <a:extLst>
                <a:ext uri="{FF2B5EF4-FFF2-40B4-BE49-F238E27FC236}">
                  <a16:creationId xmlns:a16="http://schemas.microsoft.com/office/drawing/2014/main" id="{BCE76CE5-EDEF-8F1B-AE68-BC2338E7C6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47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7" name="Line 59">
              <a:extLst>
                <a:ext uri="{FF2B5EF4-FFF2-40B4-BE49-F238E27FC236}">
                  <a16:creationId xmlns:a16="http://schemas.microsoft.com/office/drawing/2014/main" id="{B52A3AB9-402B-595D-8C01-D78703FDF21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99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8" name="Line 60">
              <a:extLst>
                <a:ext uri="{FF2B5EF4-FFF2-40B4-BE49-F238E27FC236}">
                  <a16:creationId xmlns:a16="http://schemas.microsoft.com/office/drawing/2014/main" id="{EF9E8D2B-13A8-6C55-58C7-4C371C464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29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89" name="Line 61">
              <a:extLst>
                <a:ext uri="{FF2B5EF4-FFF2-40B4-BE49-F238E27FC236}">
                  <a16:creationId xmlns:a16="http://schemas.microsoft.com/office/drawing/2014/main" id="{57A8C081-9B97-31E1-053C-34A8BC4854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1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90" name="Group 57">
            <a:extLst>
              <a:ext uri="{FF2B5EF4-FFF2-40B4-BE49-F238E27FC236}">
                <a16:creationId xmlns:a16="http://schemas.microsoft.com/office/drawing/2014/main" id="{8F2279AD-D1A2-1B63-5E20-1822BC1D757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718531" y="1480098"/>
            <a:ext cx="431800" cy="215900"/>
            <a:chOff x="2109" y="3294"/>
            <a:chExt cx="363" cy="181"/>
          </a:xfrm>
        </p:grpSpPr>
        <p:sp>
          <p:nvSpPr>
            <p:cNvPr id="191" name="Line 58">
              <a:extLst>
                <a:ext uri="{FF2B5EF4-FFF2-40B4-BE49-F238E27FC236}">
                  <a16:creationId xmlns:a16="http://schemas.microsoft.com/office/drawing/2014/main" id="{390AF888-A0C3-6CEC-99C4-D0BE857AB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47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92" name="Line 59">
              <a:extLst>
                <a:ext uri="{FF2B5EF4-FFF2-40B4-BE49-F238E27FC236}">
                  <a16:creationId xmlns:a16="http://schemas.microsoft.com/office/drawing/2014/main" id="{3DD76F77-CAA0-5C7A-FA5C-85120723369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99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93" name="Line 60">
              <a:extLst>
                <a:ext uri="{FF2B5EF4-FFF2-40B4-BE49-F238E27FC236}">
                  <a16:creationId xmlns:a16="http://schemas.microsoft.com/office/drawing/2014/main" id="{02327F22-407B-D789-D467-CE2112DF8F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329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94" name="Line 61">
              <a:extLst>
                <a:ext uri="{FF2B5EF4-FFF2-40B4-BE49-F238E27FC236}">
                  <a16:creationId xmlns:a16="http://schemas.microsoft.com/office/drawing/2014/main" id="{43985F74-A2FA-6E97-71FA-7FBEAA8FEF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81" y="338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195" name="Line 53">
            <a:extLst>
              <a:ext uri="{FF2B5EF4-FFF2-40B4-BE49-F238E27FC236}">
                <a16:creationId xmlns:a16="http://schemas.microsoft.com/office/drawing/2014/main" id="{64F6611A-133E-5AE2-E445-948F918A33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7024" y="1686877"/>
            <a:ext cx="21530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0674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4689D-A54D-D8F2-8CDB-8D944317F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F790034E-C331-6AFB-DC72-124D15F36171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3900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Hierarchical design (child)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1" name="מלבן 70">
            <a:extLst>
              <a:ext uri="{FF2B5EF4-FFF2-40B4-BE49-F238E27FC236}">
                <a16:creationId xmlns:a16="http://schemas.microsoft.com/office/drawing/2014/main" id="{91D9DBB0-812A-1BF9-BC9D-63DAD83541DB}"/>
              </a:ext>
            </a:extLst>
          </p:cNvPr>
          <p:cNvSpPr>
            <a:spLocks noGrp="1"/>
          </p:cNvSpPr>
          <p:nvPr/>
        </p:nvSpPr>
        <p:spPr>
          <a:xfrm>
            <a:off x="663432" y="1052428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Verilog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2" name="מלבן 71">
            <a:extLst>
              <a:ext uri="{FF2B5EF4-FFF2-40B4-BE49-F238E27FC236}">
                <a16:creationId xmlns:a16="http://schemas.microsoft.com/office/drawing/2014/main" id="{5E875384-D17B-9A8C-18C8-089B9E185022}"/>
              </a:ext>
            </a:extLst>
          </p:cNvPr>
          <p:cNvSpPr>
            <a:spLocks noGrp="1"/>
          </p:cNvSpPr>
          <p:nvPr/>
        </p:nvSpPr>
        <p:spPr>
          <a:xfrm>
            <a:off x="6915091" y="1052427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VHDL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3" name="תיבת טקסט 72">
            <a:extLst>
              <a:ext uri="{FF2B5EF4-FFF2-40B4-BE49-F238E27FC236}">
                <a16:creationId xmlns:a16="http://schemas.microsoft.com/office/drawing/2014/main" id="{B642E52B-F498-EC37-7EAD-1FD6152D6A5F}"/>
              </a:ext>
            </a:extLst>
          </p:cNvPr>
          <p:cNvSpPr txBox="1"/>
          <p:nvPr/>
        </p:nvSpPr>
        <p:spPr>
          <a:xfrm>
            <a:off x="403510" y="1893455"/>
            <a:ext cx="5141151" cy="2123658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module </a:t>
            </a:r>
            <a:r>
              <a:rPr lang="en-US" sz="1200" dirty="0" err="1"/>
              <a:t>bus_converter_child</a:t>
            </a:r>
            <a:r>
              <a:rPr lang="en-US" sz="1200" dirty="0"/>
              <a:t> #(</a:t>
            </a:r>
          </a:p>
          <a:p>
            <a:r>
              <a:rPr lang="en-US" sz="1200" dirty="0"/>
              <a:t>    parameter IN_WIDTH  = 16, // Default input size</a:t>
            </a:r>
          </a:p>
          <a:p>
            <a:r>
              <a:rPr lang="en-US" sz="1200" dirty="0"/>
              <a:t>    parameter OUT_WIDTH = 8   // Default output size</a:t>
            </a:r>
          </a:p>
          <a:p>
            <a:r>
              <a:rPr lang="en-US" sz="1200" dirty="0"/>
              <a:t>)(</a:t>
            </a:r>
          </a:p>
          <a:p>
            <a:r>
              <a:rPr lang="en-US" sz="1200" dirty="0"/>
              <a:t>    input  [IN_WIDTH-1:0]  </a:t>
            </a:r>
            <a:r>
              <a:rPr lang="en-US" sz="1200" dirty="0" err="1"/>
              <a:t>raw_data_in</a:t>
            </a:r>
            <a:r>
              <a:rPr lang="en-US" sz="1200" dirty="0"/>
              <a:t>,</a:t>
            </a:r>
          </a:p>
          <a:p>
            <a:r>
              <a:rPr lang="en-US" sz="1200" dirty="0"/>
              <a:t>    output [OUT_WIDTH-1:0] </a:t>
            </a:r>
            <a:r>
              <a:rPr lang="en-US" sz="1200" dirty="0" err="1"/>
              <a:t>reduced_data_out</a:t>
            </a:r>
            <a:endParaRPr lang="en-US" sz="1200" dirty="0"/>
          </a:p>
          <a:p>
            <a:r>
              <a:rPr lang="en-US" sz="1200" dirty="0"/>
              <a:t>);</a:t>
            </a:r>
          </a:p>
          <a:p>
            <a:r>
              <a:rPr lang="en-US" sz="1200" dirty="0"/>
              <a:t>    // Simple truncation: takes the lowest 'OUT_WIDTH' bits from the input</a:t>
            </a:r>
          </a:p>
          <a:p>
            <a:r>
              <a:rPr lang="en-US" sz="1200" dirty="0"/>
              <a:t>    assign </a:t>
            </a:r>
            <a:r>
              <a:rPr lang="en-US" sz="1200" dirty="0" err="1"/>
              <a:t>reduced_data_out</a:t>
            </a:r>
            <a:r>
              <a:rPr lang="en-US" sz="1200" dirty="0"/>
              <a:t> = </a:t>
            </a:r>
            <a:r>
              <a:rPr lang="en-US" sz="1200" dirty="0" err="1"/>
              <a:t>raw_data_in</a:t>
            </a:r>
            <a:r>
              <a:rPr lang="en-US" sz="1200" dirty="0"/>
              <a:t>[OUT_WIDTH-1:0];</a:t>
            </a:r>
          </a:p>
          <a:p>
            <a:r>
              <a:rPr lang="en-US" sz="1200" dirty="0" err="1"/>
              <a:t>endmodule</a:t>
            </a:r>
            <a:endParaRPr lang="en-US" sz="1200" dirty="0"/>
          </a:p>
          <a:p>
            <a:endParaRPr lang="he-IL" sz="1200" dirty="0"/>
          </a:p>
        </p:txBody>
      </p:sp>
      <p:sp>
        <p:nvSpPr>
          <p:cNvPr id="74" name="תיבת טקסט 73">
            <a:extLst>
              <a:ext uri="{FF2B5EF4-FFF2-40B4-BE49-F238E27FC236}">
                <a16:creationId xmlns:a16="http://schemas.microsoft.com/office/drawing/2014/main" id="{FE41DB2B-5C97-3DFA-EECE-AA4AA54ECF11}"/>
              </a:ext>
            </a:extLst>
          </p:cNvPr>
          <p:cNvSpPr txBox="1"/>
          <p:nvPr/>
        </p:nvSpPr>
        <p:spPr>
          <a:xfrm>
            <a:off x="6227038" y="1536174"/>
            <a:ext cx="5078634" cy="378565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library IEEE;</a:t>
            </a:r>
          </a:p>
          <a:p>
            <a:r>
              <a:rPr lang="en-US" sz="1200" dirty="0"/>
              <a:t>use IEEE.STD_LOGIC_1164.all;</a:t>
            </a:r>
          </a:p>
          <a:p>
            <a:endParaRPr lang="en-US" sz="1200" dirty="0"/>
          </a:p>
          <a:p>
            <a:r>
              <a:rPr lang="en-US" sz="1200" dirty="0"/>
              <a:t>entity </a:t>
            </a:r>
            <a:r>
              <a:rPr lang="en-US" sz="1200" dirty="0" err="1"/>
              <a:t>bus_converter_child</a:t>
            </a:r>
            <a:r>
              <a:rPr lang="en-US" sz="1200" dirty="0"/>
              <a:t> is</a:t>
            </a:r>
          </a:p>
          <a:p>
            <a:r>
              <a:rPr lang="en-US" sz="1200" dirty="0"/>
              <a:t>    generic (</a:t>
            </a:r>
          </a:p>
          <a:p>
            <a:r>
              <a:rPr lang="en-US" sz="1200" dirty="0"/>
              <a:t>        IN_WIDTH  : integer := 16; -- Default input size</a:t>
            </a:r>
          </a:p>
          <a:p>
            <a:r>
              <a:rPr lang="en-US" sz="1200" dirty="0"/>
              <a:t>        OUT_WIDTH : integer := 8   -- Default output size</a:t>
            </a:r>
          </a:p>
          <a:p>
            <a:r>
              <a:rPr lang="en-US" sz="1200" dirty="0"/>
              <a:t>    );</a:t>
            </a:r>
          </a:p>
          <a:p>
            <a:r>
              <a:rPr lang="en-US" sz="1200" dirty="0"/>
              <a:t>    port (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raw_data_in</a:t>
            </a:r>
            <a:r>
              <a:rPr lang="en-US" sz="1200" dirty="0"/>
              <a:t>      : in  </a:t>
            </a:r>
            <a:r>
              <a:rPr lang="en-US" sz="1200" dirty="0" err="1"/>
              <a:t>std_logic_vector</a:t>
            </a:r>
            <a:r>
              <a:rPr lang="en-US" sz="1200" dirty="0"/>
              <a:t>(IN_WIDTH-1 </a:t>
            </a:r>
            <a:r>
              <a:rPr lang="en-US" sz="1200" dirty="0" err="1"/>
              <a:t>downto</a:t>
            </a:r>
            <a:r>
              <a:rPr lang="en-US" sz="1200" dirty="0"/>
              <a:t> 0);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reduced_data_out</a:t>
            </a:r>
            <a:r>
              <a:rPr lang="en-US" sz="1200" dirty="0"/>
              <a:t> : out </a:t>
            </a:r>
            <a:r>
              <a:rPr lang="en-US" sz="1200" dirty="0" err="1"/>
              <a:t>std_logic_vector</a:t>
            </a:r>
            <a:r>
              <a:rPr lang="en-US" sz="1200" dirty="0"/>
              <a:t>(OUT_WIDTH-1 </a:t>
            </a:r>
            <a:r>
              <a:rPr lang="en-US" sz="1200" dirty="0" err="1"/>
              <a:t>downto</a:t>
            </a:r>
            <a:r>
              <a:rPr lang="en-US" sz="1200" dirty="0"/>
              <a:t> 0)</a:t>
            </a:r>
          </a:p>
          <a:p>
            <a:r>
              <a:rPr lang="en-US" sz="1200" dirty="0"/>
              <a:t>    );</a:t>
            </a:r>
          </a:p>
          <a:p>
            <a:r>
              <a:rPr lang="en-US" sz="1200" dirty="0"/>
              <a:t>end entity </a:t>
            </a:r>
            <a:r>
              <a:rPr lang="en-US" sz="1200" dirty="0" err="1"/>
              <a:t>bus_converter_child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architecture behavioral of </a:t>
            </a:r>
            <a:r>
              <a:rPr lang="en-US" sz="1200" dirty="0" err="1"/>
              <a:t>bus_converter_child</a:t>
            </a:r>
            <a:r>
              <a:rPr lang="en-US" sz="1200" dirty="0"/>
              <a:t> is</a:t>
            </a:r>
          </a:p>
          <a:p>
            <a:r>
              <a:rPr lang="en-US" sz="1200" dirty="0"/>
              <a:t>begin</a:t>
            </a:r>
          </a:p>
          <a:p>
            <a:r>
              <a:rPr lang="en-US" sz="1200" dirty="0"/>
              <a:t>    -- Slice the input vector from index (OUT_WIDTH-1) down to 0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reduced_data_out</a:t>
            </a:r>
            <a:r>
              <a:rPr lang="en-US" sz="1200" dirty="0"/>
              <a:t> &lt;= </a:t>
            </a:r>
            <a:r>
              <a:rPr lang="en-US" sz="1200" dirty="0" err="1"/>
              <a:t>raw_data_in</a:t>
            </a:r>
            <a:r>
              <a:rPr lang="en-US" sz="1200" dirty="0"/>
              <a:t>(OUT_WIDTH-1 </a:t>
            </a:r>
            <a:r>
              <a:rPr lang="en-US" sz="1200" dirty="0" err="1"/>
              <a:t>downto</a:t>
            </a:r>
            <a:r>
              <a:rPr lang="en-US" sz="1200" dirty="0"/>
              <a:t> 0);</a:t>
            </a:r>
          </a:p>
          <a:p>
            <a:r>
              <a:rPr lang="en-US" sz="1200" dirty="0"/>
              <a:t>end architecture behavioral;</a:t>
            </a:r>
          </a:p>
          <a:p>
            <a:endParaRPr lang="he-IL" sz="1200" dirty="0"/>
          </a:p>
        </p:txBody>
      </p:sp>
    </p:spTree>
    <p:extLst>
      <p:ext uri="{BB962C8B-B14F-4D97-AF65-F5344CB8AC3E}">
        <p14:creationId xmlns:p14="http://schemas.microsoft.com/office/powerpoint/2010/main" val="771280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E8E0D-D137-679C-2ECD-C48D07ADD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C552D488-2C1D-0CA6-1C75-B98C5B30AABB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3900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Hierarchical design (parent)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1" name="מלבן 70">
            <a:extLst>
              <a:ext uri="{FF2B5EF4-FFF2-40B4-BE49-F238E27FC236}">
                <a16:creationId xmlns:a16="http://schemas.microsoft.com/office/drawing/2014/main" id="{4902173A-2911-C706-49A4-07A2EC9150B9}"/>
              </a:ext>
            </a:extLst>
          </p:cNvPr>
          <p:cNvSpPr>
            <a:spLocks noGrp="1"/>
          </p:cNvSpPr>
          <p:nvPr/>
        </p:nvSpPr>
        <p:spPr>
          <a:xfrm>
            <a:off x="663432" y="1052428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Verilog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2" name="מלבן 71">
            <a:extLst>
              <a:ext uri="{FF2B5EF4-FFF2-40B4-BE49-F238E27FC236}">
                <a16:creationId xmlns:a16="http://schemas.microsoft.com/office/drawing/2014/main" id="{1704B980-3C39-798B-4A77-67FE0ABB585C}"/>
              </a:ext>
            </a:extLst>
          </p:cNvPr>
          <p:cNvSpPr>
            <a:spLocks noGrp="1"/>
          </p:cNvSpPr>
          <p:nvPr/>
        </p:nvSpPr>
        <p:spPr>
          <a:xfrm>
            <a:off x="10230945" y="189922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VHDL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3" name="תיבת טקסט 72">
            <a:extLst>
              <a:ext uri="{FF2B5EF4-FFF2-40B4-BE49-F238E27FC236}">
                <a16:creationId xmlns:a16="http://schemas.microsoft.com/office/drawing/2014/main" id="{1D59B459-2631-4C4E-CC64-BF54E31FEF60}"/>
              </a:ext>
            </a:extLst>
          </p:cNvPr>
          <p:cNvSpPr txBox="1"/>
          <p:nvPr/>
        </p:nvSpPr>
        <p:spPr>
          <a:xfrm>
            <a:off x="355459" y="1555436"/>
            <a:ext cx="5461581" cy="32316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module </a:t>
            </a:r>
            <a:r>
              <a:rPr lang="en-US" sz="1200" dirty="0" err="1"/>
              <a:t>system_top</a:t>
            </a:r>
            <a:r>
              <a:rPr lang="en-US" sz="1200" dirty="0"/>
              <a:t> (</a:t>
            </a:r>
          </a:p>
          <a:p>
            <a:r>
              <a:rPr lang="en-US" sz="1200" dirty="0"/>
              <a:t>    // Audio path signals</a:t>
            </a:r>
          </a:p>
          <a:p>
            <a:r>
              <a:rPr lang="en-US" sz="1200" dirty="0"/>
              <a:t>    input  [31:0] audio_32bit_in,</a:t>
            </a:r>
          </a:p>
          <a:p>
            <a:r>
              <a:rPr lang="en-US" sz="1200" dirty="0"/>
              <a:t>    output [15:0] audio_16bit_out</a:t>
            </a:r>
          </a:p>
          <a:p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n-US" sz="1200" dirty="0"/>
              <a:t>    // Instance 1: Converts 32-bit audio down to 16-bit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bus_converter_child</a:t>
            </a:r>
            <a:r>
              <a:rPr lang="en-US" sz="1200" dirty="0"/>
              <a:t> #(</a:t>
            </a:r>
          </a:p>
          <a:p>
            <a:r>
              <a:rPr lang="en-US" sz="1200" dirty="0"/>
              <a:t>        .IN_WIDTH(32),</a:t>
            </a:r>
          </a:p>
          <a:p>
            <a:r>
              <a:rPr lang="en-US" sz="1200" dirty="0"/>
              <a:t>        .OUT_WIDTH(16)</a:t>
            </a:r>
          </a:p>
          <a:p>
            <a:r>
              <a:rPr lang="en-US" sz="1200" dirty="0"/>
              <a:t>    ) </a:t>
            </a:r>
            <a:r>
              <a:rPr lang="en-US" sz="1200" dirty="0" err="1"/>
              <a:t>audio_dsp</a:t>
            </a:r>
            <a:r>
              <a:rPr lang="en-US" sz="1200" dirty="0"/>
              <a:t> (</a:t>
            </a:r>
          </a:p>
          <a:p>
            <a:r>
              <a:rPr lang="en-US" sz="1200" dirty="0"/>
              <a:t>        .</a:t>
            </a:r>
            <a:r>
              <a:rPr lang="en-US" sz="1200" dirty="0" err="1"/>
              <a:t>raw_data_in</a:t>
            </a:r>
            <a:r>
              <a:rPr lang="en-US" sz="1200" dirty="0"/>
              <a:t>(audio_32bit_in),</a:t>
            </a:r>
          </a:p>
          <a:p>
            <a:r>
              <a:rPr lang="en-US" sz="1200" dirty="0"/>
              <a:t>        .</a:t>
            </a:r>
            <a:r>
              <a:rPr lang="en-US" sz="1200" dirty="0" err="1"/>
              <a:t>reduced_data_out</a:t>
            </a:r>
            <a:r>
              <a:rPr lang="en-US" sz="1200" dirty="0"/>
              <a:t>(audio_16bit_out)</a:t>
            </a:r>
          </a:p>
          <a:p>
            <a:r>
              <a:rPr lang="en-US" sz="1200" dirty="0"/>
              <a:t>    );</a:t>
            </a:r>
          </a:p>
          <a:p>
            <a:endParaRPr lang="en-US" sz="1200" dirty="0"/>
          </a:p>
          <a:p>
            <a:r>
              <a:rPr lang="en-US" sz="1200" dirty="0" err="1"/>
              <a:t>endmodule</a:t>
            </a:r>
            <a:endParaRPr lang="en-US" sz="1200" dirty="0"/>
          </a:p>
          <a:p>
            <a:endParaRPr lang="he-IL" sz="1200" dirty="0"/>
          </a:p>
        </p:txBody>
      </p:sp>
      <p:sp>
        <p:nvSpPr>
          <p:cNvPr id="74" name="תיבת טקסט 73">
            <a:extLst>
              <a:ext uri="{FF2B5EF4-FFF2-40B4-BE49-F238E27FC236}">
                <a16:creationId xmlns:a16="http://schemas.microsoft.com/office/drawing/2014/main" id="{C0210603-92DA-1607-CC45-0F2CF63C17CA}"/>
              </a:ext>
            </a:extLst>
          </p:cNvPr>
          <p:cNvSpPr txBox="1"/>
          <p:nvPr/>
        </p:nvSpPr>
        <p:spPr>
          <a:xfrm>
            <a:off x="7086020" y="666171"/>
            <a:ext cx="4094391" cy="5078313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200" dirty="0"/>
              <a:t>library IEEE;</a:t>
            </a:r>
          </a:p>
          <a:p>
            <a:r>
              <a:rPr lang="en-US" sz="1200" dirty="0"/>
              <a:t>use IEEE.STD_LOGIC_1164.all;</a:t>
            </a:r>
          </a:p>
          <a:p>
            <a:endParaRPr lang="en-US" sz="1200" dirty="0"/>
          </a:p>
          <a:p>
            <a:r>
              <a:rPr lang="en-US" sz="1200" dirty="0"/>
              <a:t>entity </a:t>
            </a:r>
            <a:r>
              <a:rPr lang="en-US" sz="1200" dirty="0" err="1"/>
              <a:t>system_top</a:t>
            </a:r>
            <a:r>
              <a:rPr lang="en-US" sz="1200" dirty="0"/>
              <a:t> is</a:t>
            </a:r>
          </a:p>
          <a:p>
            <a:r>
              <a:rPr lang="en-US" sz="1200" dirty="0"/>
              <a:t>    port (</a:t>
            </a:r>
          </a:p>
          <a:p>
            <a:r>
              <a:rPr lang="en-US" sz="1200" dirty="0"/>
              <a:t>        -- Audio path signals</a:t>
            </a:r>
          </a:p>
          <a:p>
            <a:r>
              <a:rPr lang="en-US" sz="1200" dirty="0"/>
              <a:t>        audio_32bit_in  : in  </a:t>
            </a:r>
            <a:r>
              <a:rPr lang="en-US" sz="1200" dirty="0" err="1"/>
              <a:t>std_logic_vector</a:t>
            </a:r>
            <a:r>
              <a:rPr lang="en-US" sz="1200" dirty="0"/>
              <a:t>(31 </a:t>
            </a:r>
            <a:r>
              <a:rPr lang="en-US" sz="1200" dirty="0" err="1"/>
              <a:t>downto</a:t>
            </a:r>
            <a:r>
              <a:rPr lang="en-US" sz="1200" dirty="0"/>
              <a:t> 0);</a:t>
            </a:r>
          </a:p>
          <a:p>
            <a:r>
              <a:rPr lang="en-US" sz="1200" dirty="0"/>
              <a:t>        audio_16bit_out : out </a:t>
            </a:r>
            <a:r>
              <a:rPr lang="en-US" sz="1200" dirty="0" err="1"/>
              <a:t>std_logic_vector</a:t>
            </a:r>
            <a:r>
              <a:rPr lang="en-US" sz="1200" dirty="0"/>
              <a:t>(15 </a:t>
            </a:r>
            <a:r>
              <a:rPr lang="en-US" sz="1200" dirty="0" err="1"/>
              <a:t>downto</a:t>
            </a:r>
            <a:r>
              <a:rPr lang="en-US" sz="1200" dirty="0"/>
              <a:t> 0)</a:t>
            </a:r>
          </a:p>
          <a:p>
            <a:r>
              <a:rPr lang="en-US" sz="1200" dirty="0"/>
              <a:t>);</a:t>
            </a:r>
          </a:p>
          <a:p>
            <a:r>
              <a:rPr lang="en-US" sz="1200" dirty="0"/>
              <a:t>end entity </a:t>
            </a:r>
            <a:r>
              <a:rPr lang="en-US" sz="1200" dirty="0" err="1"/>
              <a:t>system_top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architecture structural of </a:t>
            </a:r>
            <a:r>
              <a:rPr lang="en-US" sz="1200" dirty="0" err="1"/>
              <a:t>system_top</a:t>
            </a:r>
            <a:r>
              <a:rPr lang="en-US" sz="1200" dirty="0"/>
              <a:t> is</a:t>
            </a:r>
          </a:p>
          <a:p>
            <a:r>
              <a:rPr lang="en-US" sz="1200" dirty="0"/>
              <a:t>begin</a:t>
            </a:r>
          </a:p>
          <a:p>
            <a:endParaRPr lang="en-US" sz="1200" dirty="0"/>
          </a:p>
          <a:p>
            <a:r>
              <a:rPr lang="en-US" sz="1200" dirty="0"/>
              <a:t>    -- Instance 1: Converts 32-bit audio down to 16-bit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audio_dsp</a:t>
            </a:r>
            <a:r>
              <a:rPr lang="en-US" sz="1200" dirty="0"/>
              <a:t>: entity </a:t>
            </a:r>
            <a:r>
              <a:rPr lang="en-US" sz="1200" dirty="0" err="1"/>
              <a:t>work.bus_converter_child</a:t>
            </a:r>
            <a:endParaRPr lang="en-US" sz="1200" dirty="0"/>
          </a:p>
          <a:p>
            <a:r>
              <a:rPr lang="en-US" sz="1200" dirty="0"/>
              <a:t>        generic map (</a:t>
            </a:r>
          </a:p>
          <a:p>
            <a:r>
              <a:rPr lang="en-US" sz="1200" dirty="0"/>
              <a:t>            IN_WIDTH  =&gt; 32,</a:t>
            </a:r>
          </a:p>
          <a:p>
            <a:r>
              <a:rPr lang="en-US" sz="1200" dirty="0"/>
              <a:t>            OUT_WIDTH =&gt; 16</a:t>
            </a:r>
          </a:p>
          <a:p>
            <a:r>
              <a:rPr lang="en-US" sz="1200" dirty="0"/>
              <a:t>        )</a:t>
            </a:r>
          </a:p>
          <a:p>
            <a:r>
              <a:rPr lang="en-US" sz="1200" dirty="0"/>
              <a:t>        port map (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raw_data_in</a:t>
            </a:r>
            <a:r>
              <a:rPr lang="en-US" sz="1200" dirty="0"/>
              <a:t>      =&gt; audio_32bit_in,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reduced_data_out</a:t>
            </a:r>
            <a:r>
              <a:rPr lang="en-US" sz="1200" dirty="0"/>
              <a:t> =&gt; audio_16bit_out</a:t>
            </a:r>
          </a:p>
          <a:p>
            <a:r>
              <a:rPr lang="en-US" sz="1200" dirty="0"/>
              <a:t>        );</a:t>
            </a:r>
          </a:p>
          <a:p>
            <a:endParaRPr lang="en-US" sz="1200" dirty="0"/>
          </a:p>
          <a:p>
            <a:r>
              <a:rPr lang="en-US" sz="1200" dirty="0"/>
              <a:t>end architecture structural;</a:t>
            </a:r>
            <a:endParaRPr lang="he-IL" sz="1200" dirty="0"/>
          </a:p>
        </p:txBody>
      </p:sp>
    </p:spTree>
    <p:extLst>
      <p:ext uri="{BB962C8B-B14F-4D97-AF65-F5344CB8AC3E}">
        <p14:creationId xmlns:p14="http://schemas.microsoft.com/office/powerpoint/2010/main" val="3015973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35202-AF73-8BF7-7A58-E3579767C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7B020E6C-2C06-65F8-ED9D-8E2C51C84B87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3900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A Final State Machine (FSM)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124" name="Picture 4" descr="Graph image">
            <a:extLst>
              <a:ext uri="{FF2B5EF4-FFF2-40B4-BE49-F238E27FC236}">
                <a16:creationId xmlns:a16="http://schemas.microsoft.com/office/drawing/2014/main" id="{FC8290B7-BF92-3A0C-6783-7858141FA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509" y="494722"/>
            <a:ext cx="3843545" cy="3624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F3AD4D75-71DB-5418-AD87-21BD98D37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491" y="1535861"/>
            <a:ext cx="708672" cy="1081288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9" name="Line 74">
            <a:extLst>
              <a:ext uri="{FF2B5EF4-FFF2-40B4-BE49-F238E27FC236}">
                <a16:creationId xmlns:a16="http://schemas.microsoft.com/office/drawing/2014/main" id="{D30975DA-ED00-79F7-07E1-619975CB54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8159" y="2624842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2" name="Line 82">
            <a:extLst>
              <a:ext uri="{FF2B5EF4-FFF2-40B4-BE49-F238E27FC236}">
                <a16:creationId xmlns:a16="http://schemas.microsoft.com/office/drawing/2014/main" id="{8A42D82E-6D9A-DF4D-8C30-017A2F246192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173794" y="2034241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3" name="Line 83">
            <a:extLst>
              <a:ext uri="{FF2B5EF4-FFF2-40B4-BE49-F238E27FC236}">
                <a16:creationId xmlns:a16="http://schemas.microsoft.com/office/drawing/2014/main" id="{2DFB9659-69D3-A93E-E4FE-9AD3991ED2C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173794" y="2293008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4" name="Line 84">
            <a:extLst>
              <a:ext uri="{FF2B5EF4-FFF2-40B4-BE49-F238E27FC236}">
                <a16:creationId xmlns:a16="http://schemas.microsoft.com/office/drawing/2014/main" id="{25607F86-15E9-BBEC-C82B-96FFDA6C406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173794" y="1562757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5" name="Line 85">
            <a:extLst>
              <a:ext uri="{FF2B5EF4-FFF2-40B4-BE49-F238E27FC236}">
                <a16:creationId xmlns:a16="http://schemas.microsoft.com/office/drawing/2014/main" id="{EF623A09-EE80-0FCC-ECCD-7F2157187A03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173794" y="1788183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6" name="Line 87">
            <a:extLst>
              <a:ext uri="{FF2B5EF4-FFF2-40B4-BE49-F238E27FC236}">
                <a16:creationId xmlns:a16="http://schemas.microsoft.com/office/drawing/2014/main" id="{156E8ADF-C59E-56F6-3D40-B57447A2510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224764" y="1890815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7" name="Text Box 88">
            <a:extLst>
              <a:ext uri="{FF2B5EF4-FFF2-40B4-BE49-F238E27FC236}">
                <a16:creationId xmlns:a16="http://schemas.microsoft.com/office/drawing/2014/main" id="{1C091680-B1C0-3262-5D14-BE8A4B1CF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8929" y="1602543"/>
            <a:ext cx="5581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2’b00</a:t>
            </a:r>
          </a:p>
        </p:txBody>
      </p:sp>
      <p:sp>
        <p:nvSpPr>
          <p:cNvPr id="18" name="Text Box 89">
            <a:extLst>
              <a:ext uri="{FF2B5EF4-FFF2-40B4-BE49-F238E27FC236}">
                <a16:creationId xmlns:a16="http://schemas.microsoft.com/office/drawing/2014/main" id="{2BC806B8-38AF-38A7-9B0A-B1F3361DF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8929" y="1829405"/>
            <a:ext cx="5581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2’b01</a:t>
            </a:r>
          </a:p>
        </p:txBody>
      </p:sp>
      <p:sp>
        <p:nvSpPr>
          <p:cNvPr id="19" name="Text Box 90">
            <a:extLst>
              <a:ext uri="{FF2B5EF4-FFF2-40B4-BE49-F238E27FC236}">
                <a16:creationId xmlns:a16="http://schemas.microsoft.com/office/drawing/2014/main" id="{698B1944-81CE-00E8-4C7C-7A925B5D1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152" y="2083692"/>
            <a:ext cx="5581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2’b10</a:t>
            </a:r>
          </a:p>
        </p:txBody>
      </p:sp>
      <p:sp>
        <p:nvSpPr>
          <p:cNvPr id="20" name="Text Box 91">
            <a:extLst>
              <a:ext uri="{FF2B5EF4-FFF2-40B4-BE49-F238E27FC236}">
                <a16:creationId xmlns:a16="http://schemas.microsoft.com/office/drawing/2014/main" id="{4E8987C5-551C-E03B-22D8-39B1828CA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0204" y="2356024"/>
            <a:ext cx="54675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2’b11</a:t>
            </a:r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81828FB1-3BB1-8B53-5D6F-FA65D79E6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7635" y="1486072"/>
            <a:ext cx="245814" cy="53891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28" name="Line 8">
            <a:extLst>
              <a:ext uri="{FF2B5EF4-FFF2-40B4-BE49-F238E27FC236}">
                <a16:creationId xmlns:a16="http://schemas.microsoft.com/office/drawing/2014/main" id="{DFBA2608-C4A7-27A6-CB47-84499770C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6148" y="1126989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29" name="Text Box 9">
            <a:extLst>
              <a:ext uri="{FF2B5EF4-FFF2-40B4-BE49-F238E27FC236}">
                <a16:creationId xmlns:a16="http://schemas.microsoft.com/office/drawing/2014/main" id="{549C2C92-BFC2-5861-559D-B34BF2A36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456" y="1113012"/>
            <a:ext cx="55335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Start </a:t>
            </a:r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E653A1F5-4FB6-29B0-635F-1B9D9BAA0F85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222692" y="1455889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1" name="Line 13">
            <a:extLst>
              <a:ext uri="{FF2B5EF4-FFF2-40B4-BE49-F238E27FC236}">
                <a16:creationId xmlns:a16="http://schemas.microsoft.com/office/drawing/2014/main" id="{853FDE9F-7485-4594-B878-F90474F023B3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227454" y="1689251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2" name="Line 19">
            <a:extLst>
              <a:ext uri="{FF2B5EF4-FFF2-40B4-BE49-F238E27FC236}">
                <a16:creationId xmlns:a16="http://schemas.microsoft.com/office/drawing/2014/main" id="{842C7295-5F5B-85C6-50FF-5BFE71234FF0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833631" y="1563072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3" name="Text Box 20">
            <a:extLst>
              <a:ext uri="{FF2B5EF4-FFF2-40B4-BE49-F238E27FC236}">
                <a16:creationId xmlns:a16="http://schemas.microsoft.com/office/drawing/2014/main" id="{69B0F1E9-0207-0CEE-C93E-82B7FE996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1335" y="1491609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0</a:t>
            </a:r>
          </a:p>
        </p:txBody>
      </p:sp>
      <p:sp>
        <p:nvSpPr>
          <p:cNvPr id="34" name="Text Box 21">
            <a:extLst>
              <a:ext uri="{FF2B5EF4-FFF2-40B4-BE49-F238E27FC236}">
                <a16:creationId xmlns:a16="http://schemas.microsoft.com/office/drawing/2014/main" id="{8B23B55A-761F-9B48-8BAB-88321AF76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823" y="1724971"/>
            <a:ext cx="2696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1</a:t>
            </a:r>
          </a:p>
        </p:txBody>
      </p:sp>
      <p:sp>
        <p:nvSpPr>
          <p:cNvPr id="35" name="Text Box 25">
            <a:extLst>
              <a:ext uri="{FF2B5EF4-FFF2-40B4-BE49-F238E27FC236}">
                <a16:creationId xmlns:a16="http://schemas.microsoft.com/office/drawing/2014/main" id="{330B136F-D5C8-AE4D-2FAF-84809687C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769" y="1861239"/>
            <a:ext cx="5581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2’b01</a:t>
            </a:r>
          </a:p>
        </p:txBody>
      </p:sp>
      <p:sp>
        <p:nvSpPr>
          <p:cNvPr id="37" name="תיבת טקסט 36">
            <a:extLst>
              <a:ext uri="{FF2B5EF4-FFF2-40B4-BE49-F238E27FC236}">
                <a16:creationId xmlns:a16="http://schemas.microsoft.com/office/drawing/2014/main" id="{682C31FC-333F-8AD9-B377-24213A18AFA9}"/>
              </a:ext>
            </a:extLst>
          </p:cNvPr>
          <p:cNvSpPr txBox="1"/>
          <p:nvPr/>
        </p:nvSpPr>
        <p:spPr>
          <a:xfrm>
            <a:off x="2478622" y="3011740"/>
            <a:ext cx="441146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en-US" sz="1200" dirty="0" err="1"/>
              <a:t>rstn</a:t>
            </a:r>
            <a:endParaRPr lang="en-US" sz="1200" dirty="0"/>
          </a:p>
          <a:p>
            <a:pPr algn="ctr"/>
            <a:r>
              <a:rPr lang="en-US" sz="1200" dirty="0" err="1"/>
              <a:t>clk</a:t>
            </a:r>
            <a:endParaRPr lang="he-IL" sz="1200" dirty="0"/>
          </a:p>
        </p:txBody>
      </p:sp>
      <p:grpSp>
        <p:nvGrpSpPr>
          <p:cNvPr id="40" name="קבוצה 39">
            <a:extLst>
              <a:ext uri="{FF2B5EF4-FFF2-40B4-BE49-F238E27FC236}">
                <a16:creationId xmlns:a16="http://schemas.microsoft.com/office/drawing/2014/main" id="{3F203F5C-33CB-10D3-9536-F3F463A450BE}"/>
              </a:ext>
            </a:extLst>
          </p:cNvPr>
          <p:cNvGrpSpPr/>
          <p:nvPr/>
        </p:nvGrpSpPr>
        <p:grpSpPr>
          <a:xfrm>
            <a:off x="3014898" y="2805023"/>
            <a:ext cx="592631" cy="533580"/>
            <a:chOff x="3250471" y="3095564"/>
            <a:chExt cx="592631" cy="533580"/>
          </a:xfrm>
        </p:grpSpPr>
        <p:sp>
          <p:nvSpPr>
            <p:cNvPr id="38" name="Rectangle 50">
              <a:extLst>
                <a:ext uri="{FF2B5EF4-FFF2-40B4-BE49-F238E27FC236}">
                  <a16:creationId xmlns:a16="http://schemas.microsoft.com/office/drawing/2014/main" id="{17413BD8-C56D-05E0-E48D-4BB488381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0471" y="3095784"/>
              <a:ext cx="296153" cy="533360"/>
            </a:xfrm>
            <a:prstGeom prst="rect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39" name="Rectangle 50">
              <a:extLst>
                <a:ext uri="{FF2B5EF4-FFF2-40B4-BE49-F238E27FC236}">
                  <a16:creationId xmlns:a16="http://schemas.microsoft.com/office/drawing/2014/main" id="{F4B71D66-5E15-3519-4F0C-AA74B33F3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6949" y="3095564"/>
              <a:ext cx="296153" cy="533360"/>
            </a:xfrm>
            <a:prstGeom prst="rect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e-IL"/>
            </a:p>
          </p:txBody>
        </p:sp>
      </p:grpSp>
      <p:sp>
        <p:nvSpPr>
          <p:cNvPr id="43" name="Line 74">
            <a:extLst>
              <a:ext uri="{FF2B5EF4-FFF2-40B4-BE49-F238E27FC236}">
                <a16:creationId xmlns:a16="http://schemas.microsoft.com/office/drawing/2014/main" id="{8046EF19-932F-9984-1D50-D038909E8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4945" y="2070997"/>
            <a:ext cx="15505" cy="73402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4" name="Line 83">
            <a:extLst>
              <a:ext uri="{FF2B5EF4-FFF2-40B4-BE49-F238E27FC236}">
                <a16:creationId xmlns:a16="http://schemas.microsoft.com/office/drawing/2014/main" id="{76D329A0-B1A4-5E94-1E7A-7FC03C4C0693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71529" y="2741834"/>
            <a:ext cx="0" cy="48673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45" name="Text Box 25">
            <a:extLst>
              <a:ext uri="{FF2B5EF4-FFF2-40B4-BE49-F238E27FC236}">
                <a16:creationId xmlns:a16="http://schemas.microsoft.com/office/drawing/2014/main" id="{7D3079B7-4DD3-211D-1560-750193209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063" y="1360893"/>
            <a:ext cx="5581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2’b00</a:t>
            </a:r>
          </a:p>
        </p:txBody>
      </p:sp>
      <p:sp>
        <p:nvSpPr>
          <p:cNvPr id="46" name="Text Box 88">
            <a:extLst>
              <a:ext uri="{FF2B5EF4-FFF2-40B4-BE49-F238E27FC236}">
                <a16:creationId xmlns:a16="http://schemas.microsoft.com/office/drawing/2014/main" id="{7ECEDB6F-A004-5CB9-DA8C-058177670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645" y="2474298"/>
            <a:ext cx="5581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2’b00</a:t>
            </a:r>
          </a:p>
        </p:txBody>
      </p:sp>
      <p:sp>
        <p:nvSpPr>
          <p:cNvPr id="47" name="Text Box 88">
            <a:extLst>
              <a:ext uri="{FF2B5EF4-FFF2-40B4-BE49-F238E27FC236}">
                <a16:creationId xmlns:a16="http://schemas.microsoft.com/office/drawing/2014/main" id="{EA583748-75F6-8C3D-F5F7-7FF165ECF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645" y="2193329"/>
            <a:ext cx="5581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2’b00</a:t>
            </a:r>
          </a:p>
        </p:txBody>
      </p:sp>
      <p:sp>
        <p:nvSpPr>
          <p:cNvPr id="48" name="Text Box 88">
            <a:extLst>
              <a:ext uri="{FF2B5EF4-FFF2-40B4-BE49-F238E27FC236}">
                <a16:creationId xmlns:a16="http://schemas.microsoft.com/office/drawing/2014/main" id="{A4512D4B-ED87-447C-E28C-F327909DD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645" y="1953130"/>
            <a:ext cx="5581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2’b10</a:t>
            </a:r>
          </a:p>
        </p:txBody>
      </p:sp>
      <p:sp>
        <p:nvSpPr>
          <p:cNvPr id="49" name="משולש שווה-שוקיים 48">
            <a:extLst>
              <a:ext uri="{FF2B5EF4-FFF2-40B4-BE49-F238E27FC236}">
                <a16:creationId xmlns:a16="http://schemas.microsoft.com/office/drawing/2014/main" id="{66871FA8-7F12-2BA6-FABF-F6D8C160436D}"/>
              </a:ext>
            </a:extLst>
          </p:cNvPr>
          <p:cNvSpPr/>
          <p:nvPr/>
        </p:nvSpPr>
        <p:spPr>
          <a:xfrm rot="10800000">
            <a:off x="3061386" y="3492098"/>
            <a:ext cx="445240" cy="412448"/>
          </a:xfrm>
          <a:prstGeom prst="triangl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4" name="Line 87">
            <a:extLst>
              <a:ext uri="{FF2B5EF4-FFF2-40B4-BE49-F238E27FC236}">
                <a16:creationId xmlns:a16="http://schemas.microsoft.com/office/drawing/2014/main" id="{9357B6D6-0F10-BB0B-4895-9409B16550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241" y="3904547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5" name="Text Box 9">
            <a:extLst>
              <a:ext uri="{FF2B5EF4-FFF2-40B4-BE49-F238E27FC236}">
                <a16:creationId xmlns:a16="http://schemas.microsoft.com/office/drawing/2014/main" id="{1BC73570-84D9-2FDF-84C4-2283F3DE0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4005" y="3919542"/>
            <a:ext cx="67037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Ready </a:t>
            </a:r>
          </a:p>
        </p:txBody>
      </p:sp>
      <p:sp>
        <p:nvSpPr>
          <p:cNvPr id="66" name="Line 74">
            <a:extLst>
              <a:ext uri="{FF2B5EF4-FFF2-40B4-BE49-F238E27FC236}">
                <a16:creationId xmlns:a16="http://schemas.microsoft.com/office/drawing/2014/main" id="{EB4CC83D-C24F-0814-0E59-793655E3F6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0450" y="3338383"/>
            <a:ext cx="0" cy="15349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67" name="Line 74">
            <a:extLst>
              <a:ext uri="{FF2B5EF4-FFF2-40B4-BE49-F238E27FC236}">
                <a16:creationId xmlns:a16="http://schemas.microsoft.com/office/drawing/2014/main" id="{9A0997A3-7500-544F-4955-57F10980D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7087" y="3338383"/>
            <a:ext cx="0" cy="15349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70" name="Text Box 88">
            <a:extLst>
              <a:ext uri="{FF2B5EF4-FFF2-40B4-BE49-F238E27FC236}">
                <a16:creationId xmlns:a16="http://schemas.microsoft.com/office/drawing/2014/main" id="{DEA218D4-FC40-B260-16F3-043A4BD43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058" y="3546402"/>
            <a:ext cx="5581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he-IL" sz="1200" dirty="0"/>
              <a:t>2’b10</a:t>
            </a:r>
          </a:p>
        </p:txBody>
      </p:sp>
    </p:spTree>
    <p:extLst>
      <p:ext uri="{BB962C8B-B14F-4D97-AF65-F5344CB8AC3E}">
        <p14:creationId xmlns:p14="http://schemas.microsoft.com/office/powerpoint/2010/main" val="1678321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430CF-8D0F-1496-FEF0-C83374DC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5BF1CD97-4E58-58E0-3CDE-923F1EF21831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3900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A Final State Machine (FSM)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124" name="Picture 4" descr="Graph image">
            <a:extLst>
              <a:ext uri="{FF2B5EF4-FFF2-40B4-BE49-F238E27FC236}">
                <a16:creationId xmlns:a16="http://schemas.microsoft.com/office/drawing/2014/main" id="{3087A2BD-4F44-F336-1018-06ACE629B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9550" y="63871"/>
            <a:ext cx="2631985" cy="248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E8AADB0A-69D7-83D4-EA6F-087362CB260B}"/>
              </a:ext>
            </a:extLst>
          </p:cNvPr>
          <p:cNvGrpSpPr/>
          <p:nvPr/>
        </p:nvGrpSpPr>
        <p:grpSpPr>
          <a:xfrm>
            <a:off x="8766903" y="2666313"/>
            <a:ext cx="2631985" cy="2893978"/>
            <a:chOff x="7393005" y="2583186"/>
            <a:chExt cx="3174612" cy="3151898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FBC5BAFF-F094-239F-E84F-EDB52D587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0727" y="3006035"/>
              <a:ext cx="708672" cy="1081288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" name="Line 74">
              <a:extLst>
                <a:ext uri="{FF2B5EF4-FFF2-40B4-BE49-F238E27FC236}">
                  <a16:creationId xmlns:a16="http://schemas.microsoft.com/office/drawing/2014/main" id="{FF669CF7-B829-A055-C310-3975782A9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1395" y="4095016"/>
              <a:ext cx="0" cy="360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Line 82">
              <a:extLst>
                <a:ext uri="{FF2B5EF4-FFF2-40B4-BE49-F238E27FC236}">
                  <a16:creationId xmlns:a16="http://schemas.microsoft.com/office/drawing/2014/main" id="{AE7D0332-1E0F-A015-6488-8B7EEAF500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787030" y="3504415"/>
              <a:ext cx="0" cy="360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Line 83">
              <a:extLst>
                <a:ext uri="{FF2B5EF4-FFF2-40B4-BE49-F238E27FC236}">
                  <a16:creationId xmlns:a16="http://schemas.microsoft.com/office/drawing/2014/main" id="{B2786580-BFDD-05CF-8680-83D2436F7BE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787030" y="3763182"/>
              <a:ext cx="0" cy="360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Line 84">
              <a:extLst>
                <a:ext uri="{FF2B5EF4-FFF2-40B4-BE49-F238E27FC236}">
                  <a16:creationId xmlns:a16="http://schemas.microsoft.com/office/drawing/2014/main" id="{69EE7222-F5F7-8767-4431-8ABD1B40174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787030" y="3032931"/>
              <a:ext cx="0" cy="360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Line 85">
              <a:extLst>
                <a:ext uri="{FF2B5EF4-FFF2-40B4-BE49-F238E27FC236}">
                  <a16:creationId xmlns:a16="http://schemas.microsoft.com/office/drawing/2014/main" id="{60927579-E1E3-87A1-5B02-C5585BA5D6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787030" y="3258357"/>
              <a:ext cx="0" cy="360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Line 87">
              <a:extLst>
                <a:ext uri="{FF2B5EF4-FFF2-40B4-BE49-F238E27FC236}">
                  <a16:creationId xmlns:a16="http://schemas.microsoft.com/office/drawing/2014/main" id="{637E6A71-36A6-B258-BF9E-5577A20B02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9838000" y="3360989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Text Box 88">
              <a:extLst>
                <a:ext uri="{FF2B5EF4-FFF2-40B4-BE49-F238E27FC236}">
                  <a16:creationId xmlns:a16="http://schemas.microsoft.com/office/drawing/2014/main" id="{35C165ED-BFFD-9364-395C-394E888F6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2165" y="3072717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2’b00</a:t>
              </a:r>
            </a:p>
          </p:txBody>
        </p:sp>
        <p:sp>
          <p:nvSpPr>
            <p:cNvPr id="18" name="Text Box 89">
              <a:extLst>
                <a:ext uri="{FF2B5EF4-FFF2-40B4-BE49-F238E27FC236}">
                  <a16:creationId xmlns:a16="http://schemas.microsoft.com/office/drawing/2014/main" id="{2CA06EE0-84A3-C1BE-20D1-2057BC6918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2165" y="3299579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2’b01</a:t>
              </a:r>
            </a:p>
          </p:txBody>
        </p:sp>
        <p:sp>
          <p:nvSpPr>
            <p:cNvPr id="19" name="Text Box 90">
              <a:extLst>
                <a:ext uri="{FF2B5EF4-FFF2-40B4-BE49-F238E27FC236}">
                  <a16:creationId xmlns:a16="http://schemas.microsoft.com/office/drawing/2014/main" id="{75E9B179-A1AC-0D57-7A2A-B8EBC1050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14388" y="3553866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2’b10</a:t>
              </a:r>
            </a:p>
          </p:txBody>
        </p:sp>
        <p:sp>
          <p:nvSpPr>
            <p:cNvPr id="20" name="Text Box 91">
              <a:extLst>
                <a:ext uri="{FF2B5EF4-FFF2-40B4-BE49-F238E27FC236}">
                  <a16:creationId xmlns:a16="http://schemas.microsoft.com/office/drawing/2014/main" id="{DA63EA5E-017B-D420-1A2F-37A21F122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33440" y="3826198"/>
              <a:ext cx="546753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2’b11</a:t>
              </a:r>
            </a:p>
          </p:txBody>
        </p:sp>
        <p:sp>
          <p:nvSpPr>
            <p:cNvPr id="27" name="Rectangle 5">
              <a:extLst>
                <a:ext uri="{FF2B5EF4-FFF2-40B4-BE49-F238E27FC236}">
                  <a16:creationId xmlns:a16="http://schemas.microsoft.com/office/drawing/2014/main" id="{33B8B7F8-16EE-A3B5-2678-659008FB6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0871" y="2956246"/>
              <a:ext cx="245814" cy="538910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8" name="Line 8">
              <a:extLst>
                <a:ext uri="{FF2B5EF4-FFF2-40B4-BE49-F238E27FC236}">
                  <a16:creationId xmlns:a16="http://schemas.microsoft.com/office/drawing/2014/main" id="{DC3E91D2-E661-E903-C670-51A6189DF0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9384" y="2597163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9" name="Text Box 9">
              <a:extLst>
                <a:ext uri="{FF2B5EF4-FFF2-40B4-BE49-F238E27FC236}">
                  <a16:creationId xmlns:a16="http://schemas.microsoft.com/office/drawing/2014/main" id="{C5CAE496-A7D6-B73A-552A-1828DE59CF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3692" y="2583186"/>
              <a:ext cx="553357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Start </a:t>
              </a:r>
            </a:p>
          </p:txBody>
        </p:sp>
        <p:sp>
          <p:nvSpPr>
            <p:cNvPr id="30" name="Line 12">
              <a:extLst>
                <a:ext uri="{FF2B5EF4-FFF2-40B4-BE49-F238E27FC236}">
                  <a16:creationId xmlns:a16="http://schemas.microsoft.com/office/drawing/2014/main" id="{4EE0F751-820C-5BBA-DF7D-F97A6BC1D85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835928" y="2926063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1" name="Line 13">
              <a:extLst>
                <a:ext uri="{FF2B5EF4-FFF2-40B4-BE49-F238E27FC236}">
                  <a16:creationId xmlns:a16="http://schemas.microsoft.com/office/drawing/2014/main" id="{820A2997-85BC-3A3E-57FB-38AE33D0FF0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840690" y="3159425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2" name="Line 19">
              <a:extLst>
                <a:ext uri="{FF2B5EF4-FFF2-40B4-BE49-F238E27FC236}">
                  <a16:creationId xmlns:a16="http://schemas.microsoft.com/office/drawing/2014/main" id="{415DDB67-7BE7-E175-1FE4-61A219C6F1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446867" y="3033246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3" name="Text Box 20">
              <a:extLst>
                <a:ext uri="{FF2B5EF4-FFF2-40B4-BE49-F238E27FC236}">
                  <a16:creationId xmlns:a16="http://schemas.microsoft.com/office/drawing/2014/main" id="{6FA07F87-9C6D-FAE7-7D60-B865B6070B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4571" y="2961783"/>
              <a:ext cx="26962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0</a:t>
              </a:r>
            </a:p>
          </p:txBody>
        </p:sp>
        <p:sp>
          <p:nvSpPr>
            <p:cNvPr id="34" name="Text Box 21">
              <a:extLst>
                <a:ext uri="{FF2B5EF4-FFF2-40B4-BE49-F238E27FC236}">
                  <a16:creationId xmlns:a16="http://schemas.microsoft.com/office/drawing/2014/main" id="{EBFBB7E3-36C6-5C3F-EC23-299FD65DA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97059" y="3195145"/>
              <a:ext cx="26962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1</a:t>
              </a:r>
            </a:p>
          </p:txBody>
        </p:sp>
        <p:sp>
          <p:nvSpPr>
            <p:cNvPr id="35" name="Text Box 25">
              <a:extLst>
                <a:ext uri="{FF2B5EF4-FFF2-40B4-BE49-F238E27FC236}">
                  <a16:creationId xmlns:a16="http://schemas.microsoft.com/office/drawing/2014/main" id="{758CE288-CE39-1A17-6DB9-BC6E13E45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3005" y="3331413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2’b01</a:t>
              </a:r>
            </a:p>
          </p:txBody>
        </p:sp>
        <p:sp>
          <p:nvSpPr>
            <p:cNvPr id="37" name="תיבת טקסט 36">
              <a:extLst>
                <a:ext uri="{FF2B5EF4-FFF2-40B4-BE49-F238E27FC236}">
                  <a16:creationId xmlns:a16="http://schemas.microsoft.com/office/drawing/2014/main" id="{7C541B2B-8488-7009-9787-22E1334E4782}"/>
                </a:ext>
              </a:extLst>
            </p:cNvPr>
            <p:cNvSpPr txBox="1"/>
            <p:nvPr/>
          </p:nvSpPr>
          <p:spPr>
            <a:xfrm>
              <a:off x="9091858" y="4481914"/>
              <a:ext cx="441146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r>
                <a:rPr lang="en-US" sz="1200" dirty="0" err="1"/>
                <a:t>rstn</a:t>
              </a:r>
              <a:endParaRPr lang="en-US" sz="1200" dirty="0"/>
            </a:p>
            <a:p>
              <a:pPr algn="ctr"/>
              <a:r>
                <a:rPr lang="en-US" sz="1200" dirty="0" err="1"/>
                <a:t>clk</a:t>
              </a:r>
              <a:endParaRPr lang="he-IL" sz="1200" dirty="0"/>
            </a:p>
          </p:txBody>
        </p:sp>
        <p:grpSp>
          <p:nvGrpSpPr>
            <p:cNvPr id="40" name="קבוצה 39">
              <a:extLst>
                <a:ext uri="{FF2B5EF4-FFF2-40B4-BE49-F238E27FC236}">
                  <a16:creationId xmlns:a16="http://schemas.microsoft.com/office/drawing/2014/main" id="{DB908C5E-4095-9FB6-62D8-9FE4D5C9BA96}"/>
                </a:ext>
              </a:extLst>
            </p:cNvPr>
            <p:cNvGrpSpPr/>
            <p:nvPr/>
          </p:nvGrpSpPr>
          <p:grpSpPr>
            <a:xfrm>
              <a:off x="9628134" y="4275197"/>
              <a:ext cx="592631" cy="533580"/>
              <a:chOff x="3250471" y="3095564"/>
              <a:chExt cx="592631" cy="533580"/>
            </a:xfrm>
          </p:grpSpPr>
          <p:sp>
            <p:nvSpPr>
              <p:cNvPr id="38" name="Rectangle 50">
                <a:extLst>
                  <a:ext uri="{FF2B5EF4-FFF2-40B4-BE49-F238E27FC236}">
                    <a16:creationId xmlns:a16="http://schemas.microsoft.com/office/drawing/2014/main" id="{8F9CA1A0-222A-6E37-611E-7F444003A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0471" y="3095784"/>
                <a:ext cx="296153" cy="533360"/>
              </a:xfrm>
              <a:prstGeom prst="rect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:a16="http://schemas.microsoft.com/office/drawing/2014/main" id="{07D05A91-315C-C690-D134-BBA270F6A0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6949" y="3095564"/>
                <a:ext cx="296153" cy="533360"/>
              </a:xfrm>
              <a:prstGeom prst="rect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sp>
          <p:nvSpPr>
            <p:cNvPr id="43" name="Line 74">
              <a:extLst>
                <a:ext uri="{FF2B5EF4-FFF2-40B4-BE49-F238E27FC236}">
                  <a16:creationId xmlns:a16="http://schemas.microsoft.com/office/drawing/2014/main" id="{83E8EC0A-4009-8D1A-5BED-4D85A468E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18181" y="3541171"/>
              <a:ext cx="15505" cy="7340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4" name="Line 83">
              <a:extLst>
                <a:ext uri="{FF2B5EF4-FFF2-40B4-BE49-F238E27FC236}">
                  <a16:creationId xmlns:a16="http://schemas.microsoft.com/office/drawing/2014/main" id="{8C3FDB09-CE63-2F03-A181-78D39AD43B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9384765" y="4212008"/>
              <a:ext cx="0" cy="4867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5" name="Text Box 25">
              <a:extLst>
                <a:ext uri="{FF2B5EF4-FFF2-40B4-BE49-F238E27FC236}">
                  <a16:creationId xmlns:a16="http://schemas.microsoft.com/office/drawing/2014/main" id="{9E3138FF-AD43-E7A1-E833-1919497CE8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5299" y="2831067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2’b00</a:t>
              </a:r>
            </a:p>
          </p:txBody>
        </p:sp>
        <p:sp>
          <p:nvSpPr>
            <p:cNvPr id="46" name="Text Box 88">
              <a:extLst>
                <a:ext uri="{FF2B5EF4-FFF2-40B4-BE49-F238E27FC236}">
                  <a16:creationId xmlns:a16="http://schemas.microsoft.com/office/drawing/2014/main" id="{C145846B-A430-1DF0-089C-87BEF82609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5881" y="3944472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2’b00</a:t>
              </a:r>
            </a:p>
          </p:txBody>
        </p:sp>
        <p:sp>
          <p:nvSpPr>
            <p:cNvPr id="47" name="Text Box 88">
              <a:extLst>
                <a:ext uri="{FF2B5EF4-FFF2-40B4-BE49-F238E27FC236}">
                  <a16:creationId xmlns:a16="http://schemas.microsoft.com/office/drawing/2014/main" id="{40C1CC45-80D0-37E8-EEC3-125FEB01DD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5881" y="3663503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2’b00</a:t>
              </a:r>
            </a:p>
          </p:txBody>
        </p:sp>
        <p:sp>
          <p:nvSpPr>
            <p:cNvPr id="48" name="Text Box 88">
              <a:extLst>
                <a:ext uri="{FF2B5EF4-FFF2-40B4-BE49-F238E27FC236}">
                  <a16:creationId xmlns:a16="http://schemas.microsoft.com/office/drawing/2014/main" id="{87F0D899-C333-71AC-FB83-CB7C73606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5881" y="3423304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2’b10</a:t>
              </a:r>
            </a:p>
          </p:txBody>
        </p:sp>
        <p:sp>
          <p:nvSpPr>
            <p:cNvPr id="49" name="משולש שווה-שוקיים 48">
              <a:extLst>
                <a:ext uri="{FF2B5EF4-FFF2-40B4-BE49-F238E27FC236}">
                  <a16:creationId xmlns:a16="http://schemas.microsoft.com/office/drawing/2014/main" id="{1533ED9C-78EE-863A-DDDB-404EF5F1E6CA}"/>
                </a:ext>
              </a:extLst>
            </p:cNvPr>
            <p:cNvSpPr/>
            <p:nvPr/>
          </p:nvSpPr>
          <p:spPr>
            <a:xfrm rot="10800000">
              <a:off x="9674622" y="4962272"/>
              <a:ext cx="445240" cy="412448"/>
            </a:xfrm>
            <a:prstGeom prst="triangl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4" name="Line 87">
              <a:extLst>
                <a:ext uri="{FF2B5EF4-FFF2-40B4-BE49-F238E27FC236}">
                  <a16:creationId xmlns:a16="http://schemas.microsoft.com/office/drawing/2014/main" id="{E1A3C171-ECC6-65E0-78E3-621EA3FC3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0477" y="5374721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65" name="Text Box 9">
              <a:extLst>
                <a:ext uri="{FF2B5EF4-FFF2-40B4-BE49-F238E27FC236}">
                  <a16:creationId xmlns:a16="http://schemas.microsoft.com/office/drawing/2014/main" id="{917D8AC7-3558-50D1-189D-69E3C379A3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97241" y="5389716"/>
              <a:ext cx="67037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Ready </a:t>
              </a:r>
            </a:p>
          </p:txBody>
        </p:sp>
        <p:sp>
          <p:nvSpPr>
            <p:cNvPr id="66" name="Line 74">
              <a:extLst>
                <a:ext uri="{FF2B5EF4-FFF2-40B4-BE49-F238E27FC236}">
                  <a16:creationId xmlns:a16="http://schemas.microsoft.com/office/drawing/2014/main" id="{239FBD62-DB14-157A-EA7E-93C7099B1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5141" y="4808557"/>
              <a:ext cx="0" cy="1534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70" name="Text Box 88">
              <a:extLst>
                <a:ext uri="{FF2B5EF4-FFF2-40B4-BE49-F238E27FC236}">
                  <a16:creationId xmlns:a16="http://schemas.microsoft.com/office/drawing/2014/main" id="{76B1035C-82D3-0CA5-DB37-AA2E822BD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3294" y="5016576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2’b10</a:t>
              </a:r>
            </a:p>
          </p:txBody>
        </p:sp>
      </p:grpSp>
      <p:sp>
        <p:nvSpPr>
          <p:cNvPr id="4" name="מלבן 3">
            <a:extLst>
              <a:ext uri="{FF2B5EF4-FFF2-40B4-BE49-F238E27FC236}">
                <a16:creationId xmlns:a16="http://schemas.microsoft.com/office/drawing/2014/main" id="{62D3C4C7-9164-142E-BD84-1221017B2E10}"/>
              </a:ext>
            </a:extLst>
          </p:cNvPr>
          <p:cNvSpPr>
            <a:spLocks noGrp="1"/>
          </p:cNvSpPr>
          <p:nvPr/>
        </p:nvSpPr>
        <p:spPr>
          <a:xfrm>
            <a:off x="7106977" y="299450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Verilog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DC37F63B-1518-A038-04E5-D4E488FD8839}"/>
              </a:ext>
            </a:extLst>
          </p:cNvPr>
          <p:cNvSpPr txBox="1"/>
          <p:nvPr/>
        </p:nvSpPr>
        <p:spPr>
          <a:xfrm>
            <a:off x="615946" y="914400"/>
            <a:ext cx="3698448" cy="378565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000" dirty="0"/>
              <a:t>module </a:t>
            </a:r>
            <a:r>
              <a:rPr lang="en-US" sz="1000" dirty="0" err="1"/>
              <a:t>fsm_moore</a:t>
            </a:r>
            <a:r>
              <a:rPr lang="en-US" sz="1000" dirty="0"/>
              <a:t> (</a:t>
            </a:r>
          </a:p>
          <a:p>
            <a:r>
              <a:rPr lang="en-US" sz="1000" dirty="0"/>
              <a:t>    input  wire </a:t>
            </a:r>
            <a:r>
              <a:rPr lang="en-US" sz="1000" dirty="0" err="1"/>
              <a:t>clk</a:t>
            </a:r>
            <a:r>
              <a:rPr lang="en-US" sz="1000" dirty="0"/>
              <a:t>,       // System clock</a:t>
            </a:r>
          </a:p>
          <a:p>
            <a:r>
              <a:rPr lang="en-US" sz="1000" dirty="0"/>
              <a:t>    input  wire </a:t>
            </a:r>
            <a:r>
              <a:rPr lang="en-US" sz="1000" dirty="0" err="1"/>
              <a:t>rst_n</a:t>
            </a:r>
            <a:r>
              <a:rPr lang="en-US" sz="1000" dirty="0"/>
              <a:t>,     // Asynchronous reset, active low</a:t>
            </a:r>
          </a:p>
          <a:p>
            <a:r>
              <a:rPr lang="en-US" sz="1000" dirty="0"/>
              <a:t>    input  wire start,     // Input condition to start</a:t>
            </a:r>
          </a:p>
          <a:p>
            <a:r>
              <a:rPr lang="en-US" sz="1000" dirty="0"/>
              <a:t>    output reg  ready      // Output flag (high only in STATE_B)</a:t>
            </a:r>
          </a:p>
          <a:p>
            <a:r>
              <a:rPr lang="en-US" sz="1000" dirty="0"/>
              <a:t>);</a:t>
            </a:r>
          </a:p>
          <a:p>
            <a:endParaRPr lang="en-US" sz="1000" dirty="0"/>
          </a:p>
          <a:p>
            <a:r>
              <a:rPr lang="en-US" sz="1000" dirty="0"/>
              <a:t>    // </a:t>
            </a:r>
            <a:r>
              <a:rPr lang="en-US" sz="1000" dirty="0" err="1"/>
              <a:t>Localparams</a:t>
            </a:r>
            <a:r>
              <a:rPr lang="en-US" sz="1000" dirty="0"/>
              <a:t> to define state encoding (One-Hot or Binary)</a:t>
            </a:r>
          </a:p>
          <a:p>
            <a:r>
              <a:rPr lang="en-US" sz="1000" dirty="0"/>
              <a:t>    </a:t>
            </a:r>
            <a:r>
              <a:rPr lang="en-US" sz="1000" dirty="0" err="1"/>
              <a:t>localparam</a:t>
            </a:r>
            <a:r>
              <a:rPr lang="en-US" sz="1000" dirty="0"/>
              <a:t> STATE_IDLE = 2'b00;</a:t>
            </a:r>
          </a:p>
          <a:p>
            <a:r>
              <a:rPr lang="en-US" sz="1000" dirty="0"/>
              <a:t>    </a:t>
            </a:r>
            <a:r>
              <a:rPr lang="en-US" sz="1000" dirty="0" err="1"/>
              <a:t>localparam</a:t>
            </a:r>
            <a:r>
              <a:rPr lang="en-US" sz="1000" dirty="0"/>
              <a:t> STATE_A    = 2'b01;</a:t>
            </a:r>
          </a:p>
          <a:p>
            <a:r>
              <a:rPr lang="en-US" sz="1000" dirty="0"/>
              <a:t>    </a:t>
            </a:r>
            <a:r>
              <a:rPr lang="en-US" sz="1000" dirty="0" err="1"/>
              <a:t>localparam</a:t>
            </a:r>
            <a:r>
              <a:rPr lang="en-US" sz="1000" dirty="0"/>
              <a:t> STATE_B    = 2'b10;</a:t>
            </a:r>
          </a:p>
          <a:p>
            <a:endParaRPr lang="en-US" sz="1000" dirty="0"/>
          </a:p>
          <a:p>
            <a:r>
              <a:rPr lang="en-US" sz="1000" dirty="0"/>
              <a:t>    reg [1:0] </a:t>
            </a:r>
            <a:r>
              <a:rPr lang="en-US" sz="1000" dirty="0" err="1"/>
              <a:t>current_state</a:t>
            </a:r>
            <a:r>
              <a:rPr lang="en-US" sz="1000" dirty="0"/>
              <a:t>;</a:t>
            </a:r>
          </a:p>
          <a:p>
            <a:r>
              <a:rPr lang="en-US" sz="1000" dirty="0"/>
              <a:t>    reg [1:0] </a:t>
            </a:r>
            <a:r>
              <a:rPr lang="en-US" sz="1000" dirty="0" err="1"/>
              <a:t>next_state</a:t>
            </a:r>
            <a:r>
              <a:rPr lang="en-US" sz="1000" dirty="0"/>
              <a:t>;</a:t>
            </a:r>
          </a:p>
          <a:p>
            <a:endParaRPr lang="en-US" sz="1000" dirty="0"/>
          </a:p>
          <a:p>
            <a:r>
              <a:rPr lang="en-US" sz="1000" dirty="0"/>
              <a:t>    // 1. Sequential Block: State Register Update</a:t>
            </a:r>
          </a:p>
          <a:p>
            <a:r>
              <a:rPr lang="en-US" sz="1000" dirty="0"/>
              <a:t>    always @(posedge </a:t>
            </a:r>
            <a:r>
              <a:rPr lang="en-US" sz="1000" dirty="0" err="1"/>
              <a:t>clk</a:t>
            </a:r>
            <a:r>
              <a:rPr lang="en-US" sz="1000" dirty="0"/>
              <a:t> or </a:t>
            </a:r>
            <a:r>
              <a:rPr lang="en-US" sz="1000" dirty="0" err="1"/>
              <a:t>negedge</a:t>
            </a:r>
            <a:r>
              <a:rPr lang="en-US" sz="1000" dirty="0"/>
              <a:t> </a:t>
            </a:r>
            <a:r>
              <a:rPr lang="en-US" sz="1000" dirty="0" err="1"/>
              <a:t>rst_n</a:t>
            </a:r>
            <a:r>
              <a:rPr lang="en-US" sz="1000" dirty="0"/>
              <a:t>) begin</a:t>
            </a:r>
          </a:p>
          <a:p>
            <a:r>
              <a:rPr lang="en-US" sz="1000" dirty="0"/>
              <a:t>        if (!</a:t>
            </a:r>
            <a:r>
              <a:rPr lang="en-US" sz="1000" dirty="0" err="1"/>
              <a:t>rst_n</a:t>
            </a:r>
            <a:r>
              <a:rPr lang="en-US" sz="1000" dirty="0"/>
              <a:t>) begin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current_state</a:t>
            </a:r>
            <a:r>
              <a:rPr lang="en-US" sz="1000" dirty="0"/>
              <a:t> &lt;= STATE_IDLE;</a:t>
            </a:r>
          </a:p>
          <a:p>
            <a:r>
              <a:rPr lang="en-US" sz="1000" dirty="0"/>
              <a:t>        end else begin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current_state</a:t>
            </a:r>
            <a:r>
              <a:rPr lang="en-US" sz="1000" dirty="0"/>
              <a:t> &lt;= </a:t>
            </a:r>
            <a:r>
              <a:rPr lang="en-US" sz="1000" dirty="0" err="1"/>
              <a:t>next_state</a:t>
            </a:r>
            <a:r>
              <a:rPr lang="en-US" sz="1000" dirty="0"/>
              <a:t>;</a:t>
            </a:r>
          </a:p>
          <a:p>
            <a:r>
              <a:rPr lang="en-US" sz="1000" dirty="0"/>
              <a:t>        end</a:t>
            </a:r>
          </a:p>
          <a:p>
            <a:r>
              <a:rPr lang="en-US" sz="1000" dirty="0"/>
              <a:t>    end</a:t>
            </a:r>
          </a:p>
          <a:p>
            <a:endParaRPr lang="en-US" sz="1000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D87594BF-48BB-4303-E826-A903E530EF1A}"/>
              </a:ext>
            </a:extLst>
          </p:cNvPr>
          <p:cNvSpPr txBox="1"/>
          <p:nvPr/>
        </p:nvSpPr>
        <p:spPr>
          <a:xfrm>
            <a:off x="4740507" y="923636"/>
            <a:ext cx="3860352" cy="470898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000" dirty="0"/>
              <a:t>    // 2. Combinational Block: Next-State Logic &amp; Output Decoding</a:t>
            </a:r>
          </a:p>
          <a:p>
            <a:r>
              <a:rPr lang="en-US" sz="1000" dirty="0"/>
              <a:t>    always @(*) begin</a:t>
            </a:r>
          </a:p>
          <a:p>
            <a:r>
              <a:rPr lang="en-US" sz="1000" dirty="0"/>
              <a:t>        // Default assignments to prevent unintended latches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next_state</a:t>
            </a:r>
            <a:r>
              <a:rPr lang="en-US" sz="1000" dirty="0"/>
              <a:t> = </a:t>
            </a:r>
            <a:r>
              <a:rPr lang="en-US" sz="1000" dirty="0" err="1"/>
              <a:t>current_state</a:t>
            </a:r>
            <a:r>
              <a:rPr lang="en-US" sz="1000" dirty="0"/>
              <a:t>;</a:t>
            </a:r>
          </a:p>
          <a:p>
            <a:r>
              <a:rPr lang="en-US" sz="1000" dirty="0"/>
              <a:t>        ready      = 1'b0;</a:t>
            </a:r>
          </a:p>
          <a:p>
            <a:endParaRPr lang="en-US" sz="1000" dirty="0"/>
          </a:p>
          <a:p>
            <a:r>
              <a:rPr lang="en-US" sz="1000" dirty="0"/>
              <a:t>        case (</a:t>
            </a:r>
            <a:r>
              <a:rPr lang="en-US" sz="1000" dirty="0" err="1"/>
              <a:t>current_state</a:t>
            </a:r>
            <a:r>
              <a:rPr lang="en-US" sz="1000" dirty="0"/>
              <a:t>)</a:t>
            </a:r>
          </a:p>
          <a:p>
            <a:r>
              <a:rPr lang="en-US" sz="1000" dirty="0"/>
              <a:t>            STATE_IDLE: begin</a:t>
            </a:r>
          </a:p>
          <a:p>
            <a:r>
              <a:rPr lang="en-US" sz="1000" dirty="0"/>
              <a:t>                if (start) begin</a:t>
            </a:r>
          </a:p>
          <a:p>
            <a:r>
              <a:rPr lang="en-US" sz="1000" dirty="0"/>
              <a:t>                    </a:t>
            </a:r>
            <a:r>
              <a:rPr lang="en-US" sz="1000" dirty="0" err="1"/>
              <a:t>next_state</a:t>
            </a:r>
            <a:r>
              <a:rPr lang="en-US" sz="1000" dirty="0"/>
              <a:t> = STATE_A;</a:t>
            </a:r>
          </a:p>
          <a:p>
            <a:r>
              <a:rPr lang="en-US" sz="1000" dirty="0"/>
              <a:t>                end</a:t>
            </a:r>
          </a:p>
          <a:p>
            <a:r>
              <a:rPr lang="en-US" sz="1000" dirty="0"/>
              <a:t>            end</a:t>
            </a:r>
          </a:p>
          <a:p>
            <a:endParaRPr lang="en-US" sz="1000" dirty="0"/>
          </a:p>
          <a:p>
            <a:r>
              <a:rPr lang="en-US" sz="1000" dirty="0"/>
              <a:t>            STATE_A: begin</a:t>
            </a:r>
          </a:p>
          <a:p>
            <a:r>
              <a:rPr lang="en-US" sz="1000" dirty="0"/>
              <a:t>                </a:t>
            </a:r>
            <a:r>
              <a:rPr lang="en-US" sz="1000" dirty="0" err="1"/>
              <a:t>next_state</a:t>
            </a:r>
            <a:r>
              <a:rPr lang="en-US" sz="1000" dirty="0"/>
              <a:t> = STATE_B; // Unconditional transition</a:t>
            </a:r>
          </a:p>
          <a:p>
            <a:r>
              <a:rPr lang="en-US" sz="1000" dirty="0"/>
              <a:t>            end</a:t>
            </a:r>
          </a:p>
          <a:p>
            <a:endParaRPr lang="en-US" sz="1000" dirty="0"/>
          </a:p>
          <a:p>
            <a:r>
              <a:rPr lang="en-US" sz="1000" dirty="0"/>
              <a:t>            STATE_B: begin</a:t>
            </a:r>
          </a:p>
          <a:p>
            <a:r>
              <a:rPr lang="en-US" sz="1000" dirty="0"/>
              <a:t>                ready      = 1'b1;    // Assert output in this state (Moore)</a:t>
            </a:r>
          </a:p>
          <a:p>
            <a:r>
              <a:rPr lang="en-US" sz="1000" dirty="0"/>
              <a:t>                </a:t>
            </a:r>
            <a:r>
              <a:rPr lang="en-US" sz="1000" dirty="0" err="1"/>
              <a:t>next_state</a:t>
            </a:r>
            <a:r>
              <a:rPr lang="en-US" sz="1000" dirty="0"/>
              <a:t> = STATE_IDLE;</a:t>
            </a:r>
          </a:p>
          <a:p>
            <a:r>
              <a:rPr lang="en-US" sz="1000" dirty="0"/>
              <a:t>            end</a:t>
            </a:r>
          </a:p>
          <a:p>
            <a:endParaRPr lang="en-US" sz="1000" dirty="0"/>
          </a:p>
          <a:p>
            <a:r>
              <a:rPr lang="en-US" sz="1000" dirty="0"/>
              <a:t>            default: begin</a:t>
            </a:r>
          </a:p>
          <a:p>
            <a:r>
              <a:rPr lang="en-US" sz="1000" dirty="0"/>
              <a:t>                </a:t>
            </a:r>
            <a:r>
              <a:rPr lang="en-US" sz="1000" dirty="0" err="1"/>
              <a:t>next_state</a:t>
            </a:r>
            <a:r>
              <a:rPr lang="en-US" sz="1000" dirty="0"/>
              <a:t> = STATE_IDLE;</a:t>
            </a:r>
          </a:p>
          <a:p>
            <a:r>
              <a:rPr lang="en-US" sz="1000" dirty="0"/>
              <a:t>            end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endcase</a:t>
            </a:r>
            <a:endParaRPr lang="en-US" sz="1000" dirty="0"/>
          </a:p>
          <a:p>
            <a:r>
              <a:rPr lang="en-US" sz="1000" dirty="0"/>
              <a:t>    end</a:t>
            </a:r>
          </a:p>
          <a:p>
            <a:endParaRPr lang="en-US" sz="1000" dirty="0"/>
          </a:p>
          <a:p>
            <a:r>
              <a:rPr lang="en-US" sz="1000" dirty="0" err="1"/>
              <a:t>endmodule</a:t>
            </a:r>
            <a:endParaRPr lang="he-IL" sz="1000" dirty="0"/>
          </a:p>
        </p:txBody>
      </p:sp>
    </p:spTree>
    <p:extLst>
      <p:ext uri="{BB962C8B-B14F-4D97-AF65-F5344CB8AC3E}">
        <p14:creationId xmlns:p14="http://schemas.microsoft.com/office/powerpoint/2010/main" val="3411078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EA372-2684-0C23-D7AC-7162FC8C0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FA3E8D30-C2A2-D2CC-0728-04CE889FC1C6}"/>
              </a:ext>
            </a:extLst>
          </p:cNvPr>
          <p:cNvSpPr>
            <a:spLocks noGrp="1"/>
          </p:cNvSpPr>
          <p:nvPr/>
        </p:nvSpPr>
        <p:spPr>
          <a:xfrm>
            <a:off x="615946" y="189922"/>
            <a:ext cx="7429500" cy="609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3900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A Final State Machine (FSM)</a:t>
            </a:r>
            <a:endParaRPr sz="3900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124" name="Picture 4" descr="Graph image">
            <a:extLst>
              <a:ext uri="{FF2B5EF4-FFF2-40B4-BE49-F238E27FC236}">
                <a16:creationId xmlns:a16="http://schemas.microsoft.com/office/drawing/2014/main" id="{3EDF4667-BF4C-04DF-215B-52BFE0293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9550" y="63871"/>
            <a:ext cx="2631985" cy="248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78157BFB-BA56-1F85-98B8-64CC4A94ABEA}"/>
              </a:ext>
            </a:extLst>
          </p:cNvPr>
          <p:cNvGrpSpPr/>
          <p:nvPr/>
        </p:nvGrpSpPr>
        <p:grpSpPr>
          <a:xfrm>
            <a:off x="8766903" y="2666313"/>
            <a:ext cx="2631985" cy="2893978"/>
            <a:chOff x="7393005" y="2583186"/>
            <a:chExt cx="3174612" cy="3151898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6C8CB286-ABD6-82BF-EBD4-37A0F47FD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0727" y="3006035"/>
              <a:ext cx="708672" cy="1081288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9" name="Line 74">
              <a:extLst>
                <a:ext uri="{FF2B5EF4-FFF2-40B4-BE49-F238E27FC236}">
                  <a16:creationId xmlns:a16="http://schemas.microsoft.com/office/drawing/2014/main" id="{BE9534A9-B8DA-2CBF-4F3A-D9FBA76F4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1395" y="4095016"/>
              <a:ext cx="0" cy="360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Line 82">
              <a:extLst>
                <a:ext uri="{FF2B5EF4-FFF2-40B4-BE49-F238E27FC236}">
                  <a16:creationId xmlns:a16="http://schemas.microsoft.com/office/drawing/2014/main" id="{6BF2139E-1FDC-E4C7-C1AC-0C67554010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787030" y="3504415"/>
              <a:ext cx="0" cy="360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Line 83">
              <a:extLst>
                <a:ext uri="{FF2B5EF4-FFF2-40B4-BE49-F238E27FC236}">
                  <a16:creationId xmlns:a16="http://schemas.microsoft.com/office/drawing/2014/main" id="{6FE0A85F-B3A8-2A45-FA42-1EE838D37AF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787030" y="3763182"/>
              <a:ext cx="0" cy="360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Line 84">
              <a:extLst>
                <a:ext uri="{FF2B5EF4-FFF2-40B4-BE49-F238E27FC236}">
                  <a16:creationId xmlns:a16="http://schemas.microsoft.com/office/drawing/2014/main" id="{2A3DFB11-30C5-17FC-8710-DBE38B433E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787030" y="3032931"/>
              <a:ext cx="0" cy="360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Line 85">
              <a:extLst>
                <a:ext uri="{FF2B5EF4-FFF2-40B4-BE49-F238E27FC236}">
                  <a16:creationId xmlns:a16="http://schemas.microsoft.com/office/drawing/2014/main" id="{38F4D785-6942-CCD2-6E4D-25F5C270A14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787030" y="3258357"/>
              <a:ext cx="0" cy="360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Line 87">
              <a:extLst>
                <a:ext uri="{FF2B5EF4-FFF2-40B4-BE49-F238E27FC236}">
                  <a16:creationId xmlns:a16="http://schemas.microsoft.com/office/drawing/2014/main" id="{97430192-16E4-2CB6-0B49-9D16552FDD6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9838000" y="3360989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Text Box 88">
              <a:extLst>
                <a:ext uri="{FF2B5EF4-FFF2-40B4-BE49-F238E27FC236}">
                  <a16:creationId xmlns:a16="http://schemas.microsoft.com/office/drawing/2014/main" id="{3E926D5A-3C31-9653-9527-AF1E1CB0E9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2165" y="3072717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2’b00</a:t>
              </a:r>
            </a:p>
          </p:txBody>
        </p:sp>
        <p:sp>
          <p:nvSpPr>
            <p:cNvPr id="18" name="Text Box 89">
              <a:extLst>
                <a:ext uri="{FF2B5EF4-FFF2-40B4-BE49-F238E27FC236}">
                  <a16:creationId xmlns:a16="http://schemas.microsoft.com/office/drawing/2014/main" id="{DC62BB47-DD49-ABCD-F63D-38B2F0067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2165" y="3299579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2’b01</a:t>
              </a:r>
            </a:p>
          </p:txBody>
        </p:sp>
        <p:sp>
          <p:nvSpPr>
            <p:cNvPr id="19" name="Text Box 90">
              <a:extLst>
                <a:ext uri="{FF2B5EF4-FFF2-40B4-BE49-F238E27FC236}">
                  <a16:creationId xmlns:a16="http://schemas.microsoft.com/office/drawing/2014/main" id="{1F28BF0D-3BB7-19F0-2299-B2C46C4F0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14388" y="3553866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2’b10</a:t>
              </a:r>
            </a:p>
          </p:txBody>
        </p:sp>
        <p:sp>
          <p:nvSpPr>
            <p:cNvPr id="20" name="Text Box 91">
              <a:extLst>
                <a:ext uri="{FF2B5EF4-FFF2-40B4-BE49-F238E27FC236}">
                  <a16:creationId xmlns:a16="http://schemas.microsoft.com/office/drawing/2014/main" id="{AA6F4376-93FA-FFA8-6003-FD341D679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33440" y="3826198"/>
              <a:ext cx="546753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2’b11</a:t>
              </a:r>
            </a:p>
          </p:txBody>
        </p:sp>
        <p:sp>
          <p:nvSpPr>
            <p:cNvPr id="27" name="Rectangle 5">
              <a:extLst>
                <a:ext uri="{FF2B5EF4-FFF2-40B4-BE49-F238E27FC236}">
                  <a16:creationId xmlns:a16="http://schemas.microsoft.com/office/drawing/2014/main" id="{5740204C-7A2D-8EB3-57D7-FA390E88B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0871" y="2956246"/>
              <a:ext cx="245814" cy="538910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he-IL"/>
            </a:p>
          </p:txBody>
        </p:sp>
        <p:sp>
          <p:nvSpPr>
            <p:cNvPr id="28" name="Line 8">
              <a:extLst>
                <a:ext uri="{FF2B5EF4-FFF2-40B4-BE49-F238E27FC236}">
                  <a16:creationId xmlns:a16="http://schemas.microsoft.com/office/drawing/2014/main" id="{BC15F005-D933-2EA9-30FB-D2FB17691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9384" y="2597163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29" name="Text Box 9">
              <a:extLst>
                <a:ext uri="{FF2B5EF4-FFF2-40B4-BE49-F238E27FC236}">
                  <a16:creationId xmlns:a16="http://schemas.microsoft.com/office/drawing/2014/main" id="{656897C2-C4C4-E018-56AF-CF867369A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3692" y="2583186"/>
              <a:ext cx="553357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Start </a:t>
              </a:r>
            </a:p>
          </p:txBody>
        </p:sp>
        <p:sp>
          <p:nvSpPr>
            <p:cNvPr id="30" name="Line 12">
              <a:extLst>
                <a:ext uri="{FF2B5EF4-FFF2-40B4-BE49-F238E27FC236}">
                  <a16:creationId xmlns:a16="http://schemas.microsoft.com/office/drawing/2014/main" id="{59601485-D40F-4DB6-F5C8-7F23B93881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835928" y="2926063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1" name="Line 13">
              <a:extLst>
                <a:ext uri="{FF2B5EF4-FFF2-40B4-BE49-F238E27FC236}">
                  <a16:creationId xmlns:a16="http://schemas.microsoft.com/office/drawing/2014/main" id="{885E4DEA-8B23-A7F3-FE3C-9FF96DE88F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840690" y="3159425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2" name="Line 19">
              <a:extLst>
                <a:ext uri="{FF2B5EF4-FFF2-40B4-BE49-F238E27FC236}">
                  <a16:creationId xmlns:a16="http://schemas.microsoft.com/office/drawing/2014/main" id="{3BCD5F97-A05C-BB5E-B4ED-BF893FF94D8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446867" y="3033246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33" name="Text Box 20">
              <a:extLst>
                <a:ext uri="{FF2B5EF4-FFF2-40B4-BE49-F238E27FC236}">
                  <a16:creationId xmlns:a16="http://schemas.microsoft.com/office/drawing/2014/main" id="{80635364-811D-A1A0-8A8E-4F56B9316E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4571" y="2961783"/>
              <a:ext cx="26962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0</a:t>
              </a:r>
            </a:p>
          </p:txBody>
        </p:sp>
        <p:sp>
          <p:nvSpPr>
            <p:cNvPr id="34" name="Text Box 21">
              <a:extLst>
                <a:ext uri="{FF2B5EF4-FFF2-40B4-BE49-F238E27FC236}">
                  <a16:creationId xmlns:a16="http://schemas.microsoft.com/office/drawing/2014/main" id="{4B53A945-4159-49FA-C253-424434D33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97059" y="3195145"/>
              <a:ext cx="26962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1</a:t>
              </a:r>
            </a:p>
          </p:txBody>
        </p:sp>
        <p:sp>
          <p:nvSpPr>
            <p:cNvPr id="35" name="Text Box 25">
              <a:extLst>
                <a:ext uri="{FF2B5EF4-FFF2-40B4-BE49-F238E27FC236}">
                  <a16:creationId xmlns:a16="http://schemas.microsoft.com/office/drawing/2014/main" id="{3D837266-826D-28D7-9A99-41C6606DF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3005" y="3331413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2’b01</a:t>
              </a:r>
            </a:p>
          </p:txBody>
        </p:sp>
        <p:sp>
          <p:nvSpPr>
            <p:cNvPr id="37" name="תיבת טקסט 36">
              <a:extLst>
                <a:ext uri="{FF2B5EF4-FFF2-40B4-BE49-F238E27FC236}">
                  <a16:creationId xmlns:a16="http://schemas.microsoft.com/office/drawing/2014/main" id="{8D67DDD6-87A9-DC83-53B6-30F21BFC0A09}"/>
                </a:ext>
              </a:extLst>
            </p:cNvPr>
            <p:cNvSpPr txBox="1"/>
            <p:nvPr/>
          </p:nvSpPr>
          <p:spPr>
            <a:xfrm>
              <a:off x="9091858" y="4481914"/>
              <a:ext cx="441146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r>
                <a:rPr lang="en-US" sz="1200" dirty="0" err="1"/>
                <a:t>rstn</a:t>
              </a:r>
              <a:endParaRPr lang="en-US" sz="1200" dirty="0"/>
            </a:p>
            <a:p>
              <a:pPr algn="ctr"/>
              <a:r>
                <a:rPr lang="en-US" sz="1200" dirty="0" err="1"/>
                <a:t>clk</a:t>
              </a:r>
              <a:endParaRPr lang="he-IL" sz="1200" dirty="0"/>
            </a:p>
          </p:txBody>
        </p:sp>
        <p:grpSp>
          <p:nvGrpSpPr>
            <p:cNvPr id="40" name="קבוצה 39">
              <a:extLst>
                <a:ext uri="{FF2B5EF4-FFF2-40B4-BE49-F238E27FC236}">
                  <a16:creationId xmlns:a16="http://schemas.microsoft.com/office/drawing/2014/main" id="{936E2ED9-1B38-8F19-3AFE-27C2863D15E5}"/>
                </a:ext>
              </a:extLst>
            </p:cNvPr>
            <p:cNvGrpSpPr/>
            <p:nvPr/>
          </p:nvGrpSpPr>
          <p:grpSpPr>
            <a:xfrm>
              <a:off x="9628134" y="4275197"/>
              <a:ext cx="592631" cy="533580"/>
              <a:chOff x="3250471" y="3095564"/>
              <a:chExt cx="592631" cy="533580"/>
            </a:xfrm>
          </p:grpSpPr>
          <p:sp>
            <p:nvSpPr>
              <p:cNvPr id="38" name="Rectangle 50">
                <a:extLst>
                  <a:ext uri="{FF2B5EF4-FFF2-40B4-BE49-F238E27FC236}">
                    <a16:creationId xmlns:a16="http://schemas.microsoft.com/office/drawing/2014/main" id="{73658111-3C15-2D22-1770-364F0AAA3D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0471" y="3095784"/>
                <a:ext cx="296153" cy="533360"/>
              </a:xfrm>
              <a:prstGeom prst="rect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:a16="http://schemas.microsoft.com/office/drawing/2014/main" id="{0ABCD229-BE65-78A4-A864-1966554B0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6949" y="3095564"/>
                <a:ext cx="296153" cy="533360"/>
              </a:xfrm>
              <a:prstGeom prst="rect">
                <a:avLst/>
              </a:prstGeom>
              <a:solidFill>
                <a:srgbClr val="00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he-IL"/>
              </a:p>
            </p:txBody>
          </p:sp>
        </p:grpSp>
        <p:sp>
          <p:nvSpPr>
            <p:cNvPr id="43" name="Line 74">
              <a:extLst>
                <a:ext uri="{FF2B5EF4-FFF2-40B4-BE49-F238E27FC236}">
                  <a16:creationId xmlns:a16="http://schemas.microsoft.com/office/drawing/2014/main" id="{9B60C43D-A292-1CEF-9148-41BAE961E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18181" y="3541171"/>
              <a:ext cx="15505" cy="7340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4" name="Line 83">
              <a:extLst>
                <a:ext uri="{FF2B5EF4-FFF2-40B4-BE49-F238E27FC236}">
                  <a16:creationId xmlns:a16="http://schemas.microsoft.com/office/drawing/2014/main" id="{41E16BE2-C9C4-743D-C429-94CFDD7506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9384765" y="4212008"/>
              <a:ext cx="0" cy="4867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45" name="Text Box 25">
              <a:extLst>
                <a:ext uri="{FF2B5EF4-FFF2-40B4-BE49-F238E27FC236}">
                  <a16:creationId xmlns:a16="http://schemas.microsoft.com/office/drawing/2014/main" id="{1689E58D-4330-F958-CB5D-0CC362D405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5299" y="2831067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2’b00</a:t>
              </a:r>
            </a:p>
          </p:txBody>
        </p:sp>
        <p:sp>
          <p:nvSpPr>
            <p:cNvPr id="46" name="Text Box 88">
              <a:extLst>
                <a:ext uri="{FF2B5EF4-FFF2-40B4-BE49-F238E27FC236}">
                  <a16:creationId xmlns:a16="http://schemas.microsoft.com/office/drawing/2014/main" id="{1CA13AAD-89BB-4255-47D5-043A90A56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5881" y="3944472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2’b00</a:t>
              </a:r>
            </a:p>
          </p:txBody>
        </p:sp>
        <p:sp>
          <p:nvSpPr>
            <p:cNvPr id="47" name="Text Box 88">
              <a:extLst>
                <a:ext uri="{FF2B5EF4-FFF2-40B4-BE49-F238E27FC236}">
                  <a16:creationId xmlns:a16="http://schemas.microsoft.com/office/drawing/2014/main" id="{26B77FF7-5C50-4A60-6914-D63CD30A05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5881" y="3663503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2’b00</a:t>
              </a:r>
            </a:p>
          </p:txBody>
        </p:sp>
        <p:sp>
          <p:nvSpPr>
            <p:cNvPr id="48" name="Text Box 88">
              <a:extLst>
                <a:ext uri="{FF2B5EF4-FFF2-40B4-BE49-F238E27FC236}">
                  <a16:creationId xmlns:a16="http://schemas.microsoft.com/office/drawing/2014/main" id="{08FFE655-208C-24B9-A561-578732790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5881" y="3423304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2’b10</a:t>
              </a:r>
            </a:p>
          </p:txBody>
        </p:sp>
        <p:sp>
          <p:nvSpPr>
            <p:cNvPr id="49" name="משולש שווה-שוקיים 48">
              <a:extLst>
                <a:ext uri="{FF2B5EF4-FFF2-40B4-BE49-F238E27FC236}">
                  <a16:creationId xmlns:a16="http://schemas.microsoft.com/office/drawing/2014/main" id="{B287E6AC-16C3-F905-E34A-498A55955E7E}"/>
                </a:ext>
              </a:extLst>
            </p:cNvPr>
            <p:cNvSpPr/>
            <p:nvPr/>
          </p:nvSpPr>
          <p:spPr>
            <a:xfrm rot="10800000">
              <a:off x="9674622" y="4962272"/>
              <a:ext cx="445240" cy="412448"/>
            </a:xfrm>
            <a:prstGeom prst="triangl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4" name="Line 87">
              <a:extLst>
                <a:ext uri="{FF2B5EF4-FFF2-40B4-BE49-F238E27FC236}">
                  <a16:creationId xmlns:a16="http://schemas.microsoft.com/office/drawing/2014/main" id="{6962E9E6-BA5E-C703-AADC-8D951ED942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0477" y="5374721"/>
              <a:ext cx="0" cy="360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65" name="Text Box 9">
              <a:extLst>
                <a:ext uri="{FF2B5EF4-FFF2-40B4-BE49-F238E27FC236}">
                  <a16:creationId xmlns:a16="http://schemas.microsoft.com/office/drawing/2014/main" id="{4006C16A-CC72-E543-513B-6CF106F220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97241" y="5389716"/>
              <a:ext cx="67037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Ready </a:t>
              </a:r>
            </a:p>
          </p:txBody>
        </p:sp>
        <p:sp>
          <p:nvSpPr>
            <p:cNvPr id="66" name="Line 74">
              <a:extLst>
                <a:ext uri="{FF2B5EF4-FFF2-40B4-BE49-F238E27FC236}">
                  <a16:creationId xmlns:a16="http://schemas.microsoft.com/office/drawing/2014/main" id="{58F1583A-6417-33ED-F840-29AA7D69B5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5141" y="4808557"/>
              <a:ext cx="0" cy="1534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e-IL"/>
            </a:p>
          </p:txBody>
        </p:sp>
        <p:sp>
          <p:nvSpPr>
            <p:cNvPr id="70" name="Text Box 88">
              <a:extLst>
                <a:ext uri="{FF2B5EF4-FFF2-40B4-BE49-F238E27FC236}">
                  <a16:creationId xmlns:a16="http://schemas.microsoft.com/office/drawing/2014/main" id="{FE644316-4EEF-833C-3406-67B8DBF177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3294" y="5016576"/>
              <a:ext cx="55816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he-IL" sz="1200" dirty="0"/>
                <a:t>2’b10</a:t>
              </a:r>
            </a:p>
          </p:txBody>
        </p:sp>
      </p:grpSp>
      <p:sp>
        <p:nvSpPr>
          <p:cNvPr id="4" name="מלבן 3">
            <a:extLst>
              <a:ext uri="{FF2B5EF4-FFF2-40B4-BE49-F238E27FC236}">
                <a16:creationId xmlns:a16="http://schemas.microsoft.com/office/drawing/2014/main" id="{CDB2934E-CC18-6F6F-0F3D-97DCE4A72F6B}"/>
              </a:ext>
            </a:extLst>
          </p:cNvPr>
          <p:cNvSpPr>
            <a:spLocks noGrp="1"/>
          </p:cNvSpPr>
          <p:nvPr/>
        </p:nvSpPr>
        <p:spPr>
          <a:xfrm>
            <a:off x="7256361" y="231591"/>
            <a:ext cx="2533654" cy="390543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>
              <a:defRPr sz="3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00B0F0"/>
                </a:solidFill>
              </a:rPr>
              <a:t>VHDL</a:t>
            </a:r>
            <a:endParaRPr sz="2800" b="1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F85A2381-014F-6C93-67DF-D91EB6443104}"/>
              </a:ext>
            </a:extLst>
          </p:cNvPr>
          <p:cNvSpPr txBox="1"/>
          <p:nvPr/>
        </p:nvSpPr>
        <p:spPr>
          <a:xfrm>
            <a:off x="169916" y="853385"/>
            <a:ext cx="3986448" cy="455509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/>
              <a:t>library </a:t>
            </a:r>
            <a:r>
              <a:rPr lang="en-US" sz="1000" dirty="0" err="1"/>
              <a:t>ieee</a:t>
            </a:r>
            <a:r>
              <a:rPr lang="en-US" sz="1000" dirty="0"/>
              <a:t>;</a:t>
            </a:r>
          </a:p>
          <a:p>
            <a:r>
              <a:rPr lang="en-US" sz="1000" dirty="0"/>
              <a:t>use ieee.std_logic_1164.all;</a:t>
            </a:r>
          </a:p>
          <a:p>
            <a:endParaRPr lang="en-US" sz="1000" dirty="0"/>
          </a:p>
          <a:p>
            <a:r>
              <a:rPr lang="en-US" sz="1000" dirty="0"/>
              <a:t>entity </a:t>
            </a:r>
            <a:r>
              <a:rPr lang="en-US" sz="1000" dirty="0" err="1"/>
              <a:t>fsm_moore</a:t>
            </a:r>
            <a:r>
              <a:rPr lang="en-US" sz="1000" dirty="0"/>
              <a:t> is</a:t>
            </a:r>
          </a:p>
          <a:p>
            <a:r>
              <a:rPr lang="en-US" sz="1000" dirty="0"/>
              <a:t>    port (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clk</a:t>
            </a:r>
            <a:r>
              <a:rPr lang="en-US" sz="1000" dirty="0"/>
              <a:t>   : in  </a:t>
            </a:r>
            <a:r>
              <a:rPr lang="en-US" sz="1000" dirty="0" err="1"/>
              <a:t>std_logic</a:t>
            </a:r>
            <a:r>
              <a:rPr lang="en-US" sz="1000" dirty="0"/>
              <a:t>; -- System clock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rst_n</a:t>
            </a:r>
            <a:r>
              <a:rPr lang="en-US" sz="1000" dirty="0"/>
              <a:t> : in  </a:t>
            </a:r>
            <a:r>
              <a:rPr lang="en-US" sz="1000" dirty="0" err="1"/>
              <a:t>std_logic</a:t>
            </a:r>
            <a:r>
              <a:rPr lang="en-US" sz="1000" dirty="0"/>
              <a:t>; -- Asynchronous reset, active low</a:t>
            </a:r>
          </a:p>
          <a:p>
            <a:r>
              <a:rPr lang="en-US" sz="1000" dirty="0"/>
              <a:t>        start : in  </a:t>
            </a:r>
            <a:r>
              <a:rPr lang="en-US" sz="1000" dirty="0" err="1"/>
              <a:t>std_logic</a:t>
            </a:r>
            <a:r>
              <a:rPr lang="en-US" sz="1000" dirty="0"/>
              <a:t>; -- Input condition to start</a:t>
            </a:r>
          </a:p>
          <a:p>
            <a:r>
              <a:rPr lang="en-US" sz="1000" dirty="0"/>
              <a:t>        ready : out </a:t>
            </a:r>
            <a:r>
              <a:rPr lang="en-US" sz="1000" dirty="0" err="1"/>
              <a:t>std_logic</a:t>
            </a:r>
            <a:r>
              <a:rPr lang="en-US" sz="1000" dirty="0"/>
              <a:t>  -- Output flag (high only in STATE_B)</a:t>
            </a:r>
          </a:p>
          <a:p>
            <a:r>
              <a:rPr lang="en-US" sz="1000" dirty="0"/>
              <a:t>    );</a:t>
            </a:r>
          </a:p>
          <a:p>
            <a:r>
              <a:rPr lang="en-US" sz="1000" dirty="0"/>
              <a:t>end entity </a:t>
            </a:r>
            <a:r>
              <a:rPr lang="en-US" sz="1000" dirty="0" err="1"/>
              <a:t>fsm_moore</a:t>
            </a:r>
            <a:r>
              <a:rPr lang="en-US" sz="1000" dirty="0"/>
              <a:t>;</a:t>
            </a:r>
          </a:p>
          <a:p>
            <a:endParaRPr lang="en-US" sz="1000" dirty="0"/>
          </a:p>
          <a:p>
            <a:r>
              <a:rPr lang="en-US" sz="1000" dirty="0"/>
              <a:t>architecture </a:t>
            </a:r>
            <a:r>
              <a:rPr lang="en-US" sz="1000" dirty="0" err="1"/>
              <a:t>rtl</a:t>
            </a:r>
            <a:r>
              <a:rPr lang="en-US" sz="1000" dirty="0"/>
              <a:t> of </a:t>
            </a:r>
            <a:r>
              <a:rPr lang="en-US" sz="1000" dirty="0" err="1"/>
              <a:t>fsm_moore</a:t>
            </a:r>
            <a:r>
              <a:rPr lang="en-US" sz="1000" dirty="0"/>
              <a:t> is</a:t>
            </a:r>
          </a:p>
          <a:p>
            <a:r>
              <a:rPr lang="en-US" sz="1000" dirty="0"/>
              <a:t>    -- Define an enumerated type for the FSM states</a:t>
            </a:r>
          </a:p>
          <a:p>
            <a:r>
              <a:rPr lang="en-US" sz="1000" dirty="0"/>
              <a:t>    type </a:t>
            </a:r>
            <a:r>
              <a:rPr lang="en-US" sz="1000" dirty="0" err="1"/>
              <a:t>state_type</a:t>
            </a:r>
            <a:r>
              <a:rPr lang="en-US" sz="1000" dirty="0"/>
              <a:t> is (STATE_IDLE, STATE_A, STATE_B);</a:t>
            </a:r>
          </a:p>
          <a:p>
            <a:r>
              <a:rPr lang="en-US" sz="1000" dirty="0"/>
              <a:t>    </a:t>
            </a:r>
          </a:p>
          <a:p>
            <a:r>
              <a:rPr lang="en-US" sz="1000" dirty="0"/>
              <a:t>    signal </a:t>
            </a:r>
            <a:r>
              <a:rPr lang="en-US" sz="1000" dirty="0" err="1"/>
              <a:t>current_state</a:t>
            </a:r>
            <a:r>
              <a:rPr lang="en-US" sz="1000" dirty="0"/>
              <a:t>, </a:t>
            </a:r>
            <a:r>
              <a:rPr lang="en-US" sz="1000" dirty="0" err="1"/>
              <a:t>next_state</a:t>
            </a:r>
            <a:r>
              <a:rPr lang="en-US" sz="1000" dirty="0"/>
              <a:t> : </a:t>
            </a:r>
            <a:r>
              <a:rPr lang="en-US" sz="1000" dirty="0" err="1"/>
              <a:t>state_type</a:t>
            </a:r>
            <a:r>
              <a:rPr lang="en-US" sz="1000" dirty="0"/>
              <a:t>;</a:t>
            </a:r>
          </a:p>
          <a:p>
            <a:r>
              <a:rPr lang="en-US" sz="1000" dirty="0"/>
              <a:t>begin</a:t>
            </a:r>
          </a:p>
          <a:p>
            <a:endParaRPr lang="en-US" sz="1000" dirty="0"/>
          </a:p>
          <a:p>
            <a:r>
              <a:rPr lang="en-US" sz="1000" dirty="0"/>
              <a:t>    -- 1. Sequential Process: State Register Update</a:t>
            </a:r>
          </a:p>
          <a:p>
            <a:r>
              <a:rPr lang="en-US" sz="1000" dirty="0"/>
              <a:t>    </a:t>
            </a:r>
            <a:r>
              <a:rPr lang="en-US" sz="1000" dirty="0" err="1"/>
              <a:t>state_reg_process</a:t>
            </a:r>
            <a:r>
              <a:rPr lang="en-US" sz="1000" dirty="0"/>
              <a:t> : process(</a:t>
            </a:r>
            <a:r>
              <a:rPr lang="en-US" sz="1000" dirty="0" err="1"/>
              <a:t>clk</a:t>
            </a:r>
            <a:r>
              <a:rPr lang="en-US" sz="1000" dirty="0"/>
              <a:t>, </a:t>
            </a:r>
            <a:r>
              <a:rPr lang="en-US" sz="1000" dirty="0" err="1"/>
              <a:t>rst_n</a:t>
            </a:r>
            <a:r>
              <a:rPr lang="en-US" sz="1000" dirty="0"/>
              <a:t>)</a:t>
            </a:r>
          </a:p>
          <a:p>
            <a:r>
              <a:rPr lang="en-US" sz="1000" dirty="0"/>
              <a:t>    begin</a:t>
            </a:r>
          </a:p>
          <a:p>
            <a:r>
              <a:rPr lang="en-US" sz="1000" dirty="0"/>
              <a:t>        if </a:t>
            </a:r>
            <a:r>
              <a:rPr lang="en-US" sz="1000" dirty="0" err="1"/>
              <a:t>rst_n</a:t>
            </a:r>
            <a:r>
              <a:rPr lang="en-US" sz="1000" dirty="0"/>
              <a:t> = '0' then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current_state</a:t>
            </a:r>
            <a:r>
              <a:rPr lang="en-US" sz="1000" dirty="0"/>
              <a:t> &lt;= STATE_IDLE;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elsif</a:t>
            </a:r>
            <a:r>
              <a:rPr lang="en-US" sz="1000" dirty="0"/>
              <a:t> </a:t>
            </a:r>
            <a:r>
              <a:rPr lang="en-US" sz="1000" dirty="0" err="1"/>
              <a:t>rising_edge</a:t>
            </a:r>
            <a:r>
              <a:rPr lang="en-US" sz="1000" dirty="0"/>
              <a:t>(</a:t>
            </a:r>
            <a:r>
              <a:rPr lang="en-US" sz="1000" dirty="0" err="1"/>
              <a:t>clk</a:t>
            </a:r>
            <a:r>
              <a:rPr lang="en-US" sz="1000" dirty="0"/>
              <a:t>) then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current_state</a:t>
            </a:r>
            <a:r>
              <a:rPr lang="en-US" sz="1000" dirty="0"/>
              <a:t> &lt;= </a:t>
            </a:r>
            <a:r>
              <a:rPr lang="en-US" sz="1000" dirty="0" err="1"/>
              <a:t>next_state</a:t>
            </a:r>
            <a:r>
              <a:rPr lang="en-US" sz="1000" dirty="0"/>
              <a:t>;</a:t>
            </a:r>
          </a:p>
          <a:p>
            <a:r>
              <a:rPr lang="en-US" sz="1000" dirty="0"/>
              <a:t>        end if;</a:t>
            </a:r>
          </a:p>
          <a:p>
            <a:r>
              <a:rPr lang="en-US" sz="1000" dirty="0"/>
              <a:t>    end process </a:t>
            </a:r>
            <a:r>
              <a:rPr lang="en-US" sz="1000" dirty="0" err="1"/>
              <a:t>state_reg_process</a:t>
            </a:r>
            <a:r>
              <a:rPr lang="en-US" sz="1000" dirty="0"/>
              <a:t>;</a:t>
            </a:r>
          </a:p>
          <a:p>
            <a:endParaRPr lang="en-US" sz="1000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195E441B-6F1F-3B6E-05AC-23AB81171743}"/>
              </a:ext>
            </a:extLst>
          </p:cNvPr>
          <p:cNvSpPr txBox="1"/>
          <p:nvPr/>
        </p:nvSpPr>
        <p:spPr>
          <a:xfrm>
            <a:off x="4043413" y="840109"/>
            <a:ext cx="3986448" cy="424731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/>
              <a:t>    -- 2. Combinational Process: Next-State &amp; Output Logic</a:t>
            </a:r>
          </a:p>
          <a:p>
            <a:r>
              <a:rPr lang="en-US" sz="1000" dirty="0"/>
              <a:t>    </a:t>
            </a:r>
            <a:r>
              <a:rPr lang="en-US" sz="1000" dirty="0" err="1"/>
              <a:t>comb_process</a:t>
            </a:r>
            <a:r>
              <a:rPr lang="en-US" sz="1000" dirty="0"/>
              <a:t> : process(</a:t>
            </a:r>
            <a:r>
              <a:rPr lang="en-US" sz="1000" dirty="0" err="1"/>
              <a:t>current_state</a:t>
            </a:r>
            <a:r>
              <a:rPr lang="en-US" sz="1000" dirty="0"/>
              <a:t>, start)</a:t>
            </a:r>
          </a:p>
          <a:p>
            <a:r>
              <a:rPr lang="en-US" sz="1000" dirty="0"/>
              <a:t>    begin</a:t>
            </a:r>
          </a:p>
          <a:p>
            <a:r>
              <a:rPr lang="en-US" sz="1000" dirty="0"/>
              <a:t>        -- Default assignments to prevent latch generation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next_state</a:t>
            </a:r>
            <a:r>
              <a:rPr lang="en-US" sz="1000" dirty="0"/>
              <a:t> &lt;= </a:t>
            </a:r>
            <a:r>
              <a:rPr lang="en-US" sz="1000" dirty="0" err="1"/>
              <a:t>current_state</a:t>
            </a:r>
            <a:r>
              <a:rPr lang="en-US" sz="1000" dirty="0"/>
              <a:t>;</a:t>
            </a:r>
          </a:p>
          <a:p>
            <a:r>
              <a:rPr lang="en-US" sz="1000" dirty="0"/>
              <a:t>        ready      &lt;= '0';</a:t>
            </a:r>
          </a:p>
          <a:p>
            <a:endParaRPr lang="en-US" sz="1000" dirty="0"/>
          </a:p>
          <a:p>
            <a:r>
              <a:rPr lang="en-US" sz="1000" dirty="0"/>
              <a:t>        case </a:t>
            </a:r>
            <a:r>
              <a:rPr lang="en-US" sz="1000" dirty="0" err="1"/>
              <a:t>current_state</a:t>
            </a:r>
            <a:r>
              <a:rPr lang="en-US" sz="1000" dirty="0"/>
              <a:t> is</a:t>
            </a:r>
          </a:p>
          <a:p>
            <a:r>
              <a:rPr lang="en-US" sz="1000" dirty="0"/>
              <a:t>            when STATE_IDLE =&gt;</a:t>
            </a:r>
          </a:p>
          <a:p>
            <a:r>
              <a:rPr lang="en-US" sz="1000" dirty="0"/>
              <a:t>                if start = '1' then</a:t>
            </a:r>
          </a:p>
          <a:p>
            <a:r>
              <a:rPr lang="en-US" sz="1000" dirty="0"/>
              <a:t>                    </a:t>
            </a:r>
            <a:r>
              <a:rPr lang="en-US" sz="1000" dirty="0" err="1"/>
              <a:t>next_state</a:t>
            </a:r>
            <a:r>
              <a:rPr lang="en-US" sz="1000" dirty="0"/>
              <a:t> &lt;= STATE_A;</a:t>
            </a:r>
          </a:p>
          <a:p>
            <a:r>
              <a:rPr lang="en-US" sz="1000" dirty="0"/>
              <a:t>                end if;</a:t>
            </a:r>
          </a:p>
          <a:p>
            <a:endParaRPr lang="en-US" sz="1000" dirty="0"/>
          </a:p>
          <a:p>
            <a:r>
              <a:rPr lang="en-US" sz="1000" dirty="0"/>
              <a:t>            when STATE_A =&gt;</a:t>
            </a:r>
          </a:p>
          <a:p>
            <a:r>
              <a:rPr lang="en-US" sz="1000" dirty="0"/>
              <a:t>                </a:t>
            </a:r>
            <a:r>
              <a:rPr lang="en-US" sz="1000" dirty="0" err="1"/>
              <a:t>next_state</a:t>
            </a:r>
            <a:r>
              <a:rPr lang="en-US" sz="1000" dirty="0"/>
              <a:t> &lt;= STATE_B; -- Unconditional transition</a:t>
            </a:r>
          </a:p>
          <a:p>
            <a:endParaRPr lang="en-US" sz="1000" dirty="0"/>
          </a:p>
          <a:p>
            <a:r>
              <a:rPr lang="en-US" sz="1000" dirty="0"/>
              <a:t>            when STATE_B =&gt;</a:t>
            </a:r>
          </a:p>
          <a:p>
            <a:r>
              <a:rPr lang="en-US" sz="1000" dirty="0"/>
              <a:t>                ready      &lt;= '1';     -- Assert output in this state</a:t>
            </a:r>
          </a:p>
          <a:p>
            <a:r>
              <a:rPr lang="en-US" sz="1000" dirty="0"/>
              <a:t>                </a:t>
            </a:r>
            <a:r>
              <a:rPr lang="en-US" sz="1000" dirty="0" err="1"/>
              <a:t>next_state</a:t>
            </a:r>
            <a:r>
              <a:rPr lang="en-US" sz="1000" dirty="0"/>
              <a:t> &lt;= STATE_IDLE;</a:t>
            </a:r>
          </a:p>
          <a:p>
            <a:endParaRPr lang="en-US" sz="1000" dirty="0"/>
          </a:p>
          <a:p>
            <a:r>
              <a:rPr lang="en-US" sz="1000" dirty="0"/>
              <a:t>            when others =&gt;</a:t>
            </a:r>
          </a:p>
          <a:p>
            <a:r>
              <a:rPr lang="en-US" sz="1000" dirty="0"/>
              <a:t>                </a:t>
            </a:r>
            <a:r>
              <a:rPr lang="en-US" sz="1000" dirty="0" err="1"/>
              <a:t>next_state</a:t>
            </a:r>
            <a:r>
              <a:rPr lang="en-US" sz="1000" dirty="0"/>
              <a:t> &lt;= STATE_IDLE;</a:t>
            </a:r>
          </a:p>
          <a:p>
            <a:r>
              <a:rPr lang="en-US" sz="1000" dirty="0"/>
              <a:t>        end case;</a:t>
            </a:r>
          </a:p>
          <a:p>
            <a:r>
              <a:rPr lang="en-US" sz="1000" dirty="0"/>
              <a:t>    end process </a:t>
            </a:r>
            <a:r>
              <a:rPr lang="en-US" sz="1000" dirty="0" err="1"/>
              <a:t>comb_process</a:t>
            </a:r>
            <a:r>
              <a:rPr lang="en-US" sz="1000" dirty="0"/>
              <a:t>;</a:t>
            </a:r>
          </a:p>
          <a:p>
            <a:endParaRPr lang="en-US" sz="1000" dirty="0"/>
          </a:p>
          <a:p>
            <a:r>
              <a:rPr lang="en-US" sz="1000" dirty="0"/>
              <a:t>end architecture </a:t>
            </a:r>
            <a:r>
              <a:rPr lang="en-US" sz="1000" dirty="0" err="1"/>
              <a:t>rtl</a:t>
            </a:r>
            <a:r>
              <a:rPr lang="en-US" sz="1000" dirty="0"/>
              <a:t>;</a:t>
            </a:r>
            <a:endParaRPr lang="he-IL" sz="1000" dirty="0"/>
          </a:p>
        </p:txBody>
      </p:sp>
    </p:spTree>
    <p:extLst>
      <p:ext uri="{BB962C8B-B14F-4D97-AF65-F5344CB8AC3E}">
        <p14:creationId xmlns:p14="http://schemas.microsoft.com/office/powerpoint/2010/main" val="7028194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האירוע המרכזי">
  <a:themeElements>
    <a:clrScheme name="האירוע המרכזי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התאמה אישית 2">
      <a:majorFont>
        <a:latin typeface="Arial"/>
        <a:ea typeface=""/>
        <a:cs typeface="Times New Roman"/>
      </a:majorFont>
      <a:minorFont>
        <a:latin typeface="Arial"/>
        <a:ea typeface=""/>
        <a:cs typeface="Arial"/>
      </a:minorFont>
    </a:fontScheme>
    <a:fmtScheme name="האירוע המרכזי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TM04033927[[fn=האירוע המרכזי]]</Template>
  <TotalTime>1876</TotalTime>
  <Words>3669</Words>
  <Application>Microsoft Office PowerPoint</Application>
  <DocSecurity>0</DocSecurity>
  <PresentationFormat>מסך רחב</PresentationFormat>
  <Paragraphs>735</Paragraphs>
  <Slides>18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Noto Sans Symbols</vt:lpstr>
      <vt:lpstr>האירוע המרכזי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יצחק עדני</cp:lastModifiedBy>
  <cp:revision>14</cp:revision>
  <dcterms:created xsi:type="dcterms:W3CDTF">2026-06-09T17:39:40Z</dcterms:created>
  <dcterms:modified xsi:type="dcterms:W3CDTF">2026-06-21T18:17:58Z</dcterms:modified>
</cp:coreProperties>
</file>